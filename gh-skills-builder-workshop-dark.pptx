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2.svg" ContentType="image/svg+xml"/>
  <Override PartName="/ppt/media/image8.svg" ContentType="image/svg+xml"/>
  <Override PartName="/ppt/notesMasters/notesMaster1.xml" ContentType="application/vnd.openxmlformats-officedocument.presentationml.notesMaster+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24.xml" ContentType="application/vnd.openxmlformats-officedocument.presentationml.slideLayout+xml"/>
  <Override PartName="/ppt/slideLayouts/slideLayout29.xml" ContentType="application/vnd.openxmlformats-officedocument.presentationml.slideLayout+xml"/>
  <Override PartName="/ppt/slideLayouts/slideLayout45.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7"/>
  </p:notesMasterIdLst>
  <p:handoutMasterIdLst>
    <p:handoutMasterId r:id="rId208"/>
  </p:handoutMasterIdLst>
  <p:sldIdLst>
    <p:sldId id="522" r:id="rId214"/>
    <p:sldId id="523" r:id="rId215"/>
    <p:sldId id="524" r:id="rId216"/>
    <p:sldId id="525" r:id="rId217"/>
    <p:sldId id="526" r:id="rId218"/>
    <p:sldId id="527" r:id="rId219"/>
    <p:sldId id="528" r:id="rId220"/>
    <p:sldId id="529" r:id="rId221"/>
    <p:sldId id="530" r:id="rId222"/>
    <p:sldId id="531" r:id="rId223"/>
    <p:sldId id="532" r:id="rId224"/>
    <p:sldId id="533" r:id="rId225"/>
    <p:sldId id="534" r:id="rId226"/>
    <p:sldId id="535" r:id="rId227"/>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494"/>
            <p14:sldId id="421"/>
            <p14:sldId id="495"/>
            <p14:sldId id="496"/>
            <p14:sldId id="497"/>
            <p14:sldId id="498"/>
            <p14:sldId id="426"/>
            <p14:sldId id="499"/>
            <p14:sldId id="500"/>
            <p14:sldId id="501"/>
            <p14:sldId id="502"/>
            <p14:sldId id="503"/>
            <p14:sldId id="504"/>
            <p14:sldId id="505"/>
            <p14:sldId id="506"/>
            <p14:sldId id="507"/>
          </p14:sldIdLst>
        </p14:section>
        <p14:section name="Default theme_dark mode" id="{2535B1A6-A8C7-CA45-8E70-09E67CC9FDB5}">
          <p14:sldIdLst>
            <p14:sldId id="43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508"/>
            <p14:sldId id="509"/>
            <p14:sldId id="510"/>
            <p14:sldId id="511"/>
            <p14:sldId id="512"/>
            <p14:sldId id="445"/>
            <p14:sldId id="513"/>
            <p14:sldId id="514"/>
            <p14:sldId id="515"/>
            <p14:sldId id="301"/>
            <p14:sldId id="516"/>
          </p14:sldIdLst>
        </p14:section>
        <p14:section name="Copilot/AI_dark mode" id="{845C0727-1AAC-D545-B6BE-1AFCAA59C892}">
          <p14:sldIdLst>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Security_dark mode" id="{7BFA2AE7-9052-FB4D-A355-5E8892A147DF}">
          <p14:sldIdLst>
            <p14:sldId id="320"/>
            <p14:sldId id="321"/>
            <p14:sldId id="322"/>
            <p14:sldId id="323"/>
            <p14:sldId id="324"/>
            <p14:sldId id="325"/>
            <p14:sldId id="326"/>
            <p14:sldId id="327"/>
            <p14:sldId id="328"/>
            <p14:sldId id="329"/>
            <p14:sldId id="330"/>
            <p14:sldId id="331"/>
            <p14:sldId id="332"/>
            <p14:sldId id="333"/>
            <p14:sldId id="334"/>
            <p14:sldId id="335"/>
            <p14:sldId id="336"/>
          </p14:sldIdLst>
        </p14:section>
        <p14:section name="Default theme_light mode" id="{C59EE9B4-D87C-6D42-A2A7-E4336738500B}">
          <p14:sldIdLst>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1"/>
            <p14:sldId id="372"/>
            <p14:sldId id="373"/>
            <p14:sldId id="374"/>
            <p14:sldId id="375"/>
            <p14:sldId id="376"/>
            <p14:sldId id="377"/>
            <p14:sldId id="378"/>
            <p14:sldId id="379"/>
            <p14:sldId id="380"/>
            <p14:sldId id="381"/>
            <p14:sldId id="382"/>
            <p14:sldId id="517"/>
            <p14:sldId id="518"/>
            <p14:sldId id="519"/>
            <p14:sldId id="520"/>
            <p14:sldId id="521"/>
            <p14:sldId id="441"/>
            <p14:sldId id="442"/>
            <p14:sldId id="443"/>
            <p14:sldId id="444"/>
            <p14:sldId id="383"/>
            <p14:sldId id="384"/>
          </p14:sldIdLst>
        </p14:section>
        <p14:section name="Copilot/AI_light mode" id="{3A94A824-119D-8942-9AAD-F8102EB94935}">
          <p14:sldIdLst>
            <p14:sldId id="385"/>
            <p14:sldId id="386"/>
            <p14:sldId id="387"/>
            <p14:sldId id="388"/>
            <p14:sldId id="389"/>
            <p14:sldId id="390"/>
            <p14:sldId id="391"/>
            <p14:sldId id="392"/>
            <p14:sldId id="393"/>
            <p14:sldId id="394"/>
            <p14:sldId id="395"/>
            <p14:sldId id="396"/>
            <p14:sldId id="397"/>
            <p14:sldId id="398"/>
            <p14:sldId id="399"/>
            <p14:sldId id="400"/>
            <p14:sldId id="401"/>
          </p14:sldIdLst>
        </p14:section>
        <p14:section name="Security_light mode" id="{2F5AC21D-F6B3-C746-B0D0-0C2BCF1059BB}">
          <p14:sldIdLst>
            <p14:sldId id="402"/>
            <p14:sldId id="403"/>
            <p14:sldId id="404"/>
            <p14:sldId id="405"/>
            <p14:sldId id="406"/>
            <p14:sldId id="407"/>
            <p14:sldId id="408"/>
            <p14:sldId id="409"/>
            <p14:sldId id="410"/>
            <p14:sldId id="411"/>
            <p14:sldId id="412"/>
            <p14:sldId id="413"/>
            <p14:sldId id="414"/>
            <p14:sldId id="415"/>
            <p14:sldId id="416"/>
            <p14:sldId id="417"/>
            <p14:sldId id="418"/>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52"/>
    <p:restoredTop sz="94593"/>
  </p:normalViewPr>
  <p:slideViewPr>
    <p:cSldViewPr snapToGrid="0" showGuides="1">
      <p:cViewPr varScale="1">
        <p:scale>
          <a:sx n="112" d="100"/>
          <a:sy n="112" d="100"/>
        </p:scale>
        <p:origin x="1040" y="200"/>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07" Type="http://schemas.openxmlformats.org/officeDocument/2006/relationships/notesMaster" Target="notesMasters/notesMaster1.xml"/><Relationship Id="rId208" Type="http://schemas.openxmlformats.org/officeDocument/2006/relationships/handoutMaster" Target="handoutMasters/handoutMaster1.xml"/><Relationship Id="rId209" Type="http://schemas.openxmlformats.org/officeDocument/2006/relationships/presProps" Target="presProps.xml"/><Relationship Id="rId210" Type="http://schemas.openxmlformats.org/officeDocument/2006/relationships/viewProps" Target="viewProps.xml"/><Relationship Id="rId211" Type="http://schemas.openxmlformats.org/officeDocument/2006/relationships/theme" Target="theme/theme1.xml"/><Relationship Id="rId212" Type="http://schemas.openxmlformats.org/officeDocument/2006/relationships/tableStyles" Target="tableStyles.xml"/><Relationship Id="rId213" Type="http://schemas.microsoft.com/office/2015/10/relationships/revisionInfo" Target="revisionInfo.xml"/><Relationship Id="rId214" Type="http://schemas.openxmlformats.org/officeDocument/2006/relationships/slide" Target="slides/slide198.xml"/><Relationship Id="rId215" Type="http://schemas.openxmlformats.org/officeDocument/2006/relationships/slide" Target="slides/slide199.xml"/><Relationship Id="rId216" Type="http://schemas.openxmlformats.org/officeDocument/2006/relationships/slide" Target="slides/slide200.xml"/><Relationship Id="rId217" Type="http://schemas.openxmlformats.org/officeDocument/2006/relationships/slide" Target="slides/slide201.xml"/><Relationship Id="rId218" Type="http://schemas.openxmlformats.org/officeDocument/2006/relationships/slide" Target="slides/slide202.xml"/><Relationship Id="rId219" Type="http://schemas.openxmlformats.org/officeDocument/2006/relationships/slide" Target="slides/slide203.xml"/><Relationship Id="rId220" Type="http://schemas.openxmlformats.org/officeDocument/2006/relationships/slide" Target="slides/slide204.xml"/><Relationship Id="rId221" Type="http://schemas.openxmlformats.org/officeDocument/2006/relationships/slide" Target="slides/slide205.xml"/><Relationship Id="rId222" Type="http://schemas.openxmlformats.org/officeDocument/2006/relationships/slide" Target="slides/slide206.xml"/><Relationship Id="rId223" Type="http://schemas.openxmlformats.org/officeDocument/2006/relationships/slide" Target="slides/slide207.xml"/><Relationship Id="rId224" Type="http://schemas.openxmlformats.org/officeDocument/2006/relationships/slide" Target="slides/slide208.xml"/><Relationship Id="rId225" Type="http://schemas.openxmlformats.org/officeDocument/2006/relationships/slide" Target="slides/slide209.xml"/><Relationship Id="rId226" Type="http://schemas.openxmlformats.org/officeDocument/2006/relationships/slide" Target="slides/slide210.xml"/><Relationship Id="rId227" Type="http://schemas.openxmlformats.org/officeDocument/2006/relationships/slide" Target="slides/slide2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9/28/26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9/28/26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0:00-0:01, with slide 1. Time budget: 6 minutes orientation (0:00-0:06), 6 outline (0:06-0:12), 4 hand-off (0:12-0:16), 11 bootstrap (0:16-0:27), 8 review (0:27-0:35), 6 publish readiness (0:35-0:41), 4 recap (0:41-0:45), a 5-minute flex buffer (0:45-0:50), and 10 minutes of protected Q&amp;A (0:50-1:00). Hard stops: saved outline at 0:12, rehearsal 00-idea at 0:16, 02-bootstrapped at 0:19, saved review at 0:30, no more fix rounds at 0:35, saved readiness at 0:38. If the buffer isn't needed, open Q&amp;A at 0:45. Installation is a 60-second demonstration at most; attendee troubleshooting happens after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0:01-0:03 (slides 3-4). Slide-ready explanation: A plugin is an installable toolkit that adds reusable capabilities to GitHub Copilot. Instead of copying prompts and customization files by hand, install a bundle and use it in your work. gh-skills-builder packages one orchestrator agent and five Agent Skills for the exercise lifecycle. Agent SKILLS are automated workflows/capabilities for an agent, not five separate agents. Skills guide agent behavior; they do not guarantee correctness or replace approvals. Other plugins can bundle additional kinds of supported customizations. Source: https://github.com/github/awesome-copilot/blob/main/docs/README.plugins.md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0:01-0:03, with slide 3. Cap the install demo at 60 seconds, or skip it and leave the QR up. Demo installing from Plugins in the Copilot app, then enable it for this session. Use the QR/link to open the Awesome Copilot plugin page; the QR does not auto-install. CLI command: copilot plugin install gh-skills-builder@awesome-copilot. If an older/custom CLI says the marketplace is unknown, run 'copilot plugin marketplace add github/awesome-copilot' once, then retry. Check installation with 'copilot plugin list'. In an interactive CLI session: '/plugin install gh-skills-builder@awesome-copilot'. VS Code alternative: Extensions search '@agentPlugins', or Command Palette &gt; Chat: Plugins. Review external source before installing. The marketplace listing is pinned to a release; new local or unreleased skill changes are not automatically available from that listing. Sources: https://github.com/github/awesome-copilot#install-a-plugin ; https://awesome-copilot.github.com/plugin/gh-skills-builder/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0:03-0:04. Source scenario: the Dev Days Copilot app lab (https://github-samples.github.io/copilot-workshops/real-world-development/app/). We build a small slice of it, not the whole lab. Starter: https://github.com/github-samples/tailspin-toys (MIT). The learner makes three changes: a TSDoc section in .github/copilot-instructions.md, an evidence-based reporting contract in the existing quality-checks skill, and a report-only .github/agents/qa.agent.md. No app feature, filtering, npm install, database, or browser tooling. We do not copy the Tailspin template: handoff.sh imports the app as one MIT starter commit and drops the upstream issue sources and their self-deleting seeding workflow, so Step 0 opens only the exercise issue. Use candidate name copilot-app-cleared-for-takeoff; learner copies use skills-&lt;repo&gt;. Ask for names explicitly so the prompt works with the currently indexed release. Actions checks what learners wrote; it cannot observe local app modes or prove future model behavior.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0:04-0:05. Quick show of hands, 10 seconds at most; skip it if behind: who teaches, onboards contributors, runs events, or trains teams? The workflow is reusable across these audiences. Today's anchor is onboarding a new Tailspin teammate to the team's Copilot conventions. Your role shifts toward architect and reviewer, but you remain responsible for the result.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0:05-0:06 (slides 7-8). One orchestrator, five skills. The orchestration skill runs the full lifecycle; the four phase skills own outline, bootstrap, review, and publish requirements. Agent SKILLS are automated workflows/capabilities for an agent, not five separate agents. Select @github-skills-orchestrator and use /orchestrate-github-skills-exercise or call a phase skill directly.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0:05-0:06, with slide 7. Four phases, explicit human gates. Approve the outline before generation; approve the build before review; choose fixes or sign off; authorize actual publication separately. A diagrammed approval is behavioral guidance, not an enforced permission boundary. Show Prompt 1 from prompts.md next, in a quick chat: we start with only an idea, no repo. We're now at minute 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0:06-0:12, keep fully live. Quick chat: Interactive mode, Auto &gt; Intelligence. Paste Prompt 1. Narrate one Theory/Activity pair and its validation signal. Ask: what would prove the learner changed the reporting contract, rather than merely created a file? A bare file-exists check is not evidence. Show three title/name candidates; cap the vote at 30 seconds and use the rehearsed default, copilot-app-cleared-for-takeoff, if needed. Gate 1, sent once: approve the outline and identity. Nothing is created yet. Check the returned single-block artifact starts with the title, Repository name, and Learner copy, then copy the whole block. Hard stop 0:12: use the saved fallback/exercise-outline.md and say it is from rehearsal. Hand-off, 0:12-0:16, stay on this slide. Say: Gate 1 approved the idea and created nothing; the Hand-off Authorization is a separate approval for one private authoring repo; publishing is a later gate. In the same quick chat, send the Hand-off Authorization from prompts.md and approve the shell command out loud (the terminal is the fallback). handoff.sh &lt;you&gt; &lt;approved-name&gt; creates the private repo, imports Tailspin Toys as one MIT starter commit without the upstream issue sources, issue-seeding and triage workflows, or CODEOWNERS, and pushes. In the Copilot app, Add project on the folder it printed, then New session on main, Interactive, Auto &gt; Balance. Paste Prompt 2 there with the whole outline artifact; the new session cannot see the quick-chat history. Hard stop 0:16: switch to the pre-added rehearsal project at checkpoint 00-idea.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0:16-0:27. Project session on the new repo: Interactive, Auto &gt; Balance. Paste Prompt 2, replacing only its placeholder with the whole outline artifact; its header carries the approved title and repository name, and the new session cannot see the quick-chat history. Its first action saves the outline verbatim to .github/exercise-outline.md; show the file when it appears. Then show the README and Copy Exercise badge, the three step files, completion material, and workflow chaining. Learner work stays unsolved; keep the Tailspin MIT LICENSE and credit. Step 0 opens only the exercise instructions issue; there is no other issue seeding. Cap the wait at three minutes. Hard stop 0:19: if the build isn't ready to inspect, switch to the rehearsal 02-bootstrapped state and say so. Then one fail-to-pass example on step 1, in a separate disposable learner copy: the untouched starter fails with an actionable message; add the TSDoc section; the check passes and the next step opens. Checks validate what learners wrote, not file existence or future Copilot behavior. Use saved evidence or a clip if Actions is slow. Bootstrap writes into this private authoring repo; publish creates the public learner-facing template only after separate authorization. Gate 2 by 0:27: accept the build only if its evidence supports it, then move to the report-only review.</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0:27-0:35. /review-github-skills-exercise. Same session: Interactive, Auto &gt; Balance. Paste Prompt 3. Three questions: does the untouched starter fail, does correct learner work pass, and is the feedback clear and safe? Review reports findings without editing files. Hard stop 0:30: use the saved review if the live one is unfinished. Pick one real, supported finding, such as a weak grader, a workflow collision, or a learner accessibility issue; don't manufacture a defect. Approve only that fix with Prompt 3b, inspect the change and its checks, accept the fix round, then review again. If there are no live findings, show the labeled rehearsal finding and its before/after. Hard stop 0:35: start no more rounds. Self-review is not independent review; report-only guidance does not remove edit permissions. If stuck on the same finding after two rounds, stop and escalate. Give Gate 3 only when there are no known release blockers.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0:35-0:41. Same session: Interactive, Auto &gt; Balance. Never Autopilot here: the authorization gate must stop for you. Paste Prompt 4, or show the saved 04-publish-ready materials. Keep the output short: observed validation evidence, untested risks, PR description, release notes, and launch checklist. Local checks alone don't prove a fresh GitHub copy works. Send Prompt 4b with &lt;demo-owner&gt;/copilot-app-cleared-for-takeoff to show the plan and the publication boundary. Do not authorize it. The earlier private repo creation was not permission to publish, transfer, change visibility, or create a public template. Publish can create a GitHub repository, but needs explicit owner/repo and visibility authorization. Reconcile the README badge with the approved target. Hard stop 0:38: show the saved readiness report and planned commands. End at 0:41.</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0:41-0:45. Show the /orchestrate-github-skills-exercise recap prompt without running it: that is the fifth skill, and it sequences the same lifecycle; it is not a second agent. Mention filtering and tests, local Plan/Autopilot practice, PR and Agent Merge, MCP, and canvases as extensions for a longer exercise; don't demo them. Recap for an educator (a classroom convention) and an enterprise (a team onboarding policy): same lifecycle, different content. SemVer and plugin CI describe plugin release hygiene, not a guarantee that a generated exercise works; run and review it with a learner. Closing line: Keep the learner task small. Make success observable. Let the agent draft; keep humans at the decisions. Content ends at 0:45. The 0:45-0:50 buffer only absorbs overruns; if unused, move to slide 14 and open Q&amp;A.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0:50-1:00, or from 0:45 if the buffer was unused. Leave this QR on screen. The link resolves to the Awesome Copilot gh-skills-builder page, not directly to the source repository. Install command: copilot plugin install gh-skills-builder@awesome-copilot. Questions to seed: What can Actions observe? Why is review report-only? What authorization is required to publish? What would your audience practice? Don't troubleshoot individual installations or start another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Relationships xmlns="http://schemas.openxmlformats.org/package/2006/relationships"><Relationship Id="rId7" Type="http://schemas.openxmlformats.org/officeDocument/2006/relationships/slideLayout" Target="../slideLayouts/slideLayout7.xml"/><Relationship Id="rId24" Type="http://schemas.openxmlformats.org/officeDocument/2006/relationships/slideLayout" Target="../slideLayouts/slideLayout24.xml"/><Relationship Id="rId29" Type="http://schemas.openxmlformats.org/officeDocument/2006/relationships/slideLayout" Target="../slideLayouts/slideLayout29.xml"/><Relationship Id="rId45" Type="http://schemas.openxmlformats.org/officeDocument/2006/relationships/slideLayout" Target="../slideLayouts/slideLayout45.xml"/><Relationship Id="rId5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7"/>
    <p:sldLayoutId id="2147484102" r:id="rId24"/>
    <p:sldLayoutId id="2147484107" r:id="rId29"/>
    <p:sldLayoutId id="2147484123" r:id="rId4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8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53.png"/><Relationship Id="rId3" Type="http://schemas.openxmlformats.org/officeDocument/2006/relationships/hyperlink" Target="https://gh.io/gh-skills-builder" TargetMode="External"/><Relationship Id="rId4" Type="http://schemas.openxmlformats.org/officeDocument/2006/relationships/notesSlide" Target="../notesSlides/notesSlide8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54.png"/><Relationship Id="rId3" Type="http://schemas.openxmlformats.org/officeDocument/2006/relationships/notesSlide" Target="../notesSlides/notesSlide8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55.png"/><Relationship Id="rId3" Type="http://schemas.openxmlformats.org/officeDocument/2006/relationships/notesSlide" Target="../notesSlides/notesSlide9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9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9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56.png"/><Relationship Id="rId3" Type="http://schemas.openxmlformats.org/officeDocument/2006/relationships/notesSlide" Target="../notesSlides/notesSlide9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9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9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gh.io/gh-skills-builder" TargetMode="External"/><Relationship Id="rId3" Type="http://schemas.openxmlformats.org/officeDocument/2006/relationships/image" Target="../media/image53.png"/><Relationship Id="rId4" Type="http://schemas.openxmlformats.org/officeDocument/2006/relationships/notesSlide" Target="../notesSlides/notesSlide96.xml"/></Relationships>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33488" y="694944"/>
            <a:ext cx="4251960" cy="365760"/>
          </a:xfrm>
          <a:prstGeom prst="rect">
            <a:avLst/>
          </a:prstGeom>
          <a:noFill/>
        </p:spPr>
        <p:txBody>
          <a:bodyPr wrap="square" lIns="0" rIns="0" t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rIns="0" t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rIns="0" t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rIns="0" t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852928"/>
            <a:ext cx="2926080" cy="1325880"/>
          </a:xfrm>
          <a:prstGeom prst="rect">
            <a:avLst/>
          </a:prstGeom>
          <a:noFill/>
        </p:spPr>
        <p:txBody>
          <a:bodyPr wrap="square" lIns="0" rIns="0" t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rIns="0" t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Takeaways by 0:45, then a buffer and Q&amp;A by 0:50</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rIns="0" t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rIns="0" t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B0BAC3"/>
                </a:solidFill>
                <a:latin typeface="Mona Sans"/>
              </a:rPr>
              <a:t>A plugin packages customizations. It is not a separate AI model.</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rIns="0" t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rIns="0" t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2"/>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rIns="0" tIns="0" bIns="0" anchor="t">
            <a:normAutofit/>
          </a:bodyPr>
          <a:lstStyle/>
          <a:p>
            <a:pPr algn="ctr">
              <a:spcAft>
                <a:spcPts val="300"/>
              </a:spcAft>
            </a:pPr>
            <a:r>
              <a:rPr sz="2000" b="1">
                <a:solidFill>
                  <a:srgbClr val="5EEC83"/>
                </a:solidFill>
                <a:latin typeface="Mona Sans"/>
                <a:hlinkClick r:id="rId3"/>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5779008"/>
            <a:ext cx="10424160" cy="301752"/>
          </a:xfrm>
          <a:prstGeom prst="rect">
            <a:avLst/>
          </a:prstGeom>
          <a:noFill/>
        </p:spPr>
        <p:txBody>
          <a:bodyPr wrap="square" lIns="0" rIns="0" tIns="0" bIns="0" anchor="t">
            <a:spAutoFit/>
          </a:bodyPr>
          <a:lstStyle/>
          <a:p>
            <a:pPr algn="l">
              <a:spcAft>
                <a:spcPts val="300"/>
              </a:spcAft>
            </a:pPr>
            <a:r>
              <a:rPr sz="1600" b="0">
                <a:solidFill>
                  <a:srgbClr val="FFFFFF"/>
                </a:solidFill>
                <a:latin typeface="Mona Sans"/>
              </a:rPr>
              <a:t>CLI: copilot plugin install gh-skills-builder@awesome-copilot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rIns="0" tIns="0" bIns="0" anchor="t">
            <a:spAutoFit/>
          </a:bodyPr>
          <a:lstStyle/>
          <a:p>
            <a:pPr algn="l">
              <a:spcAft>
                <a:spcPts val="300"/>
              </a:spcAft>
            </a:pPr>
            <a:r>
              <a:rPr sz="2400" b="1">
                <a:solidFill>
                  <a:srgbClr val="5EEC83"/>
                </a:solidFill>
                <a:latin typeface="Mona Sans Display"/>
              </a:rPr>
              <a:t>Working title: Cleared for Takeoff</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ne orchestrator agent loads five skills: orchestration, outline, bootstrap, review, and publish."/>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utline, bootstrap, review, and publish, with human approval at every transition."/>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400" b="1">
                <a:solidFill>
                  <a:srgbClr val="5EEC83"/>
                </a:solidFill>
                <a:latin typeface="Mona Sans Display"/>
              </a:rPr>
              <a:t>/create-github-skills-outline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606040"/>
            <a:ext cx="5120640" cy="2606040"/>
          </a:xfrm>
          <a:prstGeom prst="rect">
            <a:avLst/>
          </a:prstGeom>
          <a:noFill/>
        </p:spPr>
        <p:txBody>
          <a:bodyPr wrap="square" lIns="0" rIns="0" t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rIns="0" t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rIns="0" t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300" b="1">
                <a:solidFill>
                  <a:srgbClr val="5EEC83"/>
                </a:solidFill>
                <a:latin typeface="Mona Sans Display"/>
              </a:rPr>
              <a:t>/bootstrap-github-skills-exercise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uild, report-only review, human decision, approved fixes, and re-review before publication."/>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400" b="1">
                <a:solidFill>
                  <a:srgbClr val="5EEC83"/>
                </a:solidFill>
                <a:latin typeface="Mona Sans Display"/>
              </a:rPr>
              <a:t>/publish-github-skills-exercise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rIns="0" t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rIns="0" t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rIns="0" t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rIns="0" tIns="0" bIns="0" anchor="t">
            <a:normAutofit/>
          </a:bodyPr>
          <a:lstStyle/>
          <a:p>
            <a:pPr algn="l">
              <a:spcAft>
                <a:spcPts val="300"/>
              </a:spcAft>
            </a:pPr>
            <a:r>
              <a:rPr sz="3100" b="1">
                <a:solidFill>
                  <a:srgbClr val="5EEC83"/>
                </a:solidFill>
                <a:latin typeface="Mona Sans"/>
                <a:hlinkClick r:id="rId2"/>
              </a:rPr>
              <a:t>gh.io/gh-skills-builder</a:t>
            </a:r>
          </a:p>
        </p:txBody>
      </p:sp>
      <p:sp>
        <p:nvSpPr>
          <p:cNvPr id="5" name="TextBox 4"/>
          <p:cNvSpPr txBox="1"/>
          <p:nvPr/>
        </p:nvSpPr>
        <p:spPr>
          <a:xfrm>
            <a:off x="731520" y="4636008"/>
            <a:ext cx="6629400" cy="822960"/>
          </a:xfrm>
          <a:prstGeom prst="rect">
            <a:avLst/>
          </a:prstGeom>
          <a:noFill/>
        </p:spPr>
        <p:txBody>
          <a:bodyPr wrap="square" lIns="0" rIns="0" t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3"/>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rIns="0" t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B0BAC3"/>
                </a:solidFill>
                <a:latin typeface="Mona Sans"/>
              </a:rPr>
              <a:t>Q&amp;A / What could you turn into an exercise?</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7</TotalTime>
  <Words>2631</Words>
  <Application>Microsoft Macintosh PowerPoint</Application>
  <PresentationFormat>Custom</PresentationFormat>
  <Paragraphs>475</Paragraphs>
  <Slides>197</Slides>
  <Notes>82</Notes>
  <HiddenSlides>0</HiddenSlides>
  <MMClips>0</MMClips>
  <ScaleCrop>false</ScaleCrop>
  <HeadingPairs>
    <vt:vector size="6" baseType="variant">
      <vt:variant>
        <vt:lpstr>Fonts Used</vt:lpstr>
      </vt:variant>
      <vt:variant>
        <vt:i4>12</vt:i4>
      </vt:variant>
      <vt:variant>
        <vt:lpstr>Theme</vt:lpstr>
      </vt:variant>
      <vt:variant>
        <vt:i4>6</vt:i4>
      </vt:variant>
      <vt:variant>
        <vt:lpstr>Slide Titles</vt:lpstr>
      </vt:variant>
      <vt:variant>
        <vt:i4>197</vt:i4>
      </vt:variant>
    </vt:vector>
  </HeadingPairs>
  <TitlesOfParts>
    <vt:vector size="215" baseType="lpstr">
      <vt:lpstr>Aptos</vt:lpstr>
      <vt:lpstr>Arial</vt:lpstr>
      <vt:lpstr>Consolas</vt:lpstr>
      <vt:lpstr>Mona Sans</vt:lpstr>
      <vt:lpstr>Mona Sans Display</vt:lpstr>
      <vt:lpstr>Mona Sans Display Medium</vt:lpstr>
      <vt:lpstr>Mona Sans Medium</vt:lpstr>
      <vt:lpstr>Mona Sans Mono</vt:lpstr>
      <vt:lpstr>Mona Sans SemiBold</vt:lpstr>
      <vt:lpstr>Mona-Sans</vt:lpstr>
      <vt:lpstr>Mona-Sans Regular</vt:lpstr>
      <vt:lpstr>Segoe UI</vt:lpstr>
      <vt:lpstr>GitHub Default Theme_dark version</vt:lpstr>
      <vt:lpstr>Copilot/AI Theme_dark version</vt:lpstr>
      <vt:lpstr>Security Theme_dark version</vt:lpstr>
      <vt:lpstr>GitHub Default Theme_light version</vt:lpstr>
      <vt:lpstr>Copilot/AI Theme_light version</vt:lpstr>
      <vt:lpstr>Security Theme_light version</vt:lpstr>
      <vt:lpstr>2026 GitHub presentation template instructions 1</vt:lpstr>
      <vt:lpstr>2026 GitHub presentation template instructions 2</vt:lpstr>
      <vt:lpstr>2026 GitHub presentation template instructions 3</vt:lpstr>
      <vt:lpstr>2026 GitHub presentation template instructions 4</vt:lpstr>
      <vt:lpstr>2026 GitHub presentation template instructions 5</vt:lpstr>
      <vt:lpstr>2026 GitHub presentation template instructions 6</vt:lpstr>
      <vt:lpstr>2026 GitHub presentation template instructions 7</vt:lpstr>
      <vt:lpstr>Collaborate live  with your co-creators! </vt:lpstr>
      <vt:lpstr>2026 GitHub presentation template instructions 9</vt:lpstr>
      <vt:lpstr>2026 GitHub presentation template instructions 10</vt:lpstr>
      <vt:lpstr>2026 GitHub presentation template instructions 11</vt:lpstr>
      <vt:lpstr>2026 GitHub presentation template instructions 12</vt:lpstr>
      <vt:lpstr>2026 GitHub presentation template instructions 13</vt:lpstr>
      <vt:lpstr>2026 GitHub presentation template instructions 14</vt:lpstr>
      <vt:lpstr>2026 GitHub presentation template instructions 15</vt:lpstr>
      <vt:lpstr>2026 GitHub presentation template instructions 16</vt:lpstr>
      <vt:lpstr>2026 GitHub presentation template instructions 17</vt:lpstr>
      <vt:lpstr>Speaker card and title</vt:lpstr>
      <vt:lpstr>Speaker card and title 2</vt:lpstr>
      <vt:lpstr>Speaker card and title 3</vt:lpstr>
      <vt:lpstr>Speaker card and title 4</vt:lpstr>
      <vt:lpstr>Speaker card and title 5</vt:lpstr>
      <vt:lpstr>Speaker card and title 6</vt:lpstr>
      <vt:lpstr>Agenda</vt:lpstr>
      <vt:lpstr>Section name</vt:lpstr>
      <vt:lpstr>Large statement</vt:lpstr>
      <vt:lpstr>Quote and testimonial</vt:lpstr>
      <vt:lpstr>Statement slide 1</vt:lpstr>
      <vt:lpstr>Statement slide 2</vt:lpstr>
      <vt:lpstr>Product shot and value proposition</vt:lpstr>
      <vt:lpstr>Product shot and value proposition 2</vt:lpstr>
      <vt:lpstr>Product shot and value proposition 3</vt:lpstr>
      <vt:lpstr>Product shot and value proposition 4</vt:lpstr>
      <vt:lpstr>Two product features 1</vt:lpstr>
      <vt:lpstr>Three product features 1</vt:lpstr>
      <vt:lpstr>Image and text layout</vt:lpstr>
      <vt:lpstr>Image and text layout 2 columns</vt:lpstr>
      <vt:lpstr>Image and text layout 3 columns</vt:lpstr>
      <vt:lpstr>Image and text layout 4 columns</vt:lpstr>
      <vt:lpstr>Image and text layout 2 columns 3 rows</vt:lpstr>
      <vt:lpstr>Title and content</vt:lpstr>
      <vt:lpstr>Title and content 2</vt:lpstr>
      <vt:lpstr>Title and 2 statements</vt:lpstr>
      <vt:lpstr>Title and 3 statements</vt:lpstr>
      <vt:lpstr>Title and 4 statements</vt:lpstr>
      <vt:lpstr>Title and 4 statements part 2</vt:lpstr>
      <vt:lpstr>Title, description and image</vt:lpstr>
      <vt:lpstr>Title, description and image part 2</vt:lpstr>
      <vt:lpstr>Title and image</vt:lpstr>
      <vt:lpstr>Title and image part 2</vt:lpstr>
      <vt:lpstr>Title, description and image 2</vt:lpstr>
      <vt:lpstr>Title, description and image 2 reversed</vt:lpstr>
      <vt:lpstr>Title, 2 statements and image</vt:lpstr>
      <vt:lpstr>Title, 2 statements and image part 2</vt:lpstr>
      <vt:lpstr>Statement and stat</vt:lpstr>
      <vt:lpstr>Two statements and stats columns</vt:lpstr>
      <vt:lpstr>Three statements and stats columns</vt:lpstr>
      <vt:lpstr>Title and browser screenshot</vt:lpstr>
      <vt:lpstr>Browser screenshot</vt:lpstr>
      <vt:lpstr>Demo slide</vt:lpstr>
      <vt:lpstr>Thank you slide</vt:lpstr>
      <vt:lpstr>Splash slide</vt:lpstr>
      <vt:lpstr>Developer code layout</vt:lpstr>
      <vt:lpstr>Developer code bottom</vt:lpstr>
      <vt:lpstr>Developer code top</vt:lpstr>
      <vt:lpstr>Developer code right</vt:lpstr>
      <vt:lpstr>Developer code left</vt:lpstr>
      <vt:lpstr>Upcoming session 4</vt:lpstr>
      <vt:lpstr>Upcoming session 3</vt:lpstr>
      <vt:lpstr>Upcoming session 2</vt:lpstr>
      <vt:lpstr>Upcoming session 1</vt:lpstr>
      <vt:lpstr>Blank slide</vt:lpstr>
      <vt:lpstr>Blank entirely slide</vt:lpstr>
      <vt:lpstr>Speaker card and title (Copilot/AI)</vt:lpstr>
      <vt:lpstr>Speaker card and title (Copilot/AI) 2</vt:lpstr>
      <vt:lpstr>Speaker card and title (Copilot/AI) 3</vt:lpstr>
      <vt:lpstr>Speaker card and title (Copilot/AI) 4</vt:lpstr>
      <vt:lpstr>Speaker card and title (Copilot/AI) 5</vt:lpstr>
      <vt:lpstr>Speaker card and title (Copilot/AI) 6</vt:lpstr>
      <vt:lpstr>Product shot and value proposition (Copilot/AI)</vt:lpstr>
      <vt:lpstr>Product shot and value proposition (Copilot/AI) 2</vt:lpstr>
      <vt:lpstr>Product shot and value proposition (Copilot/AI) 3</vt:lpstr>
      <vt:lpstr>Product shot and value proposition (Copilot/AI) 4</vt:lpstr>
      <vt:lpstr>Two product features with value prop plus descriptions (Copilot/AI) </vt:lpstr>
      <vt:lpstr>Three product features with value prop plus descriptions (Copilot/AI) </vt:lpstr>
      <vt:lpstr>Title and browser screenshot (Copilot/AI)</vt:lpstr>
      <vt:lpstr>Browser screenshot (Copilot/AI)</vt:lpstr>
      <vt:lpstr>Demo slide (Copilot/AI)</vt:lpstr>
      <vt:lpstr>Thank you slide (Copilot/AI)</vt:lpstr>
      <vt:lpstr>Splash slide (Copilot/AI)</vt:lpstr>
      <vt:lpstr>Speaker card and title (Security)</vt:lpstr>
      <vt:lpstr>Speaker card and title (Security) 2</vt:lpstr>
      <vt:lpstr>Speaker card and title (Security) 3</vt:lpstr>
      <vt:lpstr>Speaker card and title (Security) 4</vt:lpstr>
      <vt:lpstr>Speaker card and title (Security)5</vt:lpstr>
      <vt:lpstr>Speaker card and title (Security) 6</vt:lpstr>
      <vt:lpstr>Product shot and value proposition (Security)</vt:lpstr>
      <vt:lpstr>Product shot and value proposition (Security) 2</vt:lpstr>
      <vt:lpstr>Product shot and value proposition (Security) 3</vt:lpstr>
      <vt:lpstr>Product shot and value proposition (Security) 4</vt:lpstr>
      <vt:lpstr>Two product features with value prop plus descriptions (Security)</vt:lpstr>
      <vt:lpstr>Three product features with value prop plus descriptions (Security)</vt:lpstr>
      <vt:lpstr>Title and browser screenshot (Security)</vt:lpstr>
      <vt:lpstr>Browser screenshot (Security)</vt:lpstr>
      <vt:lpstr>Demo slide (Security)</vt:lpstr>
      <vt:lpstr>Thank you slide (Security)</vt:lpstr>
      <vt:lpstr>Splash slide (Security)</vt:lpstr>
      <vt:lpstr>Speaker card and title (light mode) 1</vt:lpstr>
      <vt:lpstr>Speaker card and title (light mode) 2</vt:lpstr>
      <vt:lpstr>Speaker card and title (light mode) 3</vt:lpstr>
      <vt:lpstr>Speaker card and title (light mode) 4</vt:lpstr>
      <vt:lpstr>Speaker card and title (light mode) 5</vt:lpstr>
      <vt:lpstr>Speaker card and title (light mode) 6</vt:lpstr>
      <vt:lpstr>Agenda (light mode)</vt:lpstr>
      <vt:lpstr>Section name (light mode)</vt:lpstr>
      <vt:lpstr>Large statement (light mode)</vt:lpstr>
      <vt:lpstr>Quote and testimonial (light mode)</vt:lpstr>
      <vt:lpstr>Statement slide 1 (light mode)</vt:lpstr>
      <vt:lpstr>Statement slide 2 (light mode)</vt:lpstr>
      <vt:lpstr>Product shot and value proposition (light mode)</vt:lpstr>
      <vt:lpstr>Product shot and value proposition (light mode) 2</vt:lpstr>
      <vt:lpstr>Product shot and value proposition (light mode) 3</vt:lpstr>
      <vt:lpstr>Product shot and value proposition (light mode) 4</vt:lpstr>
      <vt:lpstr>Two product features with value prop plus descriptions (light mode)</vt:lpstr>
      <vt:lpstr>Three product features with value prop plus descriptions (light mode)</vt:lpstr>
      <vt:lpstr>Image and text layout (light mode)</vt:lpstr>
      <vt:lpstr>Image and text layout 2 columns (light mode)</vt:lpstr>
      <vt:lpstr>Image and text layout 3 columns (light mode)</vt:lpstr>
      <vt:lpstr>Image and text layout 4 columns (light mode)</vt:lpstr>
      <vt:lpstr>Image and text layout 2 columns 3 rows (light mode)</vt:lpstr>
      <vt:lpstr>Title and content (light mode)</vt:lpstr>
      <vt:lpstr>Title and content 2 (light mode)</vt:lpstr>
      <vt:lpstr>Title and 2 statements (light mode)</vt:lpstr>
      <vt:lpstr>Title and 3 statements (light mode)</vt:lpstr>
      <vt:lpstr>Title and 4 statements (light mode)</vt:lpstr>
      <vt:lpstr>Title and 4 statements part 2 (light mode)</vt:lpstr>
      <vt:lpstr>Title, description and image (light mode)</vt:lpstr>
      <vt:lpstr>Title, description and image part 2 (light mode)</vt:lpstr>
      <vt:lpstr>Title and image (light mode)</vt:lpstr>
      <vt:lpstr>Title and image part 2 (light mode)</vt:lpstr>
      <vt:lpstr>Title, description and image 2 (light mode)</vt:lpstr>
      <vt:lpstr>Title, description and image 2 reversed (light mode)</vt:lpstr>
      <vt:lpstr>Title, 2 statements and image (light mode)</vt:lpstr>
      <vt:lpstr>Title, 2 statements and image part 2 (light mode)</vt:lpstr>
      <vt:lpstr>Statement and stat (light mode)</vt:lpstr>
      <vt:lpstr>Two statements and stats columns (light mode)</vt:lpstr>
      <vt:lpstr>Three statements and stats columns (light mode)</vt:lpstr>
      <vt:lpstr>Title and Browser (light mode)</vt:lpstr>
      <vt:lpstr>Browser screenshot (light mode)</vt:lpstr>
      <vt:lpstr>Demo slide (light mode)</vt:lpstr>
      <vt:lpstr>Thank you slide (light mode)</vt:lpstr>
      <vt:lpstr>Splash slide (light mode)</vt:lpstr>
      <vt:lpstr>Developer code layout (light mode)</vt:lpstr>
      <vt:lpstr>Developer code bottom (light mode)</vt:lpstr>
      <vt:lpstr>Developer code top (light mode)</vt:lpstr>
      <vt:lpstr>Developer code right (light mode)</vt:lpstr>
      <vt:lpstr>Developer code left (light mode)</vt:lpstr>
      <vt:lpstr>Upcoming sessions (4) (light mode)</vt:lpstr>
      <vt:lpstr>Upcoming session 3 (light mode)</vt:lpstr>
      <vt:lpstr>Upcoming session 2 (light mode)</vt:lpstr>
      <vt:lpstr>Upcoming session 1 (light mode)</vt:lpstr>
      <vt:lpstr>Blank slide (light mode)</vt:lpstr>
      <vt:lpstr>Blank entirely slide (light mode)</vt:lpstr>
      <vt:lpstr>Speaker card and title (Copilot/AI) (light mode)</vt:lpstr>
      <vt:lpstr>Speaker card and title (Copilot/AI) (light mode) 2</vt:lpstr>
      <vt:lpstr>Speaker card and title (Copilot/AI) (light mode) 3</vt:lpstr>
      <vt:lpstr>Speaker card and title (Copilot/AI) (light mode) 4</vt:lpstr>
      <vt:lpstr>Speaker card and title (Copilot/AI) (light mode) 5</vt:lpstr>
      <vt:lpstr>Speaker card and title (Copilot/AI) (light mode) 6</vt:lpstr>
      <vt:lpstr>Product shot and value proposition (Copilot/AI) (light mode)</vt:lpstr>
      <vt:lpstr>Product shot and value proposition (Copilot/AI) (light mode) 2</vt:lpstr>
      <vt:lpstr>Product shot and value proposition (Copilot/AI) (light mode) 3</vt:lpstr>
      <vt:lpstr>Product shot and value proposition (Copilot/AI) (light mode) 4</vt:lpstr>
      <vt:lpstr>Two product features with value prop plus descriptions (Copilot/AI) (light mode)</vt:lpstr>
      <vt:lpstr> Three product features with value prop plus descriptions (Copilot/AI) (light mode)</vt:lpstr>
      <vt:lpstr>Title and browser screenshot (Copilot/AI) (light mode)</vt:lpstr>
      <vt:lpstr>Browser screenshot (Copilot/AI) (light mode)</vt:lpstr>
      <vt:lpstr>Demo slide(Copilot/AI) (light mode)</vt:lpstr>
      <vt:lpstr>Thank you slide (Copilot/AI) (light mode)</vt:lpstr>
      <vt:lpstr>Splash slide (Copilot/AI) (light mode)</vt:lpstr>
      <vt:lpstr>Speaker card and title (Security) (light mode) </vt:lpstr>
      <vt:lpstr>Speaker card and title (Security) (light mode) 2 </vt:lpstr>
      <vt:lpstr>Speaker card and title (Security) (light mode) 3 </vt:lpstr>
      <vt:lpstr>Speaker card and title (Security) (light mode) 4 </vt:lpstr>
      <vt:lpstr>Speaker card and title (Security) (light mode) 5</vt:lpstr>
      <vt:lpstr>Speaker card and title (Security) (light mode) 6 </vt:lpstr>
      <vt:lpstr>Product shot and value proposition (Security) (light mode) </vt:lpstr>
      <vt:lpstr>Product shot and value proposition (Security) (light mode) 2 </vt:lpstr>
      <vt:lpstr>Product shot and value proposition (Security) (light mode) 3 </vt:lpstr>
      <vt:lpstr>Product shot and value proposition (Security) (light mode) 4 </vt:lpstr>
      <vt:lpstr>Two product features with value prop plus descriptions (Security) (light mode) </vt:lpstr>
      <vt:lpstr>Three product features with value prop plus descriptions (Security) (light mode) </vt:lpstr>
      <vt:lpstr>Title and browser screenshot (Security) (light mode)</vt:lpstr>
      <vt:lpstr>Browser screenshot (Security) (light mode)</vt:lpstr>
      <vt:lpstr>Demo slide (Security) (light mode)</vt:lpstr>
      <vt:lpstr>Thank you slide (Security) (light mode)</vt:lpstr>
      <vt:lpstr>Splash page (Security) (light mode)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Anh-Thu Pham</cp:lastModifiedBy>
  <cp:revision>1</cp:revision>
  <dcterms:created xsi:type="dcterms:W3CDTF">2026-09-28T20:33:34Z</dcterms:created>
  <dcterms:modified xsi:type="dcterms:W3CDTF">2026-09-28T20:40:38Z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