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0"/>
  </p:notesMasterIdLst>
  <p:handoutMasterIdLst>
    <p:handoutMasterId r:id="rId21"/>
  </p:handoutMasterIdLst>
  <p:sldIdLst>
    <p:sldId id="493" r:id="rId5"/>
    <p:sldId id="523" r:id="rId6"/>
    <p:sldId id="524" r:id="rId7"/>
    <p:sldId id="525" r:id="rId8"/>
    <p:sldId id="526" r:id="rId9"/>
    <p:sldId id="527" r:id="rId10"/>
    <p:sldId id="528" r:id="rId11"/>
    <p:sldId id="529" r:id="rId12"/>
    <p:sldId id="530" r:id="rId13"/>
    <p:sldId id="531" r:id="rId14"/>
    <p:sldId id="532" r:id="rId15"/>
    <p:sldId id="533" r:id="rId16"/>
    <p:sldId id="534" r:id="rId17"/>
    <p:sldId id="535" r:id="rId18"/>
    <p:sldId id="522" r:id="rId19"/>
  </p:sldIdLst>
  <p:sldSz cx="12188825" cy="6858000"/>
  <p:notesSz cx="6858000" cy="9144000"/>
  <p:defaultTextStyle>
    <a:defPPr>
      <a:defRPr lang="en-US"/>
    </a:defPPr>
    <a:lvl1pPr marL="0" algn="l" defTabSz="914080" rtl="0" eaLnBrk="1" latinLnBrk="0" hangingPunct="1">
      <a:defRPr sz="1799" kern="1200">
        <a:solidFill>
          <a:schemeClr val="tx1"/>
        </a:solidFill>
        <a:latin typeface="+mn-lt"/>
        <a:ea typeface="+mn-ea"/>
        <a:cs typeface="+mn-cs"/>
      </a:defRPr>
    </a:lvl1pPr>
    <a:lvl2pPr marL="457040" algn="l" defTabSz="914080" rtl="0" eaLnBrk="1" latinLnBrk="0" hangingPunct="1">
      <a:defRPr sz="1799" kern="1200">
        <a:solidFill>
          <a:schemeClr val="tx1"/>
        </a:solidFill>
        <a:latin typeface="+mn-lt"/>
        <a:ea typeface="+mn-ea"/>
        <a:cs typeface="+mn-cs"/>
      </a:defRPr>
    </a:lvl2pPr>
    <a:lvl3pPr marL="914080" algn="l" defTabSz="914080" rtl="0" eaLnBrk="1" latinLnBrk="0" hangingPunct="1">
      <a:defRPr sz="1799" kern="1200">
        <a:solidFill>
          <a:schemeClr val="tx1"/>
        </a:solidFill>
        <a:latin typeface="+mn-lt"/>
        <a:ea typeface="+mn-ea"/>
        <a:cs typeface="+mn-cs"/>
      </a:defRPr>
    </a:lvl3pPr>
    <a:lvl4pPr marL="1371120" algn="l" defTabSz="914080" rtl="0" eaLnBrk="1" latinLnBrk="0" hangingPunct="1">
      <a:defRPr sz="1799" kern="1200">
        <a:solidFill>
          <a:schemeClr val="tx1"/>
        </a:solidFill>
        <a:latin typeface="+mn-lt"/>
        <a:ea typeface="+mn-ea"/>
        <a:cs typeface="+mn-cs"/>
      </a:defRPr>
    </a:lvl4pPr>
    <a:lvl5pPr marL="1828160" algn="l" defTabSz="914080" rtl="0" eaLnBrk="1" latinLnBrk="0" hangingPunct="1">
      <a:defRPr sz="1799" kern="1200">
        <a:solidFill>
          <a:schemeClr val="tx1"/>
        </a:solidFill>
        <a:latin typeface="+mn-lt"/>
        <a:ea typeface="+mn-ea"/>
        <a:cs typeface="+mn-cs"/>
      </a:defRPr>
    </a:lvl5pPr>
    <a:lvl6pPr marL="2285200" algn="l" defTabSz="914080" rtl="0" eaLnBrk="1" latinLnBrk="0" hangingPunct="1">
      <a:defRPr sz="1799" kern="1200">
        <a:solidFill>
          <a:schemeClr val="tx1"/>
        </a:solidFill>
        <a:latin typeface="+mn-lt"/>
        <a:ea typeface="+mn-ea"/>
        <a:cs typeface="+mn-cs"/>
      </a:defRPr>
    </a:lvl6pPr>
    <a:lvl7pPr marL="2742240" algn="l" defTabSz="914080" rtl="0" eaLnBrk="1" latinLnBrk="0" hangingPunct="1">
      <a:defRPr sz="1799" kern="1200">
        <a:solidFill>
          <a:schemeClr val="tx1"/>
        </a:solidFill>
        <a:latin typeface="+mn-lt"/>
        <a:ea typeface="+mn-ea"/>
        <a:cs typeface="+mn-cs"/>
      </a:defRPr>
    </a:lvl7pPr>
    <a:lvl8pPr marL="3199280" algn="l" defTabSz="914080" rtl="0" eaLnBrk="1" latinLnBrk="0" hangingPunct="1">
      <a:defRPr sz="1799" kern="1200">
        <a:solidFill>
          <a:schemeClr val="tx1"/>
        </a:solidFill>
        <a:latin typeface="+mn-lt"/>
        <a:ea typeface="+mn-ea"/>
        <a:cs typeface="+mn-cs"/>
      </a:defRPr>
    </a:lvl8pPr>
    <a:lvl9pPr marL="3656320" algn="l" defTabSz="914080" rtl="0" eaLnBrk="1" latinLnBrk="0" hangingPunct="1">
      <a:defRPr sz="1799"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81BF125B-3DD1-8444-87BD-83DBE933DF68}">
          <p14:sldIdLst>
            <p14:sldId id="493"/>
            <p14:sldId id="523"/>
            <p14:sldId id="524"/>
            <p14:sldId id="525"/>
            <p14:sldId id="526"/>
            <p14:sldId id="527"/>
            <p14:sldId id="528"/>
            <p14:sldId id="529"/>
            <p14:sldId id="530"/>
            <p14:sldId id="531"/>
            <p14:sldId id="532"/>
            <p14:sldId id="533"/>
            <p14:sldId id="534"/>
            <p14:sldId id="535"/>
            <p14:sldId id="522"/>
          </p14:sldIdLst>
        </p14:section>
        <p14:section name="Default theme_dark mode" id="{2535B1A6-A8C7-CA45-8E70-09E67CC9FDB5}">
          <p14:sldIdLst/>
        </p14:section>
        <p14:section name="Copilot/AI_dark mode" id="{845C0727-1AAC-D545-B6BE-1AFCAA59C892}">
          <p14:sldIdLst/>
        </p14:section>
        <p14:section name="Security_dark mode" id="{7BFA2AE7-9052-FB4D-A355-5E8892A147DF}">
          <p14:sldIdLst/>
        </p14:section>
        <p14:section name="Default theme_light mode" id="{C59EE9B4-D87C-6D42-A2A7-E4336738500B}">
          <p14:sldIdLst/>
        </p14:section>
        <p14:section name="Copilot/AI_light mode" id="{3A94A824-119D-8942-9AAD-F8102EB94935}">
          <p14:sldIdLst/>
        </p14:section>
        <p14:section name="Security_light mode" id="{2F5AC21D-F6B3-C746-B0D0-0C2BCF1059BB}">
          <p14:sldIdLst/>
        </p14:section>
      </p14:sectionLst>
    </p:ext>
    <p:ext uri="{EFAFB233-063F-42B5-8137-9DF3F51BA10A}">
      <p15:sldGuideLst xmlns:p15="http://schemas.microsoft.com/office/powerpoint/2012/main">
        <p15:guide id="1" orient="horz" pos="2160" userDrawn="1">
          <p15:clr>
            <a:srgbClr val="A4A3A4"/>
          </p15:clr>
        </p15:guide>
        <p15:guide id="2" orient="horz" pos="4056" userDrawn="1">
          <p15:clr>
            <a:srgbClr val="A4A3A4"/>
          </p15:clr>
        </p15:guide>
        <p15:guide id="3" orient="horz" pos="264" userDrawn="1">
          <p15:clr>
            <a:srgbClr val="A4A3A4"/>
          </p15:clr>
        </p15:guide>
        <p15:guide id="4" pos="3839" userDrawn="1">
          <p15:clr>
            <a:srgbClr val="A4A3A4"/>
          </p15:clr>
        </p15:guide>
        <p15:guide id="5" pos="7439" userDrawn="1">
          <p15:clr>
            <a:srgbClr val="A4A3A4"/>
          </p15:clr>
        </p15:guide>
        <p15:guide id="6" pos="23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EBE6"/>
    <a:srgbClr val="101411"/>
    <a:srgbClr val="909692"/>
    <a:srgbClr val="F5BE4F"/>
    <a:srgbClr val="FFFFFF"/>
    <a:srgbClr val="5A615C"/>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648151-1DC3-9C4E-A5BD-EC616086CF80}" v="13" dt="2026-09-28T20:39:31.7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805"/>
    <p:restoredTop sz="84902"/>
  </p:normalViewPr>
  <p:slideViewPr>
    <p:cSldViewPr snapToGrid="0" showGuides="1">
      <p:cViewPr varScale="1">
        <p:scale>
          <a:sx n="177" d="100"/>
          <a:sy n="177" d="100"/>
        </p:scale>
        <p:origin x="5104" y="192"/>
      </p:cViewPr>
      <p:guideLst>
        <p:guide orient="horz" pos="2160"/>
        <p:guide orient="horz" pos="4056"/>
        <p:guide orient="horz" pos="264"/>
        <p:guide pos="3839"/>
        <p:guide pos="7439"/>
        <p:guide pos="239"/>
      </p:guideLst>
    </p:cSldViewPr>
  </p:slideViewPr>
  <p:outlineViewPr>
    <p:cViewPr>
      <p:scale>
        <a:sx n="33" d="100"/>
        <a:sy n="33" d="100"/>
      </p:scale>
      <p:origin x="0" y="0"/>
    </p:cViewPr>
  </p:outlineViewPr>
  <p:notesTextViewPr>
    <p:cViewPr>
      <p:scale>
        <a:sx n="1" d="1"/>
        <a:sy n="1" d="1"/>
      </p:scale>
      <p:origin x="0" y="0"/>
    </p:cViewPr>
  </p:notesTextViewPr>
  <p:sorterViewPr>
    <p:cViewPr>
      <p:scale>
        <a:sx n="58" d="100"/>
        <a:sy n="58" d="100"/>
      </p:scale>
      <p:origin x="0" y="0"/>
    </p:cViewPr>
  </p:sorterViewPr>
  <p:notesViewPr>
    <p:cSldViewPr snapToGrid="0">
      <p:cViewPr varScale="1">
        <p:scale>
          <a:sx n="165" d="100"/>
          <a:sy n="165" d="100"/>
        </p:scale>
        <p:origin x="5496"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AD02F9C-842C-90FB-686B-398DA758AFD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70F95DA-BE61-6E33-F6DF-138C42A88EE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29FDEFF-5B9A-5642-875A-3DBDE6E052F5}" type="datetimeFigureOut">
              <a:rPr lang="en-US" smtClean="0"/>
              <a:t>10/25/26</a:t>
            </a:fld>
            <a:endParaRPr lang="en-US"/>
          </a:p>
        </p:txBody>
      </p:sp>
      <p:sp>
        <p:nvSpPr>
          <p:cNvPr id="4" name="Footer Placeholder 3">
            <a:extLst>
              <a:ext uri="{FF2B5EF4-FFF2-40B4-BE49-F238E27FC236}">
                <a16:creationId xmlns:a16="http://schemas.microsoft.com/office/drawing/2014/main" id="{B30B933B-D279-5F17-00D4-1E836B8DA6A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E0A141F-D2A0-5D9A-BE8F-7193A16A55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6BFD80D-9D2A-D244-811A-ECAE6BC8AAD5}" type="slidenum">
              <a:rPr lang="en-US" smtClean="0"/>
              <a:t>‹#›</a:t>
            </a:fld>
            <a:endParaRPr lang="en-US"/>
          </a:p>
        </p:txBody>
      </p:sp>
    </p:spTree>
    <p:extLst>
      <p:ext uri="{BB962C8B-B14F-4D97-AF65-F5344CB8AC3E}">
        <p14:creationId xmlns:p14="http://schemas.microsoft.com/office/powerpoint/2010/main" val="18643121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D14FC2-20DA-5B43-91CB-9B0F7151D391}" type="datetimeFigureOut">
              <a:rPr lang="en-US" smtClean="0"/>
              <a:t>10/25/26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5C53A8-59A0-4A49-BAB4-A832A26A8EF5}" type="slidenum">
              <a:rPr lang="en-US" smtClean="0"/>
              <a:t>‹#›</a:t>
            </a:fld>
            <a:endParaRPr lang="en-US"/>
          </a:p>
        </p:txBody>
      </p:sp>
    </p:spTree>
    <p:extLst>
      <p:ext uri="{BB962C8B-B14F-4D97-AF65-F5344CB8AC3E}">
        <p14:creationId xmlns:p14="http://schemas.microsoft.com/office/powerpoint/2010/main" val="1659902915"/>
      </p:ext>
    </p:extLst>
  </p:cSld>
  <p:clrMap bg1="lt1" tx1="dk1" bg2="lt2" tx2="dk2" accent1="accent1" accent2="accent2" accent3="accent3" accent4="accent4" accent5="accent5" accent6="accent6" hlink="hlink" folHlink="folHlink"/>
  <p:notesStyle>
    <a:lvl1pPr marL="0" algn="l" defTabSz="914080" rtl="0" eaLnBrk="1" latinLnBrk="0" hangingPunct="1">
      <a:defRPr sz="1200" kern="1200">
        <a:solidFill>
          <a:schemeClr val="tx1"/>
        </a:solidFill>
        <a:latin typeface="+mn-lt"/>
        <a:ea typeface="+mn-ea"/>
        <a:cs typeface="+mn-cs"/>
      </a:defRPr>
    </a:lvl1pPr>
    <a:lvl2pPr marL="457040" algn="l" defTabSz="914080" rtl="0" eaLnBrk="1" latinLnBrk="0" hangingPunct="1">
      <a:defRPr sz="1200" kern="1200">
        <a:solidFill>
          <a:schemeClr val="tx1"/>
        </a:solidFill>
        <a:latin typeface="+mn-lt"/>
        <a:ea typeface="+mn-ea"/>
        <a:cs typeface="+mn-cs"/>
      </a:defRPr>
    </a:lvl2pPr>
    <a:lvl3pPr marL="914080" algn="l" defTabSz="914080" rtl="0" eaLnBrk="1" latinLnBrk="0" hangingPunct="1">
      <a:defRPr sz="1200" kern="1200">
        <a:solidFill>
          <a:schemeClr val="tx1"/>
        </a:solidFill>
        <a:latin typeface="+mn-lt"/>
        <a:ea typeface="+mn-ea"/>
        <a:cs typeface="+mn-cs"/>
      </a:defRPr>
    </a:lvl3pPr>
    <a:lvl4pPr marL="1371120" algn="l" defTabSz="914080" rtl="0" eaLnBrk="1" latinLnBrk="0" hangingPunct="1">
      <a:defRPr sz="1200" kern="1200">
        <a:solidFill>
          <a:schemeClr val="tx1"/>
        </a:solidFill>
        <a:latin typeface="+mn-lt"/>
        <a:ea typeface="+mn-ea"/>
        <a:cs typeface="+mn-cs"/>
      </a:defRPr>
    </a:lvl4pPr>
    <a:lvl5pPr marL="1828160" algn="l" defTabSz="914080" rtl="0" eaLnBrk="1" latinLnBrk="0" hangingPunct="1">
      <a:defRPr sz="1200" kern="1200">
        <a:solidFill>
          <a:schemeClr val="tx1"/>
        </a:solidFill>
        <a:latin typeface="+mn-lt"/>
        <a:ea typeface="+mn-ea"/>
        <a:cs typeface="+mn-cs"/>
      </a:defRPr>
    </a:lvl5pPr>
    <a:lvl6pPr marL="2285200" algn="l" defTabSz="914080" rtl="0" eaLnBrk="1" latinLnBrk="0" hangingPunct="1">
      <a:defRPr sz="1200" kern="1200">
        <a:solidFill>
          <a:schemeClr val="tx1"/>
        </a:solidFill>
        <a:latin typeface="+mn-lt"/>
        <a:ea typeface="+mn-ea"/>
        <a:cs typeface="+mn-cs"/>
      </a:defRPr>
    </a:lvl6pPr>
    <a:lvl7pPr marL="2742240" algn="l" defTabSz="914080" rtl="0" eaLnBrk="1" latinLnBrk="0" hangingPunct="1">
      <a:defRPr sz="1200" kern="1200">
        <a:solidFill>
          <a:schemeClr val="tx1"/>
        </a:solidFill>
        <a:latin typeface="+mn-lt"/>
        <a:ea typeface="+mn-ea"/>
        <a:cs typeface="+mn-cs"/>
      </a:defRPr>
    </a:lvl7pPr>
    <a:lvl8pPr marL="3199280" algn="l" defTabSz="914080" rtl="0" eaLnBrk="1" latinLnBrk="0" hangingPunct="1">
      <a:defRPr sz="1200" kern="1200">
        <a:solidFill>
          <a:schemeClr val="tx1"/>
        </a:solidFill>
        <a:latin typeface="+mn-lt"/>
        <a:ea typeface="+mn-ea"/>
        <a:cs typeface="+mn-cs"/>
      </a:defRPr>
    </a:lvl8pPr>
    <a:lvl9pPr marL="3656320" algn="l" defTabSz="91408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0:00–0:01 · Slide 1 of 14 · Welcome</a:t>
            </a:r>
          </a:p>
          <a:p/>
          <a:p>
            <a:r>
              <a:rPr b="1"/>
              <a:t>SAY:</a:t>
            </a:r>
            <a:r>
              <a:t> Welcome! I'm Ari LiVigni, Sr. Learning Advocate and Agentic AI Engineer at GitHub. In the next 60 minutes we'll turn one small idea into a self-paced, hands-on GitHub Skills exercise, using the GitHub Copilot app and the gh-skills-builder plugin.</a:t>
            </a:r>
          </a:p>
          <a:p/>
          <a:p>
            <a:r>
              <a:rPr b="1"/>
              <a:t>SAY:</a:t>
            </a:r>
            <a:r>
              <a:t> The exercise's working title is Copilot app Cleared for Takeoff: a 15–20-minute Copilot quick-start inside Tailspin Toys, with three graded steps. Most of this session is live. The slides set the stage, then we build it in the Copilot app and see all four builder phases: outline, bootstrap, review, and publish.</a:t>
            </a:r>
          </a:p>
          <a:p/>
          <a:p>
            <a:r>
              <a:rPr b="1"/>
              <a:t>DO:</a:t>
            </a:r>
            <a:r>
              <a:t> Before you start talking, have the Copilot app open with a new quick chat ready (Interactive, Auto → Intelligence) and the rehearsal project already added as a fallback.</a:t>
            </a:r>
          </a:p>
          <a:p/>
          <a:p>
            <a:r>
              <a:rPr b="1"/>
              <a:t>CLOCK:</a:t>
            </a:r>
            <a:r>
              <a:t> Move to slide 2 within the first minute.</a:t>
            </a:r>
          </a:p>
        </p:txBody>
      </p:sp>
      <p:sp>
        <p:nvSpPr>
          <p:cNvPr id="4" name="Slide Number Placeholder 3"/>
          <p:cNvSpPr>
            <a:spLocks noGrp="1"/>
          </p:cNvSpPr>
          <p:nvPr>
            <p:ph type="sldNum" sz="quarter" idx="5"/>
          </p:nvPr>
        </p:nvSpPr>
        <p:spPr/>
        <p:txBody>
          <a:bodyPr/>
          <a:lstStyle/>
          <a:p>
            <a:pPr marL="0" marR="0" lvl="0" indent="0" algn="r" defTabSz="914080" rtl="0" eaLnBrk="1" fontAlgn="auto" latinLnBrk="0" hangingPunct="1">
              <a:lnSpc>
                <a:spcPct val="100000"/>
              </a:lnSpc>
              <a:spcBef>
                <a:spcPts val="0"/>
              </a:spcBef>
              <a:spcAft>
                <a:spcPts val="0"/>
              </a:spcAft>
              <a:buClrTx/>
              <a:buSzTx/>
              <a:buFontTx/>
              <a:buNone/>
              <a:tabLst/>
              <a:defRPr/>
            </a:pPr>
            <a:fld id="{625C53A8-59A0-4A49-BAB4-A832A26A8E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08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007246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0:00–0:01 · Slide 2 of 14 · Our 60-minute flight plan</a:t>
            </a:r>
          </a:p>
          <a:p/>
          <a:p>
            <a:r>
              <a:rPr b="1"/>
              <a:t>SAY:</a:t>
            </a:r>
            <a:r>
              <a:t> Here's our flight plan. Six minutes to get oriented. Then we outline the exercise and hand it off to a private repo, bootstrap it into real files, review it, and get it ready to publish. We recap by 0:45, and Q&amp;A starts by 0:50.</a:t>
            </a:r>
          </a:p>
          <a:p/>
          <a:p>
            <a:r>
              <a:rPr b="1"/>
              <a:t>SAY:</a:t>
            </a:r>
            <a:r>
              <a:t> It's mostly live, so I saved a checkpoint for every phase. If something runs slow, I'll switch to the checkpoint and tell you. You'll still see every step.</a:t>
            </a:r>
          </a:p>
          <a:p/>
          <a:p>
            <a:r>
              <a:rPr b="1"/>
              <a:t>DO:</a:t>
            </a:r>
            <a:r>
              <a:t> Nothing to paste. Point at each row as you name it; don't read the times aloud.</a:t>
            </a:r>
          </a:p>
          <a:p/>
          <a:p>
            <a:r>
              <a:rPr b="1"/>
              <a:t>CLOCK:</a:t>
            </a:r>
            <a:r>
              <a:t> Budget: orientation 0:00–0:06, outline 0:06–0:12, hand-off 0:12–0:16, bootstrap 0:16–0:27, review 0:27–0:35, publish readiness 0:35–0:41, recap 0:41–0:45, flex buffer 0:45–0:50, protected Q&amp;A 0:50–1:00.</a:t>
            </a:r>
          </a:p>
          <a:p/>
          <a:p>
            <a:r>
              <a:rPr b="1"/>
              <a:t>CLOCK:</a:t>
            </a:r>
            <a:r>
              <a:t> Hard stops: saved outline at 0:12, rehearsal 00-idea at 0:16, 02-bootstrapped at 0:19, saved review at 0:30, no more fix rounds at 0:35, saved readiness at 0:38. If the buffer isn't needed, open Q&amp;A at 0:45.</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0:01–0:03 · Slide 3 of 14 · What is a plugin?</a:t>
            </a:r>
          </a:p>
          <a:p/>
          <a:p>
            <a:r>
              <a:rPr b="1"/>
              <a:t>SAY:</a:t>
            </a:r>
            <a:r>
              <a:t> A plugin is an installable toolkit that adds reusable capabilities to GitHub Copilot. Instead of copying prompts and customization files from repo to repo, you install a bundle once and reuse it.</a:t>
            </a:r>
          </a:p>
          <a:p/>
          <a:p>
            <a:r>
              <a:rPr b="1"/>
              <a:t>SAY:</a:t>
            </a:r>
            <a:r>
              <a:t> gh-skills-builder bundles one agent and five skills. The agent, @github-skills-orchestrator, coordinates the work and asks for your approval. The skills are reusable workflows the agent loads for each job: outline, bootstrap, review, publish, and one that runs the whole loop.</a:t>
            </a:r>
          </a:p>
          <a:p/>
          <a:p>
            <a:r>
              <a:rPr b="1"/>
              <a:t>SAY:</a:t>
            </a:r>
            <a:r>
              <a:t> Two things a plugin is not. It's not a separate AI model; it customizes the Copilot you already use. And skills guide the agent's behavior; they don't guarantee correctness or replace your approvals.</a:t>
            </a:r>
          </a:p>
          <a:p/>
          <a:p>
            <a:r>
              <a:rPr b="1"/>
              <a:t>DO:</a:t>
            </a:r>
            <a:r>
              <a:t> Nothing to paste. Point at the agent, then at the skills.</a:t>
            </a:r>
          </a:p>
          <a:p/>
          <a:p>
            <a:r>
              <a:rPr b="1"/>
              <a:t>CLOCK:</a:t>
            </a:r>
            <a:r>
              <a:t> Slides 3 and 4 together end by 0:03.</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0:01–0:03 · Slide 4 of 14 · Add the toolkit. Start building.</a:t>
            </a:r>
          </a:p>
          <a:p/>
          <a:p>
            <a:r>
              <a:rPr b="1"/>
              <a:t>SAY:</a:t>
            </a:r>
            <a:r>
              <a:t> gh-skills-builder is in the Awesome Copilot marketplace. Find it, review it, install it, and use it. The QR opens the plugin's listing; it doesn't install anything by itself.</a:t>
            </a:r>
          </a:p>
          <a:p/>
          <a:p>
            <a:r>
              <a:rPr b="1"/>
              <a:t>SAY:</a:t>
            </a:r>
            <a:r>
              <a:t> Always review an external plugin's source before you install it.</a:t>
            </a:r>
          </a:p>
          <a:p/>
          <a:p>
            <a:r>
              <a:rPr b="1"/>
              <a:t>DO:</a:t>
            </a:r>
            <a:r>
              <a:t> Optional: 60 seconds at most, or skip it and leave the QR up. In the Copilot app, open Plugins, find gh-skills-builder, review it, then install and enable it for this session. Or use the CLI:</a:t>
            </a:r>
          </a:p>
          <a:p/>
          <a:p>
            <a:r>
              <a:rPr>
                <a:latin typeface="Courier New"/>
              </a:rPr>
              <a:t>copilot plugin install gh-skills-builder@awesome-copilot</a:t>
            </a:r>
          </a:p>
          <a:p/>
          <a:p>
            <a:r>
              <a:rPr b="1"/>
              <a:t>DO:</a:t>
            </a:r>
            <a:r>
              <a:t> If the CLI says the marketplace is unknown, register it once, then rerun the install:</a:t>
            </a:r>
          </a:p>
          <a:p/>
          <a:p>
            <a:r>
              <a:rPr>
                <a:latin typeface="Courier New"/>
              </a:rPr>
              <a:t>copilot plugin marketplace add github/awesome-copilot</a:t>
            </a:r>
          </a:p>
          <a:p/>
          <a:p>
            <a:r>
              <a:rPr b="1"/>
              <a:t>DO:</a:t>
            </a:r>
            <a:r>
              <a:t> Confirm the install:</a:t>
            </a:r>
          </a:p>
          <a:p/>
          <a:p>
            <a:r>
              <a:rPr>
                <a:latin typeface="Courier New"/>
              </a:rPr>
              <a:t>copilot plugin list</a:t>
            </a:r>
          </a:p>
          <a:p/>
          <a:p>
            <a:r>
              <a:rPr b="1"/>
              <a:t>CLOCK:</a:t>
            </a:r>
            <a:r>
              <a:t> Leave slide 4 by 0:03. Help attendees with installation after the session, not during it.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0:03–0:04 · Slide 5 of 14 · Today's scenario: Tailspin Toys</a:t>
            </a:r>
          </a:p>
          <a:p/>
          <a:p>
            <a:r>
              <a:rPr b="1"/>
              <a:t>SAY:</a:t>
            </a:r>
            <a:r>
              <a:t> Here's what we'll build: Copilot app Cleared for Takeoff, a 15–20-minute Copilot quick-start inside Tailspin Toys. Tailspin is a real, MIT-licensed sample app. Here it's starter code, not a feature to build.</a:t>
            </a:r>
          </a:p>
          <a:p/>
          <a:p>
            <a:r>
              <a:rPr b="1"/>
              <a:t>SAY:</a:t>
            </a:r>
            <a:r>
              <a:t> The learner practices three habits, one graded step each. First, add a TSDoc convention to the repository instructions. Second, give the existing quality-checks skill a consistent, evidence-based report format. Third, create a report-only QA agent.</a:t>
            </a:r>
          </a:p>
          <a:p/>
          <a:p>
            <a:r>
              <a:rPr b="1"/>
              <a:t>SAY:</a:t>
            </a:r>
            <a:r>
              <a:t> We're building the learning journey, not coding a Tailspin feature. No filtering, no npm install, no database, no browser tooling.</a:t>
            </a:r>
          </a:p>
          <a:p/>
          <a:p>
            <a:r>
              <a:rPr b="1"/>
              <a:t>SAY:</a:t>
            </a:r>
            <a:r>
              <a:t> Working title: Copilot app Cleared for Takeoff. That's the title I rehearsed. In a minute the agent proposes a title and three repository names, and you get to vote on the exercise's identity. If we can't decide in 30 seconds, we keep this one.</a:t>
            </a:r>
          </a:p>
          <a:p/>
          <a:p>
            <a:r>
              <a:rPr b="1"/>
              <a:t>DO:</a:t>
            </a:r>
            <a:r>
              <a:t> Nothing to paste. Point at the three habits, then at the working title line.</a:t>
            </a:r>
          </a:p>
          <a:p/>
          <a:p>
            <a:r>
              <a:rPr b="1"/>
              <a:t>CLOCK:</a:t>
            </a:r>
            <a:r>
              <a:t> Move on by 0:04.</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0:04–0:05 · Slide 6 of 14 · From builder to architect</a:t>
            </a:r>
          </a:p>
          <a:p/>
          <a:p>
            <a:r>
              <a:rPr b="1"/>
              <a:t>SAY:</a:t>
            </a:r>
            <a:r>
              <a:t> Quick show of hands: who teaches, onboards contributors, runs events, or trains teams? Keep it to 10 seconds, and skip it if you're behind.</a:t>
            </a:r>
          </a:p>
          <a:p/>
          <a:p>
            <a:r>
              <a:rPr b="1"/>
              <a:t>SAY:</a:t>
            </a:r>
            <a:r>
              <a:t> Whichever you are, the pattern is the same. The agent does the heavy lifting: it drafts the step content, scaffolds the repository files, and wires up validation and feedback. You keep the human decisions: you set the learner outcomes, approve the outline and the fixes, and authorize publication.</a:t>
            </a:r>
          </a:p>
          <a:p/>
          <a:p>
            <a:r>
              <a:rPr b="1"/>
              <a:t>SAY:</a:t>
            </a:r>
            <a:r>
              <a:t> Your role shifts from builder to architect and reviewer, but you're still responsible for the result. Today's learner is a new Tailspin teammate, learning the team's Copilot conventions.</a:t>
            </a:r>
          </a:p>
          <a:p/>
          <a:p>
            <a:r>
              <a:rPr b="1"/>
              <a:t>DO:</a:t>
            </a:r>
            <a:r>
              <a:t> Nothing to paste. Raise your own hand to prompt the room.</a:t>
            </a:r>
          </a:p>
          <a:p/>
          <a:p>
            <a:r>
              <a:rPr b="1"/>
              <a:t>CLOCK:</a:t>
            </a:r>
            <a:r>
              <a:t> Move on by 0:05.</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0:05–0:06 · Slide 7 of 14 · One agent. Five skills.</a:t>
            </a:r>
          </a:p>
          <a:p/>
          <a:p>
            <a:r>
              <a:rPr b="1"/>
              <a:t>SAY:</a:t>
            </a:r>
            <a:r>
              <a:t> One agent, five skills. Four of the skills each own one phase: outline, bootstrap, review, and publish. The fifth, orchestrate, runs those four in order and stops at every approval.</a:t>
            </a:r>
          </a:p>
          <a:p/>
          <a:p>
            <a:r>
              <a:rPr b="1"/>
              <a:t>SAY:</a:t>
            </a:r>
            <a:r>
              <a:t> Skills are workflows the agent loads, not five more agents. You choose @github-skills-orchestrator, then either call one phase skill with its slash command, or let the orchestrate skill run the whole loop.</a:t>
            </a:r>
          </a:p>
          <a:p/>
          <a:p>
            <a:r>
              <a:rPr b="1"/>
              <a:t>SAY:</a:t>
            </a:r>
            <a:r>
              <a:t> Today I'll call the four phase skills one at a time, so you can see each phase. At the end I'll show the orchestrate prompt without running it.</a:t>
            </a:r>
          </a:p>
          <a:p/>
          <a:p>
            <a:r>
              <a:rPr b="1"/>
              <a:t>DO:</a:t>
            </a:r>
            <a:r>
              <a:t> Nothing to paste. Point at the agent, then the four phase skills, then orchestrate.</a:t>
            </a:r>
          </a:p>
          <a:p/>
          <a:p>
            <a:r>
              <a:rPr b="1"/>
              <a:t>CLOCK:</a:t>
            </a:r>
            <a:r>
              <a:t> Slides 7 and 8 together end by 0:06.</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0:05–0:06 · Slide 8 of 14 · From idea to exercise.</a:t>
            </a:r>
          </a:p>
          <a:p/>
          <a:p>
            <a:r>
              <a:rPr b="1"/>
              <a:t>SAY:</a:t>
            </a:r>
            <a:r>
              <a:t> Four phases, each ending at a human gate. Gate 1: approve the outline before anything is generated. Gate 2: accept the build before it's reviewed. Gate 3: after the review, choose fixes or sign off. And actually publishing needs its own, separate authorization.</a:t>
            </a:r>
          </a:p>
          <a:p/>
          <a:p>
            <a:r>
              <a:rPr b="1"/>
              <a:t>SAY:</a:t>
            </a:r>
            <a:r>
              <a:t> These gates are instructions the agent follows, not a permission system. That's why I'll say every approval out loud and check what the agent did.</a:t>
            </a:r>
          </a:p>
          <a:p/>
          <a:p>
            <a:r>
              <a:rPr b="1"/>
              <a:t>DO:</a:t>
            </a:r>
            <a:r>
              <a:t> Nothing to paste. Advance to slide 9. We start with only an idea, in a quick chat: no repo yet.</a:t>
            </a:r>
          </a:p>
          <a:p/>
          <a:p>
            <a:r>
              <a:rPr b="1"/>
              <a:t>CLOCK:</a:t>
            </a:r>
            <a:r>
              <a:t> It's minute 6. Start Prompt 1 by 0:06.</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0:06–0:12 · Slide 9 of 14 · Outline: decide what success looks like</a:t>
            </a:r>
          </a:p>
          <a:p/>
          <a:p>
            <a:r>
              <a:rPr b="1"/>
              <a:t>SAY:</a:t>
            </a:r>
            <a:r>
              <a:t> Phase I is the outline. We start with only an idea and decide three things: the outcome, the exercise's identity, meaning its title and repository name, and, for every graded step, what a workflow can actually check.</a:t>
            </a:r>
          </a:p>
          <a:p/>
          <a:p>
            <a:r>
              <a:rPr b="1"/>
              <a:t>DO:</a:t>
            </a:r>
            <a:r>
              <a:t> </a:t>
            </a:r>
            <a:r>
              <a:rPr b="1"/>
              <a:t>SCREEN → Copilot app.</a:t>
            </a:r>
            <a:r>
              <a:t> New quick chat: Interactive, Auto → Intelligence. Paste Prompt 1:</a:t>
            </a:r>
          </a:p>
          <a:p/>
          <a:p>
            <a:r>
              <a:rPr>
                <a:latin typeface="Courier New"/>
              </a:rPr>
              <a:t>@github-skills-orchestrator Use /create-github-skills-outline to design a</a:t>
            </a:r>
          </a:p>
          <a:p>
            <a:r>
              <a:rPr>
                <a:latin typeface="Courier New"/>
              </a:rPr>
              <a:t>15–20-minute GitHub Skills exercise for a new Tailspin Toys teammate.</a:t>
            </a:r>
          </a:p>
          <a:p/>
          <a:p>
            <a:r>
              <a:rPr>
                <a:latin typeface="Courier New"/>
              </a:rPr>
              <a:t>Keep exactly three graded learner steps:</a:t>
            </a:r>
          </a:p>
          <a:p>
            <a:r>
              <a:rPr>
                <a:latin typeface="Courier New"/>
              </a:rPr>
              <a:t>1. Add a clearly delimited workshop section to .github/copilot-instructions.md</a:t>
            </a:r>
          </a:p>
          <a:p>
            <a:r>
              <a:rPr>
                <a:latin typeface="Courier New"/>
              </a:rPr>
              <a:t>   requiring TSDoc for new or changed exported TypeScript functions. Preserve</a:t>
            </a:r>
          </a:p>
          <a:p>
            <a:r>
              <a:rPr>
                <a:latin typeface="Courier New"/>
              </a:rPr>
              <a:t>   existing instructions.</a:t>
            </a:r>
          </a:p>
          <a:p>
            <a:r>
              <a:rPr>
                <a:latin typeface="Courier New"/>
              </a:rPr>
              <a:t>2. Customize .github/skills/quality-checks/SKILL.md so reports include</a:t>
            </a:r>
          </a:p>
          <a:p>
            <a:r>
              <a:rPr>
                <a:latin typeface="Courier New"/>
              </a:rPr>
              <a:t>   command, passed/failed/blocked status, evidence, and reasons for failed or</a:t>
            </a:r>
          </a:p>
          <a:p>
            <a:r>
              <a:rPr>
                <a:latin typeface="Courier New"/>
              </a:rPr>
              <a:t>   blocked checks. Preserve frontmatter. Never invent command results.</a:t>
            </a:r>
          </a:p>
          <a:p>
            <a:r>
              <a:rPr>
                <a:latin typeface="Courier New"/>
              </a:rPr>
              <a:t>3. Create .github/agents/qa.agent.md with name and description frontmatter. It</a:t>
            </a:r>
          </a:p>
          <a:p>
            <a:r>
              <a:rPr>
                <a:latin typeface="Courier New"/>
              </a:rPr>
              <a:t>   reports requirements with evidence, asks before implementation changes, and</a:t>
            </a:r>
          </a:p>
          <a:p>
            <a:r>
              <a:rPr>
                <a:latin typeface="Courier New"/>
              </a:rPr>
              <a:t>   never commits or opens PRs.</a:t>
            </a:r>
          </a:p>
          <a:p/>
          <a:p>
            <a:r>
              <a:rPr>
                <a:latin typeface="Courier New"/>
              </a:rPr>
              <a:t>For each step include a short Theory block, one Activity, success criteria, a</a:t>
            </a:r>
          </a:p>
          <a:p>
            <a:r>
              <a:rPr>
                <a:latin typeface="Courier New"/>
              </a:rPr>
              <a:t>repository-observable validation signal, and useful failure feedback. Validate</a:t>
            </a:r>
          </a:p>
          <a:p>
            <a:r>
              <a:rPr>
                <a:latin typeface="Courier New"/>
              </a:rPr>
              <a:t>the content of learner artifacts, not just file existence. Do not claim</a:t>
            </a:r>
          </a:p>
          <a:p>
            <a:r>
              <a:rPr>
                <a:latin typeface="Courier New"/>
              </a:rPr>
              <a:t>Actions can prove which local app mode or agent was used.</a:t>
            </a:r>
          </a:p>
          <a:p/>
          <a:p>
            <a:r>
              <a:rPr>
                <a:latin typeface="Courier New"/>
              </a:rPr>
              <a:t>This is a small slice of the Dev Days Copilot app scenario, not a conversion</a:t>
            </a:r>
          </a:p>
          <a:p>
            <a:r>
              <a:rPr>
                <a:latin typeface="Courier New"/>
              </a:rPr>
              <a:t>of the full lab. Do not add filtering, application changes, dependency</a:t>
            </a:r>
          </a:p>
          <a:p>
            <a:r>
              <a:rPr>
                <a:latin typeface="Courier New"/>
              </a:rPr>
              <a:t>installation, database setup, browser tests, feature PR/merge requirements, or</a:t>
            </a:r>
          </a:p>
          <a:p>
            <a:r>
              <a:rPr>
                <a:latin typeface="Courier New"/>
              </a:rPr>
              <a:t>extra graded steps. Mention Agent Merge, MCP, and canvases only as optional</a:t>
            </a:r>
          </a:p>
          <a:p>
            <a:r>
              <a:rPr>
                <a:latin typeface="Courier New"/>
              </a:rPr>
              <a:t>next steps.</a:t>
            </a:r>
          </a:p>
          <a:p/>
          <a:p>
            <a:r>
              <a:rPr>
                <a:latin typeface="Courier New"/>
              </a:rPr>
              <a:t>Propose a title and three lowercase-hyphenated repository names containing</a:t>
            </a:r>
          </a:p>
          <a:p>
            <a:r>
              <a:rPr>
                <a:latin typeface="Courier New"/>
              </a:rPr>
              <a:t>copilot-app, without a skills- prefix. Recommend one.</a:t>
            </a:r>
          </a:p>
          <a:p/>
          <a:p>
            <a:r>
              <a:rPr>
                <a:latin typeface="Courier New"/>
              </a:rPr>
              <a:t>We are in a quick chat with no repository. After I approve the identity and</a:t>
            </a:r>
          </a:p>
          <a:p>
            <a:r>
              <a:rPr>
                <a:latin typeface="Courier New"/>
              </a:rPr>
              <a:t>outline, return the complete standalone exercise-outline.md content in one</a:t>
            </a:r>
          </a:p>
          <a:p>
            <a:r>
              <a:rPr>
                <a:latin typeface="Courier New"/>
              </a:rPr>
              <a:t>Markdown code block. Start with # &lt;approved title&gt;, then Repository name:</a:t>
            </a:r>
          </a:p>
          <a:p>
            <a:r>
              <a:rPr>
                <a:latin typeface="Courier New"/>
              </a:rPr>
              <a:t>&lt;approved name&gt;, then Learner copy: skills-&lt;approved name&gt;. Do not claim a</a:t>
            </a:r>
          </a:p>
          <a:p>
            <a:r>
              <a:rPr>
                <a:latin typeface="Courier New"/>
              </a:rPr>
              <a:t>file has been saved.</a:t>
            </a:r>
          </a:p>
          <a:p/>
          <a:p>
            <a:r>
              <a:rPr b="1"/>
              <a:t>SAY:</a:t>
            </a:r>
            <a:r>
              <a:t> While it generates: every step gets a short Theory block, one Activity, success criteria, a validation signal the repository can observe, and useful feedback for when the learner gets it wrong.</a:t>
            </a:r>
          </a:p>
          <a:p/>
          <a:p>
            <a:r>
              <a:rPr b="1"/>
              <a:t>SAY:</a:t>
            </a:r>
            <a:r>
              <a:t> Ask the room: what would prove the learner changed the reporting contract, rather than merely created a file? A file-exists check isn't evidence. The check has to read what the learner wrote.</a:t>
            </a:r>
          </a:p>
          <a:p/>
          <a:p>
            <a:r>
              <a:rPr b="1"/>
              <a:t>SAY:</a:t>
            </a:r>
            <a:r>
              <a:t> And be honest about the limits. Actions can check what the learner wrote. It can't see which app mode or agent they used, and it can't prove how the model will behave later.</a:t>
            </a:r>
          </a:p>
          <a:p/>
          <a:p>
            <a:r>
              <a:rPr b="1"/>
              <a:t>DO:</a:t>
            </a:r>
            <a:r>
              <a:t> Read the proposed title and three repository-name candidates aloud and take a vote: 30 seconds at most. If the room can't decide, keep the rehearsed default. Send Gate 1 once. If the room chose a different title or name, edit both in the message first:</a:t>
            </a:r>
          </a:p>
          <a:p/>
          <a:p>
            <a:r>
              <a:rPr>
                <a:latin typeface="Courier New"/>
              </a:rPr>
              <a:t>Approved. Use "Copilot app Cleared for Takeoff" and repository name</a:t>
            </a:r>
          </a:p>
          <a:p>
            <a:r>
              <a:rPr>
                <a:latin typeface="Courier New"/>
              </a:rPr>
              <a:t>copilot-app-cleared-for-takeoff. Keep exactly the three approved learner</a:t>
            </a:r>
          </a:p>
          <a:p>
            <a:r>
              <a:rPr>
                <a:latin typeface="Courier New"/>
              </a:rPr>
              <a:t>steps. Return the complete outline artifact in one Markdown code block,</a:t>
            </a:r>
          </a:p>
          <a:p>
            <a:r>
              <a:rPr>
                <a:latin typeface="Courier New"/>
              </a:rPr>
              <a:t>including the title, Repository name, and Learner copy header. Do not create a</a:t>
            </a:r>
          </a:p>
          <a:p>
            <a:r>
              <a:rPr>
                <a:latin typeface="Courier New"/>
              </a:rPr>
              <a:t>repository or claim to have saved a file.</a:t>
            </a:r>
          </a:p>
          <a:p/>
          <a:p>
            <a:r>
              <a:rPr b="1"/>
              <a:t>SAY:</a:t>
            </a:r>
            <a:r>
              <a:t> Gate 1 approves the idea and the name. It creates nothing: no repo, no files.</a:t>
            </a:r>
          </a:p>
          <a:p/>
          <a:p>
            <a:r>
              <a:rPr b="1"/>
              <a:t>DO:</a:t>
            </a:r>
            <a:r>
              <a:t> Check that the returned block starts with the approved title, then Repository name:, then Learner copy:. Copy the whole block. It isn't saved anywhere yet; you'll paste it into the project session.</a:t>
            </a:r>
          </a:p>
          <a:p/>
          <a:p>
            <a:r>
              <a:rPr b="1"/>
              <a:t>CLOCK:</a:t>
            </a:r>
            <a:r>
              <a:t> Hard stop 0:12. If the outline isn't finished, open the saved fallback/exercise-outline.md, say it's from rehearsal, and match its identity header to the target repo. Don't spend the workshop waiting for the outline.</a:t>
            </a:r>
          </a:p>
          <a:p/>
          <a:p>
            <a:r>
              <a:rPr b="1"/>
              <a:t>0:12–0:16 · Still slide 9 · Hand-off Authorization</a:t>
            </a:r>
          </a:p>
          <a:p/>
          <a:p>
            <a:r>
              <a:rPr b="1"/>
              <a:t>SAY:</a:t>
            </a:r>
            <a:r>
              <a:t> Gate 1 approved the idea and created nothing. Now I give a separate approval, the Hand-off Authorization. It lets the agent run one existing script, once, to create one private authoring repo. Publishing a public template is a different gate, much later.</a:t>
            </a:r>
          </a:p>
          <a:p/>
          <a:p>
            <a:r>
              <a:rPr b="1"/>
              <a:t>DO:</a:t>
            </a:r>
            <a:r>
              <a:t> </a:t>
            </a:r>
            <a:r>
              <a:rPr b="1"/>
              <a:t>STAY on slide 9; the screen stays on the Copilot app.</a:t>
            </a:r>
            <a:r>
              <a:t> In the same quick chat, replace &lt;workshop-repo&gt; with the absolute path of your clone of this workshop repo (a quick chat has no working directory), &lt;you&gt; with the demo owner, and the repository name if the room chose another. Then send:</a:t>
            </a:r>
          </a:p>
          <a:p/>
          <a:p>
            <a:r>
              <a:rPr>
                <a:latin typeface="Courier New"/>
              </a:rPr>
              <a:t>Hand-off Authorization: I authorize running this existing workshop script once</a:t>
            </a:r>
          </a:p>
          <a:p>
            <a:r>
              <a:rPr>
                <a:latin typeface="Courier New"/>
              </a:rPr>
              <a:t>to create my private authoring repository, import the Tailspin starter code,</a:t>
            </a:r>
          </a:p>
          <a:p>
            <a:r>
              <a:rPr>
                <a:latin typeface="Courier New"/>
              </a:rPr>
              <a:t>commit, and push. This is not permission to publish a public template or run</a:t>
            </a:r>
          </a:p>
          <a:p>
            <a:r>
              <a:rPr>
                <a:latin typeface="Courier New"/>
              </a:rPr>
              <a:t>the exercise lifecycle.</a:t>
            </a:r>
          </a:p>
          <a:p/>
          <a:p>
            <a:r>
              <a:rPr>
                <a:latin typeface="Courier New"/>
              </a:rPr>
              <a:t>&lt;workshop-repo&gt;/handoff.sh &lt;you&gt; copilot-app-cleared-for-takeoff</a:t>
            </a:r>
          </a:p>
          <a:p/>
          <a:p>
            <a:r>
              <a:rPr>
                <a:latin typeface="Courier New"/>
              </a:rPr>
              <a:t>Show the output and local folder path. Do not create other repositories or</a:t>
            </a:r>
          </a:p>
          <a:p>
            <a:r>
              <a:rPr>
                <a:latin typeface="Courier New"/>
              </a:rPr>
              <a:t>files beyond the script's work.</a:t>
            </a:r>
          </a:p>
          <a:p/>
          <a:p>
            <a:r>
              <a:rPr b="1"/>
              <a:t>DO:</a:t>
            </a:r>
            <a:r>
              <a:t> Inspect the command permission request, then approve it out loud. Not every configuration shows one.</a:t>
            </a:r>
          </a:p>
          <a:p/>
          <a:p>
            <a:r>
              <a:rPr b="1"/>
              <a:t>SAY:</a:t>
            </a:r>
            <a:r>
              <a:t> handoff.sh creates the private repo and imports Tailspin Toys as one MIT starter commit. It keeps the license and supporting files, and drops the upstream issue sources, the issue-seeding and triage workflows, and CODEOWNERS. So when a learner starts, Step 0 opens just one issue: the exercise instructions.</a:t>
            </a:r>
          </a:p>
          <a:p/>
          <a:p>
            <a:r>
              <a:rPr b="1"/>
              <a:t>DO:</a:t>
            </a:r>
            <a:r>
              <a:t> If the chat can't run commands, run the same authorized command in a terminal, with the same replacements:</a:t>
            </a:r>
          </a:p>
          <a:p/>
          <a:p>
            <a:r>
              <a:rPr>
                <a:latin typeface="Courier New"/>
              </a:rPr>
              <a:t>&lt;workshop-repo&gt;/handoff.sh &lt;you&gt; copilot-app-cleared-for-takeoff</a:t>
            </a:r>
          </a:p>
          <a:p/>
          <a:p>
            <a:r>
              <a:rPr b="1"/>
              <a:t>DO:</a:t>
            </a:r>
            <a:r>
              <a:t> If a run started, or you're not sure how it ended, check its output, the remote repo, and the local folder before you retry. Never run the script twice at once, never blindly repeat repo creation, and don't delete a partial repo.</a:t>
            </a:r>
          </a:p>
          <a:p/>
          <a:p>
            <a:r>
              <a:rPr b="1"/>
              <a:t>DO:</a:t>
            </a:r>
            <a:r>
              <a:t> In the Copilot app, choose Add project and pick the folder the script printed. Start a New session on main: Interactive, Auto → Balance.</a:t>
            </a:r>
          </a:p>
          <a:p/>
          <a:p>
            <a:r>
              <a:rPr b="1"/>
              <a:t>SAY:</a:t>
            </a:r>
            <a:r>
              <a:t> This new session can't see the quick chat, so I'll paste the whole outline into it.</a:t>
            </a:r>
          </a:p>
          <a:p/>
          <a:p>
            <a:r>
              <a:rPr b="1"/>
              <a:t>CLOCK:</a:t>
            </a:r>
            <a:r>
              <a:t> Hard stop 0:16. If the hand-off isn't done, switch to the pre-added rehearsal project at 00-idea, say it's a rehearsal fallback, and match the outline identity to that repo.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0:16–0:27 · Slide 10 of 14 · Bootstrap: make the outline runnable</a:t>
            </a:r>
          </a:p>
          <a:p/>
          <a:p>
            <a:r>
              <a:rPr b="1"/>
              <a:t>SAY:</a:t>
            </a:r>
            <a:r>
              <a:t> Phase II, bootstrap, turns the approved outline into a runnable exercise, right here in the private authoring repo. The learner gets a clear entry point with a Copy Exercise badge, issue-driven steps, and checks with useful feedback. Bootstrap doesn't create anything new on GitHub.</a:t>
            </a:r>
          </a:p>
          <a:p/>
          <a:p>
            <a:r>
              <a:rPr b="1"/>
              <a:t>DO:</a:t>
            </a:r>
            <a:r>
              <a:t> </a:t>
            </a:r>
            <a:r>
              <a:rPr b="1"/>
              <a:t>SCREEN → Copilot app,</a:t>
            </a:r>
            <a:r>
              <a:t> the new project session. Paste Prompt 2, replacing only &lt;paste the approved outline artifact&gt; with the whole outline block you copied:</a:t>
            </a:r>
          </a:p>
          <a:p/>
          <a:p>
            <a:r>
              <a:rPr>
                <a:latin typeface="Courier New"/>
              </a:rPr>
              <a:t>@github-skills-orchestrator Phase I is approved. Use</a:t>
            </a:r>
          </a:p>
          <a:p>
            <a:r>
              <a:rPr>
                <a:latin typeface="Courier New"/>
              </a:rPr>
              <a:t>/bootstrap-github-skills-exercise with this outline artifact:</a:t>
            </a:r>
          </a:p>
          <a:p/>
          <a:p>
            <a:r>
              <a:rPr>
                <a:latin typeface="Courier New"/>
              </a:rPr>
              <a:t>&lt;paste the approved outline artifact&gt;</a:t>
            </a:r>
          </a:p>
          <a:p/>
          <a:p>
            <a:r>
              <a:rPr>
                <a:latin typeface="Courier New"/>
              </a:rPr>
              <a:t>First save that artifact verbatim to .github/exercise-outline.md. Use its</a:t>
            </a:r>
          </a:p>
          <a:p>
            <a:r>
              <a:rPr>
                <a:latin typeface="Courier New"/>
              </a:rPr>
              <a:t>identity header for the README and Copy Exercise badge. Stop and ask if its</a:t>
            </a:r>
          </a:p>
          <a:p>
            <a:r>
              <a:rPr>
                <a:latin typeface="Courier New"/>
              </a:rPr>
              <a:t>repository name differs from this repo.</a:t>
            </a:r>
          </a:p>
          <a:p/>
          <a:p>
            <a:r>
              <a:rPr>
                <a:latin typeface="Courier New"/>
              </a:rPr>
              <a:t>Build exactly three graded steps plus the standard completion/review material.</a:t>
            </a:r>
          </a:p>
          <a:p>
            <a:r>
              <a:rPr>
                <a:latin typeface="Courier New"/>
              </a:rPr>
              <a:t>Preserve Tailspin's MIT LICENSE and credit github-samples/tailspin-toys in the</a:t>
            </a:r>
          </a:p>
          <a:p>
            <a:r>
              <a:rPr>
                <a:latin typeface="Courier New"/>
              </a:rPr>
              <a:t>README.</a:t>
            </a:r>
          </a:p>
          <a:p/>
          <a:p>
            <a:r>
              <a:rPr>
                <a:latin typeface="Courier New"/>
              </a:rPr>
              <a:t>Do not complete the learner tasks: leave the new TSDoc workshop section, the</a:t>
            </a:r>
          </a:p>
          <a:p>
            <a:r>
              <a:rPr>
                <a:latin typeface="Courier New"/>
              </a:rPr>
              <a:t>quality-reporting contract, and qa.agent.md for the learner to add. Inspect</a:t>
            </a:r>
          </a:p>
          <a:p>
            <a:r>
              <a:rPr>
                <a:latin typeface="Courier New"/>
              </a:rPr>
              <a:t>the existing starter files first so validation requires a meaningful learner</a:t>
            </a:r>
          </a:p>
          <a:p>
            <a:r>
              <a:rPr>
                <a:latin typeface="Courier New"/>
              </a:rPr>
              <a:t>change instead of passing the baseline.</a:t>
            </a:r>
          </a:p>
          <a:p/>
          <a:p>
            <a:r>
              <a:rPr>
                <a:latin typeface="Courier New"/>
              </a:rPr>
              <a:t>Step 0 opens the normal exercise instructions issue only; do not seed any</a:t>
            </a:r>
          </a:p>
          <a:p>
            <a:r>
              <a:rPr>
                <a:latin typeface="Courier New"/>
              </a:rPr>
              <a:t>other issues. Keep existing Tailspin workflows intact, but do not depend on</a:t>
            </a:r>
          </a:p>
          <a:p>
            <a:r>
              <a:rPr>
                <a:latin typeface="Courier New"/>
              </a:rPr>
              <a:t>their checks for exercise progression.</a:t>
            </a:r>
          </a:p>
          <a:p/>
          <a:p>
            <a:r>
              <a:rPr>
                <a:latin typeface="Courier New"/>
              </a:rPr>
              <a:t>Use lightweight artifact checks for all three steps. Do not run or require npm</a:t>
            </a:r>
          </a:p>
          <a:p>
            <a:r>
              <a:rPr>
                <a:latin typeface="Courier New"/>
              </a:rPr>
              <a:t>ci, app builds, database setup, Playwright, or application tests. Check</a:t>
            </a:r>
          </a:p>
          <a:p>
            <a:r>
              <a:rPr>
                <a:latin typeface="Courier New"/>
              </a:rPr>
              <a:t>frontmatter and required reporting/behavioral instructions with helpful</a:t>
            </a:r>
          </a:p>
          <a:p>
            <a:r>
              <a:rPr>
                <a:latin typeface="Courier New"/>
              </a:rPr>
              <a:t>failure feedback, not file-exists or arbitrary whole-file text matching alone.</a:t>
            </a:r>
          </a:p>
          <a:p/>
          <a:p>
            <a:r>
              <a:rPr>
                <a:latin typeface="Courier New"/>
              </a:rPr>
              <a:t>Follow the GitHub Skills workflow contract, use scoped permissions, and</a:t>
            </a:r>
          </a:p>
          <a:p>
            <a:r>
              <a:rPr>
                <a:latin typeface="Courier New"/>
              </a:rPr>
              <a:t>inspect workflow event/path interactions. Report what was actually validated</a:t>
            </a:r>
          </a:p>
          <a:p>
            <a:r>
              <a:rPr>
                <a:latin typeface="Courier New"/>
              </a:rPr>
              <a:t>and what remains untested. Do not publish or create another repository.</a:t>
            </a:r>
          </a:p>
          <a:p/>
          <a:p>
            <a:r>
              <a:rPr b="1"/>
              <a:t>DO:</a:t>
            </a:r>
            <a:r>
              <a:t> When .github/exercise-outline.md appears, show it: the agent's first action saves the outline word for word. Then show the README and Copy Exercise badge, the three step files, the completion material, and how the workflows chain.</a:t>
            </a:r>
          </a:p>
          <a:p/>
          <a:p>
            <a:r>
              <a:rPr b="1"/>
              <a:t>SAY:</a:t>
            </a:r>
            <a:r>
              <a:t> Notice the learner's work stays unsolved. If the agent did the learner's work, every check would pass before anyone started. The Tailspin MIT license and credit stay in place.</a:t>
            </a:r>
          </a:p>
          <a:p/>
          <a:p>
            <a:r>
              <a:rPr b="1"/>
              <a:t>CLOCK:</a:t>
            </a:r>
            <a:r>
              <a:t> Wait three minutes at most. Hard stop 0:19: if the build isn't ready to inspect, switch to the rehearsal project's 02-bootstrapped state and say: "This is the same small scope, built during rehearsal."</a:t>
            </a:r>
          </a:p>
          <a:p/>
          <a:p>
            <a:r>
              <a:rPr b="1"/>
              <a:t>DO:</a:t>
            </a:r>
            <a:r>
              <a:t> Show one fail-to-pass example for step 1, in a separate, disposable learner copy, never the authoring repo. First, the untouched starter fails with a message that says what to fix. Next, add the TSDoc workshop section. Then the check passes and the next step opens.</a:t>
            </a:r>
          </a:p>
          <a:p/>
          <a:p>
            <a:r>
              <a:rPr b="1"/>
              <a:t>SAY:</a:t>
            </a:r>
            <a:r>
              <a:t> That check reads what the learner wrote, which is much stronger than checking that a file exists. But it can't prove how Copilot will behave later.</a:t>
            </a:r>
          </a:p>
          <a:p/>
          <a:p>
            <a:r>
              <a:rPr b="1"/>
              <a:t>DO:</a:t>
            </a:r>
            <a:r>
              <a:t> If Actions is slow, use the rehearsed learner copy, the saved evidence in fallback/learner-validation.md, or a short clip, and say it's saved. Don't run the whole learner journey or install app dependencies live.</a:t>
            </a:r>
          </a:p>
          <a:p/>
          <a:p>
            <a:r>
              <a:rPr b="1"/>
              <a:t>DO:</a:t>
            </a:r>
            <a:r>
              <a:t> Gate 2, by 0:27. Accept the build only if its evidence supports acceptance:</a:t>
            </a:r>
          </a:p>
          <a:p/>
          <a:p>
            <a:r>
              <a:rPr>
                <a:latin typeface="Courier New"/>
              </a:rPr>
              <a:t>I accept this build round. Do not make more changes. I will send the</a:t>
            </a:r>
          </a:p>
          <a:p>
            <a:r>
              <a:rPr>
                <a:latin typeface="Courier New"/>
              </a:rPr>
              <a:t>report-only review request next.</a:t>
            </a:r>
          </a:p>
          <a:p/>
          <a:p>
            <a:r>
              <a:rPr b="1"/>
              <a:t>DO:</a:t>
            </a:r>
            <a:r>
              <a:t> If the build has unresolved failures, don't accept it or move it toward publication. Name the remaining problems and switch to the known-good rehearsal build.</a:t>
            </a:r>
          </a:p>
          <a:p/>
          <a:p>
            <a:r>
              <a:rPr b="1"/>
              <a:t>CLOCK:</a:t>
            </a:r>
            <a:r>
              <a:t> Send Gate 2 by 0:27, then go to slide 11.</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0:27–0:35 · Slide 11 of 14 · Feedback is a circuit.</a:t>
            </a:r>
          </a:p>
          <a:p/>
          <a:p>
            <a:r>
              <a:rPr b="1"/>
              <a:t>SAY:</a:t>
            </a:r>
            <a:r>
              <a:t> Phase III is review, and it's a loop: review, fix, review again. The review only reports; it changes nothing. Fixes happen only when I approve them, one at a time.</a:t>
            </a:r>
          </a:p>
          <a:p/>
          <a:p>
            <a:r>
              <a:rPr b="1"/>
              <a:t>SAY:</a:t>
            </a:r>
            <a:r>
              <a:t> Three questions matter. Does the untouched starter fail? Does correct learner work pass? And is the feedback clear and safe?</a:t>
            </a:r>
          </a:p>
          <a:p/>
          <a:p>
            <a:r>
              <a:rPr b="1"/>
              <a:t>DO:</a:t>
            </a:r>
            <a:r>
              <a:t> </a:t>
            </a:r>
            <a:r>
              <a:rPr b="1"/>
              <a:t>SCREEN → Copilot app,</a:t>
            </a:r>
            <a:r>
              <a:t> same project session, same settings. Paste Prompt 3:</a:t>
            </a:r>
          </a:p>
          <a:p/>
          <a:p>
            <a:r>
              <a:rPr>
                <a:latin typeface="Courier New"/>
              </a:rPr>
              <a:t>@github-skills-orchestrator Use /review-github-skills-exercise. Report</a:t>
            </a:r>
          </a:p>
          <a:p>
            <a:r>
              <a:rPr>
                <a:latin typeface="Courier New"/>
              </a:rPr>
              <a:t>findings without editing files.</a:t>
            </a:r>
          </a:p>
          <a:p/>
          <a:p>
            <a:r>
              <a:rPr>
                <a:latin typeface="Courier New"/>
              </a:rPr>
              <a:t>Check the approved three-step scope, learner clarity and accessibility,</a:t>
            </a:r>
          </a:p>
          <a:p>
            <a:r>
              <a:rPr>
                <a:latin typeface="Courier New"/>
              </a:rPr>
              <a:t>workflow safety, and validation reliability. In particular:</a:t>
            </a:r>
          </a:p>
          <a:p>
            <a:r>
              <a:rPr>
                <a:latin typeface="Courier New"/>
              </a:rPr>
              <a:t>- The untouched starter must not already pass the three learner checks.</a:t>
            </a:r>
          </a:p>
          <a:p>
            <a:r>
              <a:rPr>
                <a:latin typeface="Courier New"/>
              </a:rPr>
              <a:t>- Each correct learner artifact should pass; an incomplete or incorrect</a:t>
            </a:r>
          </a:p>
          <a:p>
            <a:r>
              <a:rPr>
                <a:latin typeface="Courier New"/>
              </a:rPr>
              <a:t>  artifact should fail with useful feedback. Inspect and, where feasible,</a:t>
            </a:r>
          </a:p>
          <a:p>
            <a:r>
              <a:rPr>
                <a:latin typeface="Courier New"/>
              </a:rPr>
              <a:t>  exercise those cases.</a:t>
            </a:r>
          </a:p>
          <a:p>
            <a:r>
              <a:rPr>
                <a:latin typeface="Courier New"/>
              </a:rPr>
              <a:t>- Step 0 must open only the exercise instructions issue and create no other</a:t>
            </a:r>
          </a:p>
          <a:p>
            <a:r>
              <a:rPr>
                <a:latin typeface="Courier New"/>
              </a:rPr>
              <a:t>  issues.</a:t>
            </a:r>
          </a:p>
          <a:p>
            <a:r>
              <a:rPr>
                <a:latin typeface="Courier New"/>
              </a:rPr>
              <a:t>- No grade should depend on npm, an app build, browser tooling, or proof that</a:t>
            </a:r>
          </a:p>
          <a:p>
            <a:r>
              <a:rPr>
                <a:latin typeface="Courier New"/>
              </a:rPr>
              <a:t>  the learner used a local Copilot mode.</a:t>
            </a:r>
          </a:p>
          <a:p>
            <a:r>
              <a:rPr>
                <a:latin typeface="Courier New"/>
              </a:rPr>
              <a:t>- Repository-observable checks of written policies must not be described as</a:t>
            </a:r>
          </a:p>
          <a:p>
            <a:r>
              <a:rPr>
                <a:latin typeface="Courier New"/>
              </a:rPr>
              <a:t>  proof of model behavior.</a:t>
            </a:r>
          </a:p>
          <a:p/>
          <a:p>
            <a:r>
              <a:rPr>
                <a:latin typeface="Courier New"/>
              </a:rPr>
              <a:t>Prioritize actual release blockers and include evidence and untested risks. If</a:t>
            </a:r>
          </a:p>
          <a:p>
            <a:r>
              <a:rPr>
                <a:latin typeface="Courier New"/>
              </a:rPr>
              <a:t>no findings are supported, say so; do not invent a finding for the demo.</a:t>
            </a:r>
          </a:p>
          <a:p/>
          <a:p>
            <a:r>
              <a:rPr b="1"/>
              <a:t>CLOCK:</a:t>
            </a:r>
            <a:r>
              <a:t> Hard stop 0:30. If the live review isn't finished, use the saved review in fallback/review-findings.md.</a:t>
            </a:r>
          </a:p>
          <a:p/>
          <a:p>
            <a:r>
              <a:rPr b="1"/>
              <a:t>DO:</a:t>
            </a:r>
            <a:r>
              <a:t> Prompt 3a is an optional visual pass within the same review time box. It previews the exercise content, not the Tailspin app, and does not replace workflow checks or fresh-copy testing. Skip it if time is tight:</a:t>
            </a:r>
          </a:p>
          <a:p/>
          <a:p>
            <a:r>
              <a:rPr>
                <a:latin typeface="Courier New"/>
              </a:rPr>
              <a:t>Show the current exercise README.md and all .github/steps/*.md files in a</a:t>
            </a:r>
          </a:p>
          <a:p>
            <a:r>
              <a:rPr>
                <a:latin typeface="Courier New"/>
              </a:rPr>
              <a:t>browser canvas for a read-only learner-experience review.</a:t>
            </a:r>
          </a:p>
          <a:p/>
          <a:p>
            <a:r>
              <a:rPr>
                <a:latin typeface="Courier New"/>
              </a:rPr>
              <a:t>Render the full Markdown, not summaries or source code. Put the README first,</a:t>
            </a:r>
          </a:p>
          <a:p>
            <a:r>
              <a:rPr>
                <a:latin typeface="Courier New"/>
              </a:rPr>
              <a:t>then every numbered step in numeric order, then x-review.md. Include any</a:t>
            </a:r>
          </a:p>
          <a:p>
            <a:r>
              <a:rPr>
                <a:latin typeface="Courier New"/>
              </a:rPr>
              <a:t>other step Markdown files in the navigation. Label each page with its source</a:t>
            </a:r>
          </a:p>
          <a:p>
            <a:r>
              <a:rPr>
                <a:latin typeface="Courier New"/>
              </a:rPr>
              <a:t>path and provide a table of contents plus previous/next navigation. Preserve</a:t>
            </a:r>
          </a:p>
          <a:p>
            <a:r>
              <a:rPr>
                <a:latin typeface="Courier New"/>
              </a:rPr>
              <a:t>headings, ordered lists, code blocks, links, images, details blocks, and</a:t>
            </a:r>
          </a:p>
          <a:p>
            <a:r>
              <a:rPr>
                <a:latin typeface="Courier New"/>
              </a:rPr>
              <a:t>GitHub-style callouts so we can inspect readability and the learner journey.</a:t>
            </a:r>
          </a:p>
          <a:p>
            <a:r>
              <a:rPr>
                <a:latin typeface="Courier New"/>
              </a:rPr>
              <a:t>Clearly label unresolved template variables as an unrendered preview; do not</a:t>
            </a:r>
          </a:p>
          <a:p>
            <a:r>
              <a:rPr>
                <a:latin typeface="Courier New"/>
              </a:rPr>
              <a:t>invent their values or claim this is the live issue experience.</a:t>
            </a:r>
          </a:p>
          <a:p/>
          <a:p>
            <a:r>
              <a:rPr>
                <a:latin typeface="Courier New"/>
              </a:rPr>
              <a:t>Keep all exercise files unchanged. If a local preview needs generated files,</a:t>
            </a:r>
          </a:p>
          <a:p>
            <a:r>
              <a:rPr>
                <a:latin typeface="Courier New"/>
              </a:rPr>
              <a:t>use a temporary directory outside the repository and bind any server to</a:t>
            </a:r>
          </a:p>
          <a:p>
            <a:r>
              <a:rPr>
                <a:latin typeface="Courier New"/>
              </a:rPr>
              <a:t>loopback only. Do not upload private content to an external renderer.</a:t>
            </a:r>
          </a:p>
          <a:p>
            <a:r>
              <a:rPr>
                <a:latin typeface="Courier New"/>
              </a:rPr>
              <a:t>Do not run workflows, click Copy Exercise, create repositories, or publish.</a:t>
            </a:r>
          </a:p>
          <a:p>
            <a:r>
              <a:rPr>
                <a:latin typeface="Courier New"/>
              </a:rPr>
              <a:t>If a source file or browser canvas is unavailable, report it explicitly.</a:t>
            </a:r>
          </a:p>
          <a:p/>
          <a:p>
            <a:r>
              <a:rPr b="1"/>
              <a:t>DO:</a:t>
            </a:r>
            <a:r>
              <a:t> Check the README, each of the three steps, and the completion page in the canvas. Treat visual issues as findings, not permission to edit. If the preview cannot open promptly, inspect the source Markdown and continue within the existing hard stops.</a:t>
            </a:r>
          </a:p>
          <a:p/>
          <a:p>
            <a:r>
              <a:rPr b="1"/>
              <a:t>DO:</a:t>
            </a:r>
            <a:r>
              <a:t> Pick one real, supported finding, such as a weak check, a workflow collision, or a learner accessibility issue. Don't invent a defect for the demo. Point out that the review hasn't changed any files.</a:t>
            </a:r>
          </a:p>
          <a:p/>
          <a:p>
            <a:r>
              <a:rPr b="1"/>
              <a:t>DO:</a:t>
            </a:r>
            <a:r>
              <a:t> Prompt 3b approves a fix for that one finding. Replace &lt;finding-id&gt; with the finding you chose:</a:t>
            </a:r>
          </a:p>
          <a:p/>
          <a:p>
            <a:r>
              <a:rPr>
                <a:latin typeface="Courier New"/>
              </a:rPr>
              <a:t>I approve a bootstrap fix round for &lt;finding-id&gt; only. Make the targeted fix</a:t>
            </a:r>
          </a:p>
          <a:p>
            <a:r>
              <a:rPr>
                <a:latin typeface="Courier New"/>
              </a:rPr>
              <a:t>and run its relevant checks. Stop for my build approval before running the</a:t>
            </a:r>
          </a:p>
          <a:p>
            <a:r>
              <a:rPr>
                <a:latin typeface="Courier New"/>
              </a:rPr>
              <a:t>review again.</a:t>
            </a:r>
          </a:p>
          <a:p/>
          <a:p>
            <a:r>
              <a:rPr b="1"/>
              <a:t>DO:</a:t>
            </a:r>
            <a:r>
              <a:t> Inspect the change and its check results. Then accept the fix round and ask for a fresh review:</a:t>
            </a:r>
          </a:p>
          <a:p/>
          <a:p>
            <a:r>
              <a:rPr>
                <a:latin typeface="Courier New"/>
              </a:rPr>
              <a:t>I accept the fix round. Re-run the report-only review with the same criteria.</a:t>
            </a:r>
          </a:p>
          <a:p/>
          <a:p>
            <a:r>
              <a:rPr b="1"/>
              <a:t>DO:</a:t>
            </a:r>
            <a:r>
              <a:t> If the live review found nothing to fix, show the labeled rehearsal finding and its before and after from fallback/fix-and-rereview.md instead. It must come from this small exercise, not the old filtering scenario.</a:t>
            </a:r>
          </a:p>
          <a:p/>
          <a:p>
            <a:r>
              <a:rPr b="1"/>
              <a:t>SAY:</a:t>
            </a:r>
            <a:r>
              <a:t> This is the agent reviewing its own work, which isn't the same as an independent review. And report-only is an instruction; it doesn't take away the agent's edit permissions. If the same finding survives two rounds, stop and escalate to a person.</a:t>
            </a:r>
          </a:p>
          <a:p/>
          <a:p>
            <a:r>
              <a:rPr b="1"/>
              <a:t>CLOCK:</a:t>
            </a:r>
            <a:r>
              <a:t> Hard stop 0:35: start no more fix rounds. If needed, show the 03-reviewed checkpoint and say what remains.</a:t>
            </a:r>
          </a:p>
          <a:p/>
          <a:p>
            <a:r>
              <a:rPr b="1"/>
              <a:t>DO:</a:t>
            </a:r>
            <a:r>
              <a:t> Gate 3, only if no known release blockers remain:</a:t>
            </a:r>
          </a:p>
          <a:p/>
          <a:p>
            <a:r>
              <a:rPr>
                <a:latin typeface="Courier New"/>
              </a:rPr>
              <a:t>No known release blockers remain in the reviewed build. Prepare</a:t>
            </a:r>
          </a:p>
          <a:p>
            <a:r>
              <a:rPr>
                <a:latin typeface="Courier New"/>
              </a:rPr>
              <a:t>release-readiness materials only; do not publish.</a:t>
            </a:r>
          </a:p>
          <a:p/>
          <a:p>
            <a:r>
              <a:rPr b="1"/>
              <a:t>DO:</a:t>
            </a:r>
            <a:r>
              <a:t> If blockers remain, name them honestly and use the reviewed rehearsal build for Phase IV.</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0:35–0:41 · Slide 12 of 14 · Publish: prepare first. Authorize separately.</a:t>
            </a:r>
          </a:p>
          <a:p/>
          <a:p>
            <a:r>
              <a:rPr b="1"/>
              <a:t>SAY:</a:t>
            </a:r>
            <a:r>
              <a:t> Phase IV, publish, has two halves. First, prepare the handoff: validation evidence, PR copy and release notes, a launch checklist, and known risks. Second, pause for authorization: confirm the exact owner, repository, and visibility before anything is created, pushed, or transferred.</a:t>
            </a:r>
          </a:p>
          <a:p/>
          <a:p>
            <a:r>
              <a:rPr b="1"/>
              <a:t>SAY:</a:t>
            </a:r>
            <a:r>
              <a:t> Release-ready content isn't permission to publish it. Today we stop at that line.</a:t>
            </a:r>
          </a:p>
          <a:p/>
          <a:p>
            <a:r>
              <a:rPr b="1"/>
              <a:t>DO:</a:t>
            </a:r>
            <a:r>
              <a:t> </a:t>
            </a:r>
            <a:r>
              <a:rPr b="1"/>
              <a:t>SCREEN → Copilot app,</a:t>
            </a:r>
            <a:r>
              <a:t> same project session. Stay in Interactive; never Autopilot here, because the authorization gate has to stop for you. Paste Prompt 4, or show the saved 04-publish-ready materials:</a:t>
            </a:r>
          </a:p>
          <a:p/>
          <a:p>
            <a:r>
              <a:rPr>
                <a:latin typeface="Courier New"/>
              </a:rPr>
              <a:t>@github-skills-orchestrator Use /publish-github-skills-exercise for the</a:t>
            </a:r>
          </a:p>
          <a:p>
            <a:r>
              <a:rPr>
                <a:latin typeface="Courier New"/>
              </a:rPr>
              <a:t>approved three-step exercise. Read its identity from</a:t>
            </a:r>
          </a:p>
          <a:p>
            <a:r>
              <a:rPr>
                <a:latin typeface="Courier New"/>
              </a:rPr>
              <a:t>.github/exercise-outline.md.</a:t>
            </a:r>
          </a:p>
          <a:p/>
          <a:p>
            <a:r>
              <a:rPr>
                <a:latin typeface="Courier New"/>
              </a:rPr>
              <a:t>Prepare a short readiness report: validation evidence, untested risks, a PR</a:t>
            </a:r>
          </a:p>
          <a:p>
            <a:r>
              <a:rPr>
                <a:latin typeface="Courier New"/>
              </a:rPr>
              <a:t>description, brief release notes, and a launch checklist. Clearly separate</a:t>
            </a:r>
          </a:p>
          <a:p>
            <a:r>
              <a:rPr>
                <a:latin typeface="Courier New"/>
              </a:rPr>
              <a:t>completed checks from required fresh-copy testing.</a:t>
            </a:r>
          </a:p>
          <a:p/>
          <a:p>
            <a:r>
              <a:rPr>
                <a:latin typeface="Courier New"/>
              </a:rPr>
              <a:t>Do not create or transfer repositories, change visibility, push, or publish.</a:t>
            </a:r>
          </a:p>
          <a:p>
            <a:r>
              <a:rPr>
                <a:latin typeface="Courier New"/>
              </a:rPr>
              <a:t>Stop at the authorization boundary.</a:t>
            </a:r>
          </a:p>
          <a:p/>
          <a:p>
            <a:r>
              <a:rPr b="1"/>
              <a:t>DO:</a:t>
            </a:r>
            <a:r>
              <a:t> Keep the output short: observed validation evidence, untested risks, PR description, release notes, and launch checklist. If you have the rehearsal's fresh learner-copy result, show it.</a:t>
            </a:r>
          </a:p>
          <a:p/>
          <a:p>
            <a:r>
              <a:rPr b="1"/>
              <a:t>SAY:</a:t>
            </a:r>
            <a:r>
              <a:t> Local checks alone don't prove the exercise works in a fresh copy on GitHub. That test is on the launch checklist.</a:t>
            </a:r>
          </a:p>
          <a:p/>
          <a:p>
            <a:r>
              <a:rPr b="1"/>
              <a:t>DO:</a:t>
            </a:r>
            <a:r>
              <a:t> Prompt 4b shows the publication plan. Replace &lt;demo-owner&gt;/&lt;approved-name&gt; with a real demo owner and the approved name, for example &lt;demo-owner&gt;/copilot-app-cleared-for-takeoff. Send it, show the plan, and do not authorize it:</a:t>
            </a:r>
          </a:p>
          <a:p/>
          <a:p>
            <a:r>
              <a:rPr>
                <a:latin typeface="Courier New"/>
              </a:rPr>
              <a:t>Use /publish-github-skills-exercise to show, without executing, a plan for</a:t>
            </a:r>
          </a:p>
          <a:p>
            <a:r>
              <a:rPr>
                <a:latin typeface="Courier New"/>
              </a:rPr>
              <a:t>publishing this exercise to &lt;demo-owner&gt;/&lt;approved-name&gt; as a public template.</a:t>
            </a:r>
          </a:p>
          <a:p/>
          <a:p>
            <a:r>
              <a:rPr>
                <a:latin typeface="Courier New"/>
              </a:rPr>
              <a:t>Show the exact target, visibility, changes, commands, and readiness blockers.</a:t>
            </a:r>
          </a:p>
          <a:p>
            <a:r>
              <a:rPr>
                <a:latin typeface="Courier New"/>
              </a:rPr>
              <a:t>Wait for separate explicit authorization. This message is not authorization to</a:t>
            </a:r>
          </a:p>
          <a:p>
            <a:r>
              <a:rPr>
                <a:latin typeface="Courier New"/>
              </a:rPr>
              <a:t>create, push, transfer, change settings, or publish.</a:t>
            </a:r>
          </a:p>
          <a:p/>
          <a:p>
            <a:r>
              <a:rPr b="1"/>
              <a:t>SAY:</a:t>
            </a:r>
            <a:r>
              <a:t> Creating the private repo earlier wasn't permission to publish, transfer, change visibility, push, or create a public template. Publish can create a GitHub repository, but only with an explicit yes for the exact owner, repository, and visibility. Before that, make sure the README badge points at the approved target.</a:t>
            </a:r>
          </a:p>
          <a:p/>
          <a:p>
            <a:r>
              <a:rPr b="1"/>
              <a:t>SAY:</a:t>
            </a:r>
            <a:r>
              <a:t> The private authoring repo and the public learner template have different jobs. We end with readiness evidence and a proposed publication plan, not a claim that the live build has been released.</a:t>
            </a:r>
          </a:p>
          <a:p/>
          <a:p>
            <a:r>
              <a:rPr b="1"/>
              <a:t>CLOCK:</a:t>
            </a:r>
            <a:r>
              <a:t> Hard stop 0:38: if generation isn't finished, show the saved readiness report in fallback/publish-readiness.md and its planned commands. End this phase by 0:41.</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0:41–0:45 · Slide 13 of 14 · One workflow. Many learning experiences.</a:t>
            </a:r>
          </a:p>
          <a:p/>
          <a:p>
            <a:r>
              <a:rPr b="1"/>
              <a:t>SAY:</a:t>
            </a:r>
            <a:r>
              <a:t> That's all five skills and the one agent. The fifth skill, orchestrate, runs the same lifecycle with the same gates from one prompt. It's not a second agent. I won't run it; we just did every step by hand.</a:t>
            </a:r>
          </a:p>
          <a:p/>
          <a:p>
            <a:r>
              <a:rPr b="1"/>
              <a:t>DO:</a:t>
            </a:r>
            <a:r>
              <a:t> </a:t>
            </a:r>
            <a:r>
              <a:rPr b="1"/>
              <a:t>SCREEN → Copilot app.</a:t>
            </a:r>
            <a:r>
              <a:t> Show this prompt without sending it:</a:t>
            </a:r>
          </a:p>
          <a:p/>
          <a:p>
            <a:r>
              <a:rPr>
                <a:latin typeface="Courier New"/>
              </a:rPr>
              <a:t>@github-skills-orchestrator Use /orchestrate-github-skills-exercise to</a:t>
            </a:r>
          </a:p>
          <a:p>
            <a:r>
              <a:rPr>
                <a:latin typeface="Courier New"/>
              </a:rPr>
              <a:t>coordinate the same three-step Tailspin quick-start. Read the approved outline</a:t>
            </a:r>
          </a:p>
          <a:p>
            <a:r>
              <a:rPr>
                <a:latin typeface="Courier New"/>
              </a:rPr>
              <a:t>from .github/exercise-outline.md. Stop after each build for approval; review</a:t>
            </a:r>
          </a:p>
          <a:p>
            <a:r>
              <a:rPr>
                <a:latin typeface="Courier New"/>
              </a:rPr>
              <a:t>without edits; request separate approval for fixes and any publication. Do not</a:t>
            </a:r>
          </a:p>
          <a:p>
            <a:r>
              <a:rPr>
                <a:latin typeface="Courier New"/>
              </a:rPr>
              <a:t>expand the scope or publish without explicit authorization.</a:t>
            </a:r>
          </a:p>
          <a:p/>
          <a:p>
            <a:r>
              <a:rPr b="1"/>
              <a:t>DO:</a:t>
            </a:r>
            <a:r>
              <a:t> </a:t>
            </a:r>
            <a:r>
              <a:rPr b="1"/>
              <a:t>SCREEN → back to slide 13.</a:t>
            </a:r>
          </a:p>
          <a:p/>
          <a:p>
            <a:r>
              <a:rPr b="1"/>
              <a:t>SAY:</a:t>
            </a:r>
            <a:r>
              <a:t> Four takeaways. Repeatable: reuse the same authoring loop for any audience. Observable: check what learners wrote, not whether a file exists. Inclusive: review clarity, navigation, and accessibility. Human-led: people approve the decisions and the final release.</a:t>
            </a:r>
          </a:p>
          <a:p/>
          <a:p>
            <a:r>
              <a:rPr b="1"/>
              <a:t>SAY:</a:t>
            </a:r>
            <a:r>
              <a:t> Same lifecycle, different content. An educator could teach a classroom coding convention; an enterprise could onboard teammates to a team policy. The outline and review skills work for other tutorials too; bootstrap targets the GitHub Skills format.</a:t>
            </a:r>
          </a:p>
          <a:p/>
          <a:p>
            <a:r>
              <a:rPr b="1"/>
              <a:t>SAY:</a:t>
            </a:r>
            <a:r>
              <a:t> A longer exercise could add filtering with tests, Plan and Autopilot practice, PRs and Agent Merge, MCP, or canvases. We won't demo those today.</a:t>
            </a:r>
          </a:p>
          <a:p/>
          <a:p>
            <a:r>
              <a:rPr b="1"/>
              <a:t>SAY:</a:t>
            </a:r>
            <a:r>
              <a:t> Keep the learner task small. Make success observable. Let the agent draft; keep humans at the decisions.</a:t>
            </a:r>
          </a:p>
          <a:p/>
          <a:p>
            <a:r>
              <a:rPr b="1"/>
              <a:t>CLOCK:</a:t>
            </a:r>
            <a:r>
              <a:t> Content ends at 0:45. The 0:45–0:50 buffer only absorbs overruns. If you don't need it, go to slide 14 and open Q&amp;A.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0:50–1:00 · Slide 14 of 14 · Your next exercise starts here.</a:t>
            </a:r>
          </a:p>
          <a:p/>
          <a:p>
            <a:r>
              <a:rPr b="1"/>
              <a:t>SAY:</a:t>
            </a:r>
            <a:r>
              <a:t> Your next exercise starts here. Bring an idea, and build a hands-on experience. Scan the QR or go to gh.io/gh-skills-builder: it opens the plugin's Awesome Copilot page, with one orchestrator and five Agent Skills.</a:t>
            </a:r>
          </a:p>
          <a:p/>
          <a:p>
            <a:r>
              <a:rPr b="1"/>
              <a:t>SAY:</a:t>
            </a:r>
            <a:r>
              <a:t> So: what could you turn into an exercise?</a:t>
            </a:r>
          </a:p>
          <a:p/>
          <a:p>
            <a:r>
              <a:rPr b="1"/>
              <a:t>DO:</a:t>
            </a:r>
            <a:r>
              <a:t> Leave this slide and its QR up through Q&amp;A. If someone asks for the install command, paste it in the chat:</a:t>
            </a:r>
          </a:p>
          <a:p/>
          <a:p>
            <a:r>
              <a:rPr>
                <a:latin typeface="Courier New"/>
              </a:rPr>
              <a:t>copilot plugin install gh-skills-builder@awesome-copilot</a:t>
            </a:r>
          </a:p>
          <a:p/>
          <a:p>
            <a:r>
              <a:rPr b="1"/>
              <a:t>DO:</a:t>
            </a:r>
            <a:r>
              <a:t> If the room is quiet, seed a question. What can Actions observe? Why is review report-only? What authorization does publishing need? What would your audience practice?</a:t>
            </a:r>
          </a:p>
          <a:p/>
          <a:p>
            <a:r>
              <a:rPr b="1"/>
              <a:t>CLOCK:</a:t>
            </a:r>
            <a:r>
              <a:t> Q&amp;A starts by 0:50, or at 0:45 if the buffer wasn't used. Don't troubleshoot individual installations or start another workflow. End at 1:00.</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Hidden backup slide · not presented</a:t>
            </a:r>
          </a:p>
          <a:p/>
          <a:p>
            <a:r>
              <a:t>This is the original title slide, kept as a backup. If slide 1 can't be used, unhide this slide in PowerPoint, move it to the front, and present it with the slide 1 notes.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101411"/>
        </a:solid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3A06B34-F03E-5DC7-2F93-8740C8F86415}"/>
              </a:ext>
            </a:extLst>
          </p:cNvPr>
          <p:cNvSpPr>
            <a:spLocks noGrp="1"/>
          </p:cNvSpPr>
          <p:nvPr>
            <p:ph type="body" sz="quarter" idx="11" hasCustomPrompt="1"/>
          </p:nvPr>
        </p:nvSpPr>
        <p:spPr>
          <a:xfrm>
            <a:off x="4404700" y="318247"/>
            <a:ext cx="726126" cy="5804124"/>
          </a:xfrm>
          <a:prstGeom prst="rect">
            <a:avLst/>
          </a:prstGeom>
        </p:spPr>
        <p:txBody>
          <a:bodyPr/>
          <a:lstStyle>
            <a:lvl1pPr>
              <a:defRPr sz="2799" b="0" i="0">
                <a:solidFill>
                  <a:schemeClr val="bg2"/>
                </a:solidFill>
                <a:latin typeface="Mona Sans Display" pitchFamily="2" charset="77"/>
                <a:cs typeface="Mona Sans Display" pitchFamily="2" charset="77"/>
              </a:defRPr>
            </a:lvl1pPr>
          </a:lstStyle>
          <a:p>
            <a:pPr lvl="0"/>
            <a:r>
              <a:rPr lang="en-US" dirty="0"/>
              <a:t>01</a:t>
            </a:r>
          </a:p>
          <a:p>
            <a:pPr lvl="0"/>
            <a:r>
              <a:rPr lang="en-US" dirty="0"/>
              <a:t>02</a:t>
            </a:r>
          </a:p>
          <a:p>
            <a:pPr lvl="0"/>
            <a:r>
              <a:rPr lang="en-US" dirty="0"/>
              <a:t>03</a:t>
            </a:r>
          </a:p>
          <a:p>
            <a:pPr lvl="0"/>
            <a:r>
              <a:rPr lang="en-US" dirty="0"/>
              <a:t>04</a:t>
            </a:r>
          </a:p>
          <a:p>
            <a:pPr lvl="0"/>
            <a:r>
              <a:rPr lang="en-US" dirty="0"/>
              <a:t>05</a:t>
            </a:r>
          </a:p>
          <a:p>
            <a:pPr lvl="0"/>
            <a:r>
              <a:rPr lang="en-US" dirty="0"/>
              <a:t>06</a:t>
            </a:r>
          </a:p>
          <a:p>
            <a:pPr lvl="0"/>
            <a:r>
              <a:rPr lang="en-US" dirty="0"/>
              <a:t>07</a:t>
            </a:r>
          </a:p>
          <a:p>
            <a:pPr lvl="0"/>
            <a:r>
              <a:rPr lang="en-US" dirty="0"/>
              <a:t>08</a:t>
            </a:r>
          </a:p>
          <a:p>
            <a:pPr lvl="0"/>
            <a:r>
              <a:rPr lang="en-US" dirty="0"/>
              <a:t>09</a:t>
            </a:r>
          </a:p>
        </p:txBody>
      </p:sp>
      <p:sp>
        <p:nvSpPr>
          <p:cNvPr id="3" name="Text Placeholder 2">
            <a:extLst>
              <a:ext uri="{FF2B5EF4-FFF2-40B4-BE49-F238E27FC236}">
                <a16:creationId xmlns:a16="http://schemas.microsoft.com/office/drawing/2014/main" id="{00329222-7B60-0287-B5CD-B9A22C449836}"/>
              </a:ext>
            </a:extLst>
          </p:cNvPr>
          <p:cNvSpPr>
            <a:spLocks noGrp="1"/>
          </p:cNvSpPr>
          <p:nvPr>
            <p:ph type="body" sz="quarter" idx="12" hasCustomPrompt="1"/>
          </p:nvPr>
        </p:nvSpPr>
        <p:spPr>
          <a:xfrm>
            <a:off x="5130826" y="318247"/>
            <a:ext cx="6650234" cy="5804124"/>
          </a:xfrm>
          <a:prstGeom prst="rect">
            <a:avLst/>
          </a:prstGeom>
        </p:spPr>
        <p:txBody>
          <a:bodyPr/>
          <a:lstStyle>
            <a:lvl1pPr marL="0" marR="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sz="2799" b="0" i="0">
                <a:solidFill>
                  <a:schemeClr val="tx1"/>
                </a:solidFill>
                <a:latin typeface="Mona Sans Display" pitchFamily="2" charset="77"/>
                <a:cs typeface="Mona Sans Display" pitchFamily="2" charset="77"/>
              </a:defRPr>
            </a:lvl1pPr>
          </a:lstStyle>
          <a:p>
            <a:pPr lvl="0"/>
            <a:r>
              <a:rPr lang="en-US" dirty="0"/>
              <a:t>Section title</a:t>
            </a:r>
          </a:p>
          <a:p>
            <a:pPr lvl="0"/>
            <a:r>
              <a:rPr lang="en-US" dirty="0"/>
              <a:t>Section title </a:t>
            </a:r>
          </a:p>
          <a:p>
            <a:pPr lvl="0"/>
            <a:r>
              <a:rPr lang="en-US" dirty="0"/>
              <a:t>Section title</a:t>
            </a:r>
          </a:p>
          <a:p>
            <a:pPr lvl="0"/>
            <a:r>
              <a:rPr lang="en-US" dirty="0"/>
              <a:t>Section title</a:t>
            </a:r>
          </a:p>
          <a:p>
            <a:pPr lvl="0"/>
            <a:r>
              <a:rPr lang="en-US" dirty="0"/>
              <a:t>Section title</a:t>
            </a:r>
          </a:p>
          <a:p>
            <a:pPr marL="0" marR="0" lvl="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Section title </a:t>
            </a:r>
          </a:p>
          <a:p>
            <a:pPr marL="0" marR="0" lvl="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Section title </a:t>
            </a:r>
          </a:p>
          <a:p>
            <a:pPr marL="0" marR="0" lvl="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Section title</a:t>
            </a:r>
          </a:p>
          <a:p>
            <a:pPr marL="0" marR="0" lvl="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Section title  </a:t>
            </a:r>
          </a:p>
          <a:p>
            <a:pPr lvl="0"/>
            <a:endParaRPr lang="en-US" dirty="0"/>
          </a:p>
        </p:txBody>
      </p:sp>
      <p:sp>
        <p:nvSpPr>
          <p:cNvPr id="7" name="Rectangle 6">
            <a:extLst>
              <a:ext uri="{FF2B5EF4-FFF2-40B4-BE49-F238E27FC236}">
                <a16:creationId xmlns:a16="http://schemas.microsoft.com/office/drawing/2014/main" id="{661974D1-2B3B-9B4D-272E-11CF159EBA96}"/>
              </a:ext>
            </a:extLst>
          </p:cNvPr>
          <p:cNvSpPr/>
          <p:nvPr userDrawn="1"/>
        </p:nvSpPr>
        <p:spPr>
          <a:xfrm>
            <a:off x="4075384" y="-2"/>
            <a:ext cx="9144" cy="6455440"/>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8F169222-62F0-2EFF-01A8-8D6A3B1B695C}"/>
              </a:ext>
            </a:extLst>
          </p:cNvPr>
          <p:cNvSpPr txBox="1"/>
          <p:nvPr userDrawn="1"/>
        </p:nvSpPr>
        <p:spPr>
          <a:xfrm>
            <a:off x="407766" y="318247"/>
            <a:ext cx="3250890" cy="1996572"/>
          </a:xfrm>
          <a:prstGeom prst="rect">
            <a:avLst/>
          </a:prstGeom>
          <a:noFill/>
        </p:spPr>
        <p:txBody>
          <a:bodyPr wrap="none" lIns="0" tIns="0" rIns="0" bIns="0" rtlCol="0">
            <a:spAutoFit/>
          </a:bodyPr>
          <a:lstStyle/>
          <a:p>
            <a:pPr>
              <a:lnSpc>
                <a:spcPct val="90000"/>
              </a:lnSpc>
            </a:pPr>
            <a:r>
              <a:rPr lang="en-US" sz="7200" spc="0" dirty="0">
                <a:latin typeface="Mona Sans Display" pitchFamily="2" charset="77"/>
                <a:cs typeface="Mona Sans Display" pitchFamily="2" charset="77"/>
              </a:rPr>
              <a:t>Session</a:t>
            </a:r>
            <a:br>
              <a:rPr lang="en-US" sz="7200" spc="0" dirty="0">
                <a:latin typeface="Mona Sans Display" pitchFamily="2" charset="77"/>
                <a:cs typeface="Mona Sans Display" pitchFamily="2" charset="77"/>
              </a:rPr>
            </a:br>
            <a:r>
              <a:rPr lang="en-US" sz="7200" spc="0" dirty="0">
                <a:solidFill>
                  <a:schemeClr val="bg2"/>
                </a:solidFill>
                <a:latin typeface="Mona Sans Display" pitchFamily="2" charset="77"/>
                <a:cs typeface="Mona Sans Display" pitchFamily="2" charset="77"/>
              </a:rPr>
              <a:t>Agenda</a:t>
            </a:r>
          </a:p>
        </p:txBody>
      </p:sp>
      <p:sp>
        <p:nvSpPr>
          <p:cNvPr id="25" name="Rectangle 24">
            <a:extLst>
              <a:ext uri="{FF2B5EF4-FFF2-40B4-BE49-F238E27FC236}">
                <a16:creationId xmlns:a16="http://schemas.microsoft.com/office/drawing/2014/main" id="{D18BEDA9-9E4A-4AB3-2AC5-BA36C010DBBB}"/>
              </a:ext>
            </a:extLst>
          </p:cNvPr>
          <p:cNvSpPr>
            <a:spLocks noGrp="1" noRot="1" noMove="1" noResize="1" noEditPoints="1" noAdjustHandles="1" noChangeArrowheads="1" noChangeShapeType="1"/>
          </p:cNvSpPr>
          <p:nvPr userDrawn="1"/>
        </p:nvSpPr>
        <p:spPr>
          <a:xfrm>
            <a:off x="-63" y="6437150"/>
            <a:ext cx="12188952"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48B612C-5E67-5414-731A-C9339B410D72}"/>
              </a:ext>
            </a:extLst>
          </p:cNvPr>
          <p:cNvSpPr>
            <a:spLocks noGrp="1" noRot="1" noMove="1" noResize="1" noEditPoints="1" noAdjustHandles="1" noChangeArrowheads="1" noChangeShapeType="1"/>
          </p:cNvSpPr>
          <p:nvPr userDrawn="1"/>
        </p:nvSpPr>
        <p:spPr>
          <a:xfrm>
            <a:off x="11781917" y="6455664"/>
            <a:ext cx="9144"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Graphic 26">
            <a:extLst>
              <a:ext uri="{FF2B5EF4-FFF2-40B4-BE49-F238E27FC236}">
                <a16:creationId xmlns:a16="http://schemas.microsoft.com/office/drawing/2014/main" id="{1A91557B-968A-5EC0-CAFB-09897FC08F54}"/>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1859825" y="6530993"/>
            <a:ext cx="260299" cy="251679"/>
          </a:xfrm>
          <a:prstGeom prst="rect">
            <a:avLst/>
          </a:prstGeom>
        </p:spPr>
      </p:pic>
      <p:sp>
        <p:nvSpPr>
          <p:cNvPr id="28" name="Text Placeholder 13">
            <a:extLst>
              <a:ext uri="{FF2B5EF4-FFF2-40B4-BE49-F238E27FC236}">
                <a16:creationId xmlns:a16="http://schemas.microsoft.com/office/drawing/2014/main" id="{73D074C2-03EF-908D-252E-5ED8D14F44A3}"/>
              </a:ext>
            </a:extLst>
          </p:cNvPr>
          <p:cNvSpPr>
            <a:spLocks noGrp="1" noRot="1" noMove="1" noResize="1" noEditPoints="1" noAdjustHandles="1" noChangeArrowheads="1" noChangeShapeType="1"/>
          </p:cNvSpPr>
          <p:nvPr>
            <p:ph type="body" sz="quarter" idx="10" hasCustomPrompt="1"/>
          </p:nvPr>
        </p:nvSpPr>
        <p:spPr>
          <a:xfrm>
            <a:off x="188913" y="6595277"/>
            <a:ext cx="11495038"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dirty="0"/>
              <a:t>OPTIONAL</a:t>
            </a:r>
          </a:p>
        </p:txBody>
      </p:sp>
    </p:spTree>
    <p:extLst>
      <p:ext uri="{BB962C8B-B14F-4D97-AF65-F5344CB8AC3E}">
        <p14:creationId xmlns:p14="http://schemas.microsoft.com/office/powerpoint/2010/main" val="243324815"/>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8E232FEF-5AC4-0243-5E32-D39DE78C8EF3}"/>
              </a:ext>
            </a:extLst>
          </p:cNvPr>
          <p:cNvSpPr>
            <a:spLocks noGrp="1"/>
          </p:cNvSpPr>
          <p:nvPr>
            <p:ph idx="1" hasCustomPrompt="1"/>
          </p:nvPr>
        </p:nvSpPr>
        <p:spPr>
          <a:xfrm>
            <a:off x="402335" y="1710900"/>
            <a:ext cx="11379581" cy="4327581"/>
          </a:xfrm>
          <a:prstGeom prst="rect">
            <a:avLst/>
          </a:prstGeom>
        </p:spPr>
        <p:txBody>
          <a:bodyPr vert="horz" lIns="0" tIns="0" rIns="0" bIns="0" rtlCol="0">
            <a:normAutofit/>
          </a:bodyPr>
          <a:lstStyle>
            <a:lvl1pPr>
              <a:defRPr b="0" i="0">
                <a:solidFill>
                  <a:schemeClr val="bg2"/>
                </a:solidFill>
                <a:latin typeface="Mona Sans" pitchFamily="2" charset="77"/>
                <a:cs typeface="Mona Sans" pitchFamily="2" charset="77"/>
              </a:defRPr>
            </a:lvl1pPr>
            <a:lvl2pPr>
              <a:defRPr b="0" i="0">
                <a:latin typeface="Mona Sans" pitchFamily="2" charset="77"/>
                <a:cs typeface="Mona Sans" pitchFamily="2" charset="77"/>
              </a:defRPr>
            </a:lvl2pPr>
            <a:lvl3pPr>
              <a:defRPr b="0" i="0">
                <a:latin typeface="Mona Sans" pitchFamily="2" charset="77"/>
                <a:cs typeface="Mona Sans" pitchFamily="2" charset="77"/>
              </a:defRPr>
            </a:lvl3pPr>
            <a:lvl4pPr>
              <a:defRPr b="0" i="0">
                <a:latin typeface="Mona Sans" pitchFamily="2" charset="77"/>
                <a:cs typeface="Mona Sans" pitchFamily="2" charset="77"/>
              </a:defRPr>
            </a:lvl4pPr>
            <a:lvl5pPr>
              <a:defRPr b="0" i="0">
                <a:latin typeface="Mona Sans" pitchFamily="2" charset="77"/>
                <a:cs typeface="Mona Sans" pitchFamily="2" charset="77"/>
              </a:defRPr>
            </a:lvl5pPr>
          </a:lstStyle>
          <a:p>
            <a:pPr lvl="0"/>
            <a:r>
              <a:rPr lang="en-US" dirty="0"/>
              <a:t>Subtitle information</a:t>
            </a:r>
          </a:p>
        </p:txBody>
      </p:sp>
      <p:sp>
        <p:nvSpPr>
          <p:cNvPr id="7" name="Text Placeholder 23">
            <a:extLst>
              <a:ext uri="{FF2B5EF4-FFF2-40B4-BE49-F238E27FC236}">
                <a16:creationId xmlns:a16="http://schemas.microsoft.com/office/drawing/2014/main" id="{CAF34A05-F979-67CE-8D0B-93ACC8868D9E}"/>
              </a:ext>
            </a:extLst>
          </p:cNvPr>
          <p:cNvSpPr>
            <a:spLocks noGrp="1"/>
          </p:cNvSpPr>
          <p:nvPr>
            <p:ph type="body" sz="quarter" idx="32" hasCustomPrompt="1"/>
          </p:nvPr>
        </p:nvSpPr>
        <p:spPr>
          <a:xfrm>
            <a:off x="402337" y="398216"/>
            <a:ext cx="11388724" cy="365760"/>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dirty="0"/>
              <a:t>Optional header</a:t>
            </a:r>
          </a:p>
        </p:txBody>
      </p:sp>
      <p:sp>
        <p:nvSpPr>
          <p:cNvPr id="9" name="Rectangle 8">
            <a:extLst>
              <a:ext uri="{FF2B5EF4-FFF2-40B4-BE49-F238E27FC236}">
                <a16:creationId xmlns:a16="http://schemas.microsoft.com/office/drawing/2014/main" id="{C4C056C1-2865-9CB8-CB36-2D1F97AA0222}"/>
              </a:ext>
            </a:extLst>
          </p:cNvPr>
          <p:cNvSpPr/>
          <p:nvPr userDrawn="1"/>
        </p:nvSpPr>
        <p:spPr>
          <a:xfrm>
            <a:off x="-63" y="6437150"/>
            <a:ext cx="12188952"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9CC8A02-7DFE-BBD6-BA6B-3E0FEA9D0F18}"/>
              </a:ext>
            </a:extLst>
          </p:cNvPr>
          <p:cNvSpPr/>
          <p:nvPr userDrawn="1"/>
        </p:nvSpPr>
        <p:spPr>
          <a:xfrm>
            <a:off x="11781917" y="6455664"/>
            <a:ext cx="9144"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a:extLst>
              <a:ext uri="{FF2B5EF4-FFF2-40B4-BE49-F238E27FC236}">
                <a16:creationId xmlns:a16="http://schemas.microsoft.com/office/drawing/2014/main" id="{178287EB-93A9-A71F-B19F-C6930FEA3000}"/>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59825" y="6530993"/>
            <a:ext cx="260299" cy="251679"/>
          </a:xfrm>
          <a:prstGeom prst="rect">
            <a:avLst/>
          </a:prstGeom>
        </p:spPr>
      </p:pic>
      <p:sp>
        <p:nvSpPr>
          <p:cNvPr id="15" name="Text Placeholder 13">
            <a:extLst>
              <a:ext uri="{FF2B5EF4-FFF2-40B4-BE49-F238E27FC236}">
                <a16:creationId xmlns:a16="http://schemas.microsoft.com/office/drawing/2014/main" id="{0036C648-5D50-5FAE-8829-8ACC35324E0A}"/>
              </a:ext>
            </a:extLst>
          </p:cNvPr>
          <p:cNvSpPr>
            <a:spLocks noGrp="1"/>
          </p:cNvSpPr>
          <p:nvPr>
            <p:ph type="body" sz="quarter" idx="10" hasCustomPrompt="1"/>
          </p:nvPr>
        </p:nvSpPr>
        <p:spPr>
          <a:xfrm>
            <a:off x="188913" y="6595277"/>
            <a:ext cx="11495038"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dirty="0"/>
              <a:t>OPTIONAL</a:t>
            </a:r>
          </a:p>
        </p:txBody>
      </p:sp>
      <p:sp>
        <p:nvSpPr>
          <p:cNvPr id="17" name="Text Placeholder 16">
            <a:extLst>
              <a:ext uri="{FF2B5EF4-FFF2-40B4-BE49-F238E27FC236}">
                <a16:creationId xmlns:a16="http://schemas.microsoft.com/office/drawing/2014/main" id="{3A6EDB0E-FBDD-D920-1516-D5EDAB5A6CEF}"/>
              </a:ext>
            </a:extLst>
          </p:cNvPr>
          <p:cNvSpPr>
            <a:spLocks noGrp="1"/>
          </p:cNvSpPr>
          <p:nvPr>
            <p:ph type="body" sz="quarter" idx="33" hasCustomPrompt="1"/>
          </p:nvPr>
        </p:nvSpPr>
        <p:spPr>
          <a:xfrm>
            <a:off x="402337" y="796387"/>
            <a:ext cx="11388724" cy="914288"/>
          </a:xfrm>
          <a:prstGeom prst="rect">
            <a:avLst/>
          </a:prstGeom>
        </p:spPr>
        <p:txBody>
          <a:bodyPr lIns="0" tIns="0" rIns="0" bIns="0"/>
          <a:lstStyle>
            <a:lvl1pPr>
              <a:defRPr sz="4800">
                <a:latin typeface="+mj-lt"/>
              </a:defRPr>
            </a:lvl1pPr>
          </a:lstStyle>
          <a:p>
            <a:pPr lvl="0"/>
            <a:r>
              <a:rPr lang="en-US" dirty="0"/>
              <a:t>Title should be less than 10 words</a:t>
            </a:r>
          </a:p>
        </p:txBody>
      </p:sp>
    </p:spTree>
    <p:extLst>
      <p:ext uri="{BB962C8B-B14F-4D97-AF65-F5344CB8AC3E}">
        <p14:creationId xmlns:p14="http://schemas.microsoft.com/office/powerpoint/2010/main" val="1118458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ur statements columns">
    <p:spTree>
      <p:nvGrpSpPr>
        <p:cNvPr id="1" name=""/>
        <p:cNvGrpSpPr/>
        <p:nvPr/>
      </p:nvGrpSpPr>
      <p:grpSpPr>
        <a:xfrm>
          <a:off x="0" y="0"/>
          <a:ext cx="0" cy="0"/>
          <a:chOff x="0" y="0"/>
          <a:chExt cx="0" cy="0"/>
        </a:xfrm>
      </p:grpSpPr>
      <p:sp>
        <p:nvSpPr>
          <p:cNvPr id="4" name="Text Placeholder 23">
            <a:extLst>
              <a:ext uri="{FF2B5EF4-FFF2-40B4-BE49-F238E27FC236}">
                <a16:creationId xmlns:a16="http://schemas.microsoft.com/office/drawing/2014/main" id="{1BD51200-706F-8BEB-8FEA-885B00BD21D5}"/>
              </a:ext>
            </a:extLst>
          </p:cNvPr>
          <p:cNvSpPr>
            <a:spLocks noGrp="1"/>
          </p:cNvSpPr>
          <p:nvPr>
            <p:ph type="body" sz="quarter" idx="32" hasCustomPrompt="1"/>
          </p:nvPr>
        </p:nvSpPr>
        <p:spPr>
          <a:xfrm>
            <a:off x="402337" y="398216"/>
            <a:ext cx="11388724" cy="365760"/>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dirty="0"/>
              <a:t>Optional header</a:t>
            </a:r>
          </a:p>
        </p:txBody>
      </p:sp>
      <p:sp>
        <p:nvSpPr>
          <p:cNvPr id="19" name="Text Placeholder 23">
            <a:extLst>
              <a:ext uri="{FF2B5EF4-FFF2-40B4-BE49-F238E27FC236}">
                <a16:creationId xmlns:a16="http://schemas.microsoft.com/office/drawing/2014/main" id="{0AB04BB2-EF53-0D5F-59AC-612F1848D9EC}"/>
              </a:ext>
            </a:extLst>
          </p:cNvPr>
          <p:cNvSpPr>
            <a:spLocks noGrp="1"/>
          </p:cNvSpPr>
          <p:nvPr>
            <p:ph type="body" sz="quarter" idx="36" hasCustomPrompt="1"/>
          </p:nvPr>
        </p:nvSpPr>
        <p:spPr>
          <a:xfrm>
            <a:off x="402337" y="3821924"/>
            <a:ext cx="2516859" cy="457200"/>
          </a:xfrm>
          <a:prstGeom prst="rect">
            <a:avLst/>
          </a:prstGeom>
        </p:spPr>
        <p:txBody>
          <a:bodyPr anchor="b" anchorCtr="0">
            <a:noAutofit/>
          </a:bodyPr>
          <a:lstStyle>
            <a:lvl1pPr marL="0" indent="0" algn="l">
              <a:buNone/>
              <a:defRPr sz="1799"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dirty="0"/>
              <a:t>Statement 1</a:t>
            </a:r>
          </a:p>
        </p:txBody>
      </p:sp>
      <p:sp>
        <p:nvSpPr>
          <p:cNvPr id="20" name="Text Placeholder 23">
            <a:extLst>
              <a:ext uri="{FF2B5EF4-FFF2-40B4-BE49-F238E27FC236}">
                <a16:creationId xmlns:a16="http://schemas.microsoft.com/office/drawing/2014/main" id="{EA40452B-ED90-469F-6FAA-80B8552227B3}"/>
              </a:ext>
            </a:extLst>
          </p:cNvPr>
          <p:cNvSpPr>
            <a:spLocks noGrp="1"/>
          </p:cNvSpPr>
          <p:nvPr>
            <p:ph type="body" sz="quarter" idx="37" hasCustomPrompt="1"/>
          </p:nvPr>
        </p:nvSpPr>
        <p:spPr>
          <a:xfrm>
            <a:off x="402336" y="4279124"/>
            <a:ext cx="2516859" cy="1755238"/>
          </a:xfrm>
          <a:prstGeom prst="rect">
            <a:avLst/>
          </a:prstGeom>
        </p:spPr>
        <p:txBody>
          <a:bodyPr anchor="t">
            <a:noAutofit/>
          </a:bodyPr>
          <a:lstStyle>
            <a:lvl1pPr marL="0" indent="0" algn="l">
              <a:buNone/>
              <a:defRPr sz="15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dirty="0"/>
              <a:t>Keep your description under three lines of text</a:t>
            </a:r>
          </a:p>
        </p:txBody>
      </p:sp>
      <p:sp>
        <p:nvSpPr>
          <p:cNvPr id="21" name="Picture Placeholder 24">
            <a:extLst>
              <a:ext uri="{FF2B5EF4-FFF2-40B4-BE49-F238E27FC236}">
                <a16:creationId xmlns:a16="http://schemas.microsoft.com/office/drawing/2014/main" id="{AA8835A6-7564-FBB3-C7DB-66E47AB8395D}"/>
              </a:ext>
            </a:extLst>
          </p:cNvPr>
          <p:cNvSpPr>
            <a:spLocks noGrp="1"/>
          </p:cNvSpPr>
          <p:nvPr>
            <p:ph type="pic" sz="quarter" idx="38" hasCustomPrompt="1"/>
          </p:nvPr>
        </p:nvSpPr>
        <p:spPr>
          <a:xfrm>
            <a:off x="402336" y="3237247"/>
            <a:ext cx="365665"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29" name="Text Placeholder 23">
            <a:extLst>
              <a:ext uri="{FF2B5EF4-FFF2-40B4-BE49-F238E27FC236}">
                <a16:creationId xmlns:a16="http://schemas.microsoft.com/office/drawing/2014/main" id="{66253A00-68D8-34BB-947A-3462DCDAB29E}"/>
              </a:ext>
            </a:extLst>
          </p:cNvPr>
          <p:cNvSpPr>
            <a:spLocks noGrp="1"/>
          </p:cNvSpPr>
          <p:nvPr>
            <p:ph type="body" sz="quarter" idx="39" hasCustomPrompt="1"/>
          </p:nvPr>
        </p:nvSpPr>
        <p:spPr>
          <a:xfrm>
            <a:off x="3358099" y="3821924"/>
            <a:ext cx="2516861" cy="457200"/>
          </a:xfrm>
          <a:prstGeom prst="rect">
            <a:avLst/>
          </a:prstGeom>
        </p:spPr>
        <p:txBody>
          <a:bodyPr anchor="b" anchorCtr="0">
            <a:noAutofit/>
          </a:bodyPr>
          <a:lstStyle>
            <a:lvl1pPr marL="0" indent="0" algn="l">
              <a:buNone/>
              <a:defRPr sz="1799"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dirty="0"/>
              <a:t>Statement 2</a:t>
            </a:r>
          </a:p>
        </p:txBody>
      </p:sp>
      <p:sp>
        <p:nvSpPr>
          <p:cNvPr id="30" name="Text Placeholder 23">
            <a:extLst>
              <a:ext uri="{FF2B5EF4-FFF2-40B4-BE49-F238E27FC236}">
                <a16:creationId xmlns:a16="http://schemas.microsoft.com/office/drawing/2014/main" id="{565E2F00-7AA3-A63B-4D7F-E2206B2EFF5C}"/>
              </a:ext>
            </a:extLst>
          </p:cNvPr>
          <p:cNvSpPr>
            <a:spLocks noGrp="1"/>
          </p:cNvSpPr>
          <p:nvPr>
            <p:ph type="body" sz="quarter" idx="40" hasCustomPrompt="1"/>
          </p:nvPr>
        </p:nvSpPr>
        <p:spPr>
          <a:xfrm>
            <a:off x="3358099" y="4279124"/>
            <a:ext cx="2516861" cy="1755238"/>
          </a:xfrm>
          <a:prstGeom prst="rect">
            <a:avLst/>
          </a:prstGeom>
        </p:spPr>
        <p:txBody>
          <a:bodyPr anchor="t">
            <a:noAutofit/>
          </a:bodyPr>
          <a:lstStyle>
            <a:lvl1pPr marL="0" indent="0" algn="l">
              <a:buNone/>
              <a:defRPr sz="15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dirty="0"/>
              <a:t>Keep your description under three lines of text</a:t>
            </a:r>
          </a:p>
        </p:txBody>
      </p:sp>
      <p:sp>
        <p:nvSpPr>
          <p:cNvPr id="31" name="Picture Placeholder 24">
            <a:extLst>
              <a:ext uri="{FF2B5EF4-FFF2-40B4-BE49-F238E27FC236}">
                <a16:creationId xmlns:a16="http://schemas.microsoft.com/office/drawing/2014/main" id="{7B0342ED-70BE-90A3-61AE-9A2D42729F42}"/>
              </a:ext>
            </a:extLst>
          </p:cNvPr>
          <p:cNvSpPr>
            <a:spLocks noGrp="1"/>
          </p:cNvSpPr>
          <p:nvPr>
            <p:ph type="pic" sz="quarter" idx="41" hasCustomPrompt="1"/>
          </p:nvPr>
        </p:nvSpPr>
        <p:spPr>
          <a:xfrm>
            <a:off x="3353529" y="3237247"/>
            <a:ext cx="365665"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32" name="Text Placeholder 23">
            <a:extLst>
              <a:ext uri="{FF2B5EF4-FFF2-40B4-BE49-F238E27FC236}">
                <a16:creationId xmlns:a16="http://schemas.microsoft.com/office/drawing/2014/main" id="{7DC6B249-9DE5-660E-0650-A0F2DF3B0C84}"/>
              </a:ext>
            </a:extLst>
          </p:cNvPr>
          <p:cNvSpPr>
            <a:spLocks noGrp="1"/>
          </p:cNvSpPr>
          <p:nvPr>
            <p:ph type="body" sz="quarter" idx="42" hasCustomPrompt="1"/>
          </p:nvPr>
        </p:nvSpPr>
        <p:spPr>
          <a:xfrm>
            <a:off x="6313864" y="3821924"/>
            <a:ext cx="2526004" cy="457200"/>
          </a:xfrm>
          <a:prstGeom prst="rect">
            <a:avLst/>
          </a:prstGeom>
        </p:spPr>
        <p:txBody>
          <a:bodyPr anchor="b" anchorCtr="0">
            <a:noAutofit/>
          </a:bodyPr>
          <a:lstStyle>
            <a:lvl1pPr marL="0" indent="0" algn="l">
              <a:buNone/>
              <a:defRPr sz="1799"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dirty="0"/>
              <a:t>Statement 3</a:t>
            </a:r>
          </a:p>
        </p:txBody>
      </p:sp>
      <p:sp>
        <p:nvSpPr>
          <p:cNvPr id="33" name="Text Placeholder 23">
            <a:extLst>
              <a:ext uri="{FF2B5EF4-FFF2-40B4-BE49-F238E27FC236}">
                <a16:creationId xmlns:a16="http://schemas.microsoft.com/office/drawing/2014/main" id="{394F6281-C0BE-89EE-B80A-B04ED0CF443B}"/>
              </a:ext>
            </a:extLst>
          </p:cNvPr>
          <p:cNvSpPr>
            <a:spLocks noGrp="1"/>
          </p:cNvSpPr>
          <p:nvPr>
            <p:ph type="body" sz="quarter" idx="43" hasCustomPrompt="1"/>
          </p:nvPr>
        </p:nvSpPr>
        <p:spPr>
          <a:xfrm>
            <a:off x="6313863" y="4279124"/>
            <a:ext cx="2526004" cy="1755238"/>
          </a:xfrm>
          <a:prstGeom prst="rect">
            <a:avLst/>
          </a:prstGeom>
        </p:spPr>
        <p:txBody>
          <a:bodyPr anchor="t">
            <a:noAutofit/>
          </a:bodyPr>
          <a:lstStyle>
            <a:lvl1pPr marL="0" indent="0" algn="l">
              <a:buNone/>
              <a:defRPr sz="15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dirty="0"/>
              <a:t>Keep your description under three lines of text</a:t>
            </a:r>
          </a:p>
        </p:txBody>
      </p:sp>
      <p:sp>
        <p:nvSpPr>
          <p:cNvPr id="34" name="Picture Placeholder 24">
            <a:extLst>
              <a:ext uri="{FF2B5EF4-FFF2-40B4-BE49-F238E27FC236}">
                <a16:creationId xmlns:a16="http://schemas.microsoft.com/office/drawing/2014/main" id="{DD98A046-8385-0A6F-8A11-D4E817912FFF}"/>
              </a:ext>
            </a:extLst>
          </p:cNvPr>
          <p:cNvSpPr>
            <a:spLocks noGrp="1"/>
          </p:cNvSpPr>
          <p:nvPr>
            <p:ph type="pic" sz="quarter" idx="44" hasCustomPrompt="1"/>
          </p:nvPr>
        </p:nvSpPr>
        <p:spPr>
          <a:xfrm>
            <a:off x="6313862" y="3237247"/>
            <a:ext cx="365665"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13" name="Text Placeholder 23">
            <a:extLst>
              <a:ext uri="{FF2B5EF4-FFF2-40B4-BE49-F238E27FC236}">
                <a16:creationId xmlns:a16="http://schemas.microsoft.com/office/drawing/2014/main" id="{C37644F5-D264-EB20-C4F0-BAF952390942}"/>
              </a:ext>
            </a:extLst>
          </p:cNvPr>
          <p:cNvSpPr>
            <a:spLocks noGrp="1"/>
          </p:cNvSpPr>
          <p:nvPr>
            <p:ph type="body" sz="quarter" idx="45" hasCustomPrompt="1"/>
          </p:nvPr>
        </p:nvSpPr>
        <p:spPr>
          <a:xfrm>
            <a:off x="9262016" y="3821924"/>
            <a:ext cx="2526004" cy="457200"/>
          </a:xfrm>
          <a:prstGeom prst="rect">
            <a:avLst/>
          </a:prstGeom>
        </p:spPr>
        <p:txBody>
          <a:bodyPr anchor="b" anchorCtr="0">
            <a:noAutofit/>
          </a:bodyPr>
          <a:lstStyle>
            <a:lvl1pPr marL="0" indent="0" algn="l">
              <a:buNone/>
              <a:defRPr sz="1799"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dirty="0"/>
              <a:t>Statement 4</a:t>
            </a:r>
          </a:p>
        </p:txBody>
      </p:sp>
      <p:sp>
        <p:nvSpPr>
          <p:cNvPr id="14" name="Text Placeholder 23">
            <a:extLst>
              <a:ext uri="{FF2B5EF4-FFF2-40B4-BE49-F238E27FC236}">
                <a16:creationId xmlns:a16="http://schemas.microsoft.com/office/drawing/2014/main" id="{020AFF99-F373-7F96-E7BD-B3B6429A71A5}"/>
              </a:ext>
            </a:extLst>
          </p:cNvPr>
          <p:cNvSpPr>
            <a:spLocks noGrp="1"/>
          </p:cNvSpPr>
          <p:nvPr>
            <p:ph type="body" sz="quarter" idx="46" hasCustomPrompt="1"/>
          </p:nvPr>
        </p:nvSpPr>
        <p:spPr>
          <a:xfrm>
            <a:off x="9262015" y="4279124"/>
            <a:ext cx="2526004" cy="1755238"/>
          </a:xfrm>
          <a:prstGeom prst="rect">
            <a:avLst/>
          </a:prstGeom>
        </p:spPr>
        <p:txBody>
          <a:bodyPr anchor="t">
            <a:noAutofit/>
          </a:bodyPr>
          <a:lstStyle>
            <a:lvl1pPr marL="0" indent="0" algn="l">
              <a:buNone/>
              <a:defRPr sz="1599" b="0" i="0">
                <a:solidFill>
                  <a:schemeClr val="bg2"/>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dirty="0"/>
              <a:t>Keep your description under three lines of text</a:t>
            </a:r>
          </a:p>
        </p:txBody>
      </p:sp>
      <p:sp>
        <p:nvSpPr>
          <p:cNvPr id="15" name="Picture Placeholder 24">
            <a:extLst>
              <a:ext uri="{FF2B5EF4-FFF2-40B4-BE49-F238E27FC236}">
                <a16:creationId xmlns:a16="http://schemas.microsoft.com/office/drawing/2014/main" id="{E9BDD8DA-CF01-DFB3-89FB-9EE0E4A43A98}"/>
              </a:ext>
            </a:extLst>
          </p:cNvPr>
          <p:cNvSpPr>
            <a:spLocks noGrp="1"/>
          </p:cNvSpPr>
          <p:nvPr>
            <p:ph type="pic" sz="quarter" idx="47" hasCustomPrompt="1"/>
          </p:nvPr>
        </p:nvSpPr>
        <p:spPr>
          <a:xfrm>
            <a:off x="9262014" y="3237247"/>
            <a:ext cx="365665"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2" name="Rectangle 1">
            <a:extLst>
              <a:ext uri="{FF2B5EF4-FFF2-40B4-BE49-F238E27FC236}">
                <a16:creationId xmlns:a16="http://schemas.microsoft.com/office/drawing/2014/main" id="{8C8F5E47-50D2-527B-99CA-752571C3771F}"/>
              </a:ext>
            </a:extLst>
          </p:cNvPr>
          <p:cNvSpPr/>
          <p:nvPr userDrawn="1"/>
        </p:nvSpPr>
        <p:spPr>
          <a:xfrm>
            <a:off x="-63" y="6437150"/>
            <a:ext cx="12188952"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DD29054-C6C3-52EA-5283-F98F09B0558E}"/>
              </a:ext>
            </a:extLst>
          </p:cNvPr>
          <p:cNvSpPr/>
          <p:nvPr userDrawn="1"/>
        </p:nvSpPr>
        <p:spPr>
          <a:xfrm>
            <a:off x="11781917" y="6455664"/>
            <a:ext cx="9144"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0BD6086B-0723-3E44-B2F1-85927BE9FA0D}"/>
              </a:ext>
              <a:ext uri="{C183D7F6-B498-43B3-948B-1728B52AA6E4}">
                <adec:decorative xmlns:adec="http://schemas.microsoft.com/office/drawing/2017/decorative" val="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859825" y="6530993"/>
            <a:ext cx="260299" cy="251679"/>
          </a:xfrm>
          <a:prstGeom prst="rect">
            <a:avLst/>
          </a:prstGeom>
        </p:spPr>
      </p:pic>
      <p:sp>
        <p:nvSpPr>
          <p:cNvPr id="11" name="Text Placeholder 13">
            <a:extLst>
              <a:ext uri="{FF2B5EF4-FFF2-40B4-BE49-F238E27FC236}">
                <a16:creationId xmlns:a16="http://schemas.microsoft.com/office/drawing/2014/main" id="{5A9DC251-A9D7-1A21-F3BA-A1BB79C7B231}"/>
              </a:ext>
            </a:extLst>
          </p:cNvPr>
          <p:cNvSpPr>
            <a:spLocks noGrp="1"/>
          </p:cNvSpPr>
          <p:nvPr>
            <p:ph type="body" sz="quarter" idx="35" hasCustomPrompt="1"/>
          </p:nvPr>
        </p:nvSpPr>
        <p:spPr>
          <a:xfrm>
            <a:off x="188913" y="6595277"/>
            <a:ext cx="11495038"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dirty="0"/>
              <a:t>OPTIONAL</a:t>
            </a:r>
          </a:p>
        </p:txBody>
      </p:sp>
      <p:sp>
        <p:nvSpPr>
          <p:cNvPr id="7" name="Text Placeholder 6">
            <a:extLst>
              <a:ext uri="{FF2B5EF4-FFF2-40B4-BE49-F238E27FC236}">
                <a16:creationId xmlns:a16="http://schemas.microsoft.com/office/drawing/2014/main" id="{08F0C006-9B14-13E3-D4C5-9398BEEB4AC8}"/>
              </a:ext>
            </a:extLst>
          </p:cNvPr>
          <p:cNvSpPr>
            <a:spLocks noGrp="1"/>
          </p:cNvSpPr>
          <p:nvPr>
            <p:ph type="body" sz="quarter" idx="48" hasCustomPrompt="1"/>
          </p:nvPr>
        </p:nvSpPr>
        <p:spPr>
          <a:xfrm>
            <a:off x="402337" y="796205"/>
            <a:ext cx="11384280" cy="2029968"/>
          </a:xfrm>
          <a:prstGeom prst="rect">
            <a:avLst/>
          </a:prstGeom>
        </p:spPr>
        <p:txBody>
          <a:bodyPr lIns="0" tIns="0" rIns="0" bIns="0"/>
          <a:lstStyle>
            <a:lvl1pPr>
              <a:defRPr sz="4800">
                <a:latin typeface="+mj-lt"/>
              </a:defRPr>
            </a:lvl1pPr>
          </a:lstStyle>
          <a:p>
            <a:pPr lvl="0"/>
            <a:r>
              <a:rPr lang="en-US" dirty="0"/>
              <a:t>Title should be less than 10 words</a:t>
            </a:r>
          </a:p>
        </p:txBody>
      </p:sp>
    </p:spTree>
    <p:extLst>
      <p:ext uri="{BB962C8B-B14F-4D97-AF65-F5344CB8AC3E}">
        <p14:creationId xmlns:p14="http://schemas.microsoft.com/office/powerpoint/2010/main" val="2788779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plash page">
    <p:bg>
      <p:bgPr>
        <a:solidFill>
          <a:srgbClr val="000000"/>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6B51AF43-7AB0-2E05-EB29-4D286FDA9335}"/>
              </a:ext>
            </a:extLst>
          </p:cNvPr>
          <p:cNvPicPr>
            <a:picLocks noChangeAspect="1"/>
          </p:cNvPicPr>
          <p:nvPr/>
        </p:nvPicPr>
        <p:blipFill>
          <a:blip r:embed="rId2"/>
          <a:srcRect/>
          <a:stretch/>
        </p:blipFill>
        <p:spPr>
          <a:xfrm>
            <a:off x="7325" y="5013"/>
            <a:ext cx="12174173" cy="6847972"/>
          </a:xfrm>
          <a:prstGeom prst="rect">
            <a:avLst/>
          </a:prstGeom>
        </p:spPr>
      </p:pic>
      <p:pic>
        <p:nvPicPr>
          <p:cNvPr id="5" name="Graphic 4">
            <a:extLst>
              <a:ext uri="{FF2B5EF4-FFF2-40B4-BE49-F238E27FC236}">
                <a16:creationId xmlns:a16="http://schemas.microsoft.com/office/drawing/2014/main" id="{7ABDC8CC-7999-BC56-DE41-5B1B72F3267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231441" y="2577853"/>
            <a:ext cx="1725937" cy="1702295"/>
          </a:xfrm>
          <a:prstGeom prst="rect">
            <a:avLst/>
          </a:prstGeom>
        </p:spPr>
      </p:pic>
    </p:spTree>
    <p:extLst>
      <p:ext uri="{BB962C8B-B14F-4D97-AF65-F5344CB8AC3E}">
        <p14:creationId xmlns:p14="http://schemas.microsoft.com/office/powerpoint/2010/main" val="375134512"/>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Blank entire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758502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10141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137ACEC-E46E-293E-1C28-107DE99BD8F7}"/>
              </a:ext>
              <a:ext uri="{C183D7F6-B498-43B3-948B-1728B52AA6E4}">
                <adec:decorative xmlns:adec="http://schemas.microsoft.com/office/drawing/2017/decorative" val="1"/>
              </a:ext>
            </a:extLst>
          </p:cNvPr>
          <p:cNvGrpSpPr>
            <a:grpSpLocks noChangeAspect="1"/>
          </p:cNvGrpSpPr>
          <p:nvPr userDrawn="1"/>
        </p:nvGrpSpPr>
        <p:grpSpPr>
          <a:xfrm>
            <a:off x="12287636" y="0"/>
            <a:ext cx="2842191" cy="6858000"/>
            <a:chOff x="12325985" y="0"/>
            <a:chExt cx="4758055" cy="5486369"/>
          </a:xfrm>
        </p:grpSpPr>
        <p:grpSp>
          <p:nvGrpSpPr>
            <p:cNvPr id="3" name="Group 2">
              <a:extLst>
                <a:ext uri="{FF2B5EF4-FFF2-40B4-BE49-F238E27FC236}">
                  <a16:creationId xmlns:a16="http://schemas.microsoft.com/office/drawing/2014/main" id="{6C3B99B0-5CE7-0658-2C6A-097F21D37B91}"/>
                </a:ext>
              </a:extLst>
            </p:cNvPr>
            <p:cNvGrpSpPr/>
            <p:nvPr userDrawn="1"/>
          </p:nvGrpSpPr>
          <p:grpSpPr>
            <a:xfrm>
              <a:off x="12325986" y="1371595"/>
              <a:ext cx="4757228" cy="685799"/>
              <a:chOff x="12325986" y="1714511"/>
              <a:chExt cx="4757228" cy="685799"/>
            </a:xfrm>
          </p:grpSpPr>
          <p:sp>
            <p:nvSpPr>
              <p:cNvPr id="49" name="Rectangle 48">
                <a:extLst>
                  <a:ext uri="{FF2B5EF4-FFF2-40B4-BE49-F238E27FC236}">
                    <a16:creationId xmlns:a16="http://schemas.microsoft.com/office/drawing/2014/main" id="{5D375712-73D7-A53E-FB68-8D5A0707EF48}"/>
                  </a:ext>
                </a:extLst>
              </p:cNvPr>
              <p:cNvSpPr>
                <a:spLocks/>
              </p:cNvSpPr>
              <p:nvPr/>
            </p:nvSpPr>
            <p:spPr>
              <a:xfrm>
                <a:off x="12325986" y="1714511"/>
                <a:ext cx="792779" cy="6857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br>
                  <a:rPr lang="en-US" sz="500" dirty="0">
                    <a:solidFill>
                      <a:schemeClr val="bg1"/>
                    </a:solidFill>
                    <a:latin typeface="Mona Sans" pitchFamily="2" charset="77"/>
                  </a:rPr>
                </a:br>
                <a:r>
                  <a:rPr lang="en-US" sz="500" dirty="0">
                    <a:solidFill>
                      <a:schemeClr val="bg1"/>
                    </a:solidFill>
                    <a:latin typeface="Mona Sans" pitchFamily="2" charset="77"/>
                  </a:rPr>
                  <a:t>Green 1</a:t>
                </a:r>
                <a:br>
                  <a:rPr lang="en-US" sz="500" dirty="0">
                    <a:solidFill>
                      <a:schemeClr val="bg1"/>
                    </a:solidFill>
                    <a:latin typeface="Mona Sans" pitchFamily="2" charset="77"/>
                  </a:rPr>
                </a:br>
                <a:r>
                  <a:rPr lang="en-US" sz="500" dirty="0">
                    <a:solidFill>
                      <a:schemeClr val="bg1"/>
                    </a:solidFill>
                    <a:latin typeface="Mona Sans" pitchFamily="2" charset="77"/>
                  </a:rPr>
                  <a:t>#BFFFD1</a:t>
                </a:r>
              </a:p>
            </p:txBody>
          </p:sp>
          <p:sp>
            <p:nvSpPr>
              <p:cNvPr id="50" name="Rectangle 49">
                <a:extLst>
                  <a:ext uri="{FF2B5EF4-FFF2-40B4-BE49-F238E27FC236}">
                    <a16:creationId xmlns:a16="http://schemas.microsoft.com/office/drawing/2014/main" id="{F5DC487E-9F59-30EE-0000-AD0D99183346}"/>
                  </a:ext>
                </a:extLst>
              </p:cNvPr>
              <p:cNvSpPr>
                <a:spLocks/>
              </p:cNvSpPr>
              <p:nvPr/>
            </p:nvSpPr>
            <p:spPr>
              <a:xfrm>
                <a:off x="13119317" y="1714511"/>
                <a:ext cx="792779" cy="685799"/>
              </a:xfrm>
              <a:prstGeom prst="rect">
                <a:avLst/>
              </a:prstGeom>
              <a:solidFill>
                <a:srgbClr val="8BF1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endParaRPr lang="en-US" sz="500" b="1" dirty="0">
                  <a:solidFill>
                    <a:schemeClr val="tx1"/>
                  </a:solidFill>
                  <a:latin typeface="Mona Sans" pitchFamily="2" charset="77"/>
                </a:endParaRPr>
              </a:p>
              <a:p>
                <a:r>
                  <a:rPr lang="en-US" sz="500" dirty="0">
                    <a:solidFill>
                      <a:schemeClr val="bg1"/>
                    </a:solidFill>
                    <a:latin typeface="Mona Sans" pitchFamily="2" charset="77"/>
                  </a:rPr>
                  <a:t>Green 2</a:t>
                </a:r>
                <a:br>
                  <a:rPr lang="en-US" sz="500" dirty="0">
                    <a:solidFill>
                      <a:schemeClr val="bg1"/>
                    </a:solidFill>
                    <a:latin typeface="Mona Sans" pitchFamily="2" charset="77"/>
                  </a:rPr>
                </a:br>
                <a:r>
                  <a:rPr lang="en-US" sz="500" dirty="0">
                    <a:solidFill>
                      <a:schemeClr val="bg1"/>
                    </a:solidFill>
                    <a:latin typeface="Mona Sans" pitchFamily="2" charset="77"/>
                  </a:rPr>
                  <a:t>#8CF2A9</a:t>
                </a:r>
              </a:p>
            </p:txBody>
          </p:sp>
          <p:sp>
            <p:nvSpPr>
              <p:cNvPr id="51" name="Rectangle 50">
                <a:extLst>
                  <a:ext uri="{FF2B5EF4-FFF2-40B4-BE49-F238E27FC236}">
                    <a16:creationId xmlns:a16="http://schemas.microsoft.com/office/drawing/2014/main" id="{BFF2CF48-C6A9-BC65-BE87-A3D95A85C89C}"/>
                  </a:ext>
                </a:extLst>
              </p:cNvPr>
              <p:cNvSpPr>
                <a:spLocks/>
              </p:cNvSpPr>
              <p:nvPr/>
            </p:nvSpPr>
            <p:spPr>
              <a:xfrm>
                <a:off x="13912096" y="1714511"/>
                <a:ext cx="792779" cy="68579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endParaRPr lang="en-US" sz="500" b="1" dirty="0">
                  <a:solidFill>
                    <a:schemeClr val="tx1"/>
                  </a:solidFill>
                  <a:latin typeface="Mona Sans" pitchFamily="2" charset="77"/>
                </a:endParaRPr>
              </a:p>
              <a:p>
                <a:r>
                  <a:rPr lang="en-US" sz="500" dirty="0">
                    <a:solidFill>
                      <a:schemeClr val="bg1"/>
                    </a:solidFill>
                    <a:latin typeface="Mona Sans" pitchFamily="2" charset="77"/>
                  </a:rPr>
                  <a:t>Green 3</a:t>
                </a:r>
                <a:br>
                  <a:rPr lang="en-US" sz="500" dirty="0">
                    <a:solidFill>
                      <a:schemeClr val="bg1"/>
                    </a:solidFill>
                    <a:latin typeface="Mona Sans" pitchFamily="2" charset="77"/>
                  </a:rPr>
                </a:br>
                <a:r>
                  <a:rPr lang="en-US" sz="500" dirty="0">
                    <a:solidFill>
                      <a:schemeClr val="bg1"/>
                    </a:solidFill>
                    <a:latin typeface="Mona Sans" pitchFamily="2" charset="77"/>
                  </a:rPr>
                  <a:t>#5FED83</a:t>
                </a:r>
              </a:p>
            </p:txBody>
          </p:sp>
          <p:sp>
            <p:nvSpPr>
              <p:cNvPr id="52" name="Rectangle 51">
                <a:extLst>
                  <a:ext uri="{FF2B5EF4-FFF2-40B4-BE49-F238E27FC236}">
                    <a16:creationId xmlns:a16="http://schemas.microsoft.com/office/drawing/2014/main" id="{DC0BE3A4-2891-6AAE-079E-D8A6BAE7CD38}"/>
                  </a:ext>
                </a:extLst>
              </p:cNvPr>
              <p:cNvSpPr>
                <a:spLocks/>
              </p:cNvSpPr>
              <p:nvPr/>
            </p:nvSpPr>
            <p:spPr>
              <a:xfrm>
                <a:off x="14704876" y="1714511"/>
                <a:ext cx="792779" cy="685799"/>
              </a:xfrm>
              <a:prstGeom prst="rect">
                <a:avLst/>
              </a:prstGeom>
              <a:solidFill>
                <a:srgbClr val="0FBF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r>
                  <a:rPr lang="en-US" sz="1000" b="1" dirty="0">
                    <a:latin typeface="Mona Sans" pitchFamily="2" charset="77"/>
                  </a:rPr>
                  <a:t>A</a:t>
                </a:r>
                <a:endParaRPr lang="en-US" sz="500" b="1" dirty="0">
                  <a:latin typeface="Mona Sans" pitchFamily="2" charset="77"/>
                </a:endParaRPr>
              </a:p>
              <a:p>
                <a:r>
                  <a:rPr lang="en-US" sz="500" dirty="0">
                    <a:solidFill>
                      <a:schemeClr val="bg1"/>
                    </a:solidFill>
                    <a:latin typeface="Mona Sans" pitchFamily="2" charset="77"/>
                  </a:rPr>
                  <a:t>Green 4</a:t>
                </a:r>
                <a:br>
                  <a:rPr lang="en-US" sz="500" dirty="0">
                    <a:solidFill>
                      <a:schemeClr val="bg1"/>
                    </a:solidFill>
                    <a:latin typeface="Mona Sans" pitchFamily="2" charset="77"/>
                  </a:rPr>
                </a:br>
                <a:r>
                  <a:rPr lang="en-US" sz="500" dirty="0">
                    <a:solidFill>
                      <a:schemeClr val="bg1"/>
                    </a:solidFill>
                    <a:latin typeface="Mona Sans" pitchFamily="2" charset="77"/>
                  </a:rPr>
                  <a:t>#0FBF3E</a:t>
                </a:r>
              </a:p>
            </p:txBody>
          </p:sp>
          <p:sp>
            <p:nvSpPr>
              <p:cNvPr id="53" name="Rectangle 52">
                <a:extLst>
                  <a:ext uri="{FF2B5EF4-FFF2-40B4-BE49-F238E27FC236}">
                    <a16:creationId xmlns:a16="http://schemas.microsoft.com/office/drawing/2014/main" id="{C3E3DE6D-5949-42B6-FBFC-9508B298DC95}"/>
                  </a:ext>
                </a:extLst>
              </p:cNvPr>
              <p:cNvSpPr>
                <a:spLocks/>
              </p:cNvSpPr>
              <p:nvPr/>
            </p:nvSpPr>
            <p:spPr>
              <a:xfrm>
                <a:off x="15497655" y="1714511"/>
                <a:ext cx="792779" cy="685799"/>
              </a:xfrm>
              <a:prstGeom prst="rect">
                <a:avLst/>
              </a:prstGeom>
              <a:solidFill>
                <a:srgbClr val="0E68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tx1"/>
                    </a:solidFill>
                    <a:latin typeface="Mona Sans" pitchFamily="2" charset="77"/>
                  </a:rPr>
                  <a:t>A</a:t>
                </a:r>
                <a:endParaRPr lang="en-US" sz="500" b="1" dirty="0">
                  <a:solidFill>
                    <a:schemeClr val="tx1"/>
                  </a:solidFill>
                  <a:latin typeface="Mona Sans" pitchFamily="2" charset="77"/>
                </a:endParaRPr>
              </a:p>
              <a:p>
                <a:r>
                  <a:rPr lang="en-US" sz="500" dirty="0">
                    <a:solidFill>
                      <a:schemeClr val="tx1"/>
                    </a:solidFill>
                    <a:latin typeface="Mona Sans" pitchFamily="2" charset="77"/>
                  </a:rPr>
                  <a:t>Green 5</a:t>
                </a:r>
                <a:br>
                  <a:rPr lang="en-US" sz="500" dirty="0">
                    <a:solidFill>
                      <a:schemeClr val="tx1"/>
                    </a:solidFill>
                    <a:latin typeface="Mona Sans" pitchFamily="2" charset="77"/>
                  </a:rPr>
                </a:br>
                <a:r>
                  <a:rPr lang="en-US" sz="500" dirty="0">
                    <a:solidFill>
                      <a:schemeClr val="tx1"/>
                    </a:solidFill>
                    <a:latin typeface="Mona Sans" pitchFamily="2" charset="77"/>
                  </a:rPr>
                  <a:t>#0E6836</a:t>
                </a:r>
              </a:p>
            </p:txBody>
          </p:sp>
          <p:sp>
            <p:nvSpPr>
              <p:cNvPr id="54" name="Rectangle 53">
                <a:extLst>
                  <a:ext uri="{FF2B5EF4-FFF2-40B4-BE49-F238E27FC236}">
                    <a16:creationId xmlns:a16="http://schemas.microsoft.com/office/drawing/2014/main" id="{8E635916-8F88-6936-B97D-EC16A9B5D233}"/>
                  </a:ext>
                </a:extLst>
              </p:cNvPr>
              <p:cNvSpPr>
                <a:spLocks/>
              </p:cNvSpPr>
              <p:nvPr/>
            </p:nvSpPr>
            <p:spPr>
              <a:xfrm>
                <a:off x="16290435" y="1714511"/>
                <a:ext cx="792779" cy="685799"/>
              </a:xfrm>
              <a:prstGeom prst="rect">
                <a:avLst/>
              </a:prstGeom>
              <a:solidFill>
                <a:srgbClr val="0A24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tx1"/>
                    </a:solidFill>
                    <a:latin typeface="Mona Sans" pitchFamily="2" charset="77"/>
                  </a:rPr>
                  <a:t>A</a:t>
                </a:r>
                <a:endParaRPr lang="en-US" sz="500" b="1" dirty="0">
                  <a:solidFill>
                    <a:schemeClr val="tx1"/>
                  </a:solidFill>
                  <a:latin typeface="Mona Sans" pitchFamily="2" charset="77"/>
                </a:endParaRPr>
              </a:p>
              <a:p>
                <a:r>
                  <a:rPr lang="en-US" sz="500" dirty="0">
                    <a:solidFill>
                      <a:schemeClr val="tx1"/>
                    </a:solidFill>
                    <a:latin typeface="Mona Sans" pitchFamily="2" charset="77"/>
                  </a:rPr>
                  <a:t>Green 6</a:t>
                </a:r>
                <a:br>
                  <a:rPr lang="en-US" sz="500" dirty="0">
                    <a:solidFill>
                      <a:schemeClr val="tx1"/>
                    </a:solidFill>
                    <a:latin typeface="Mona Sans" pitchFamily="2" charset="77"/>
                  </a:rPr>
                </a:br>
                <a:r>
                  <a:rPr lang="en-US" sz="500" dirty="0">
                    <a:solidFill>
                      <a:schemeClr val="tx1"/>
                    </a:solidFill>
                    <a:latin typeface="Mona Sans" pitchFamily="2" charset="77"/>
                  </a:rPr>
                  <a:t>#0A241B</a:t>
                </a:r>
              </a:p>
            </p:txBody>
          </p:sp>
        </p:grpSp>
        <p:grpSp>
          <p:nvGrpSpPr>
            <p:cNvPr id="4" name="Group 3">
              <a:extLst>
                <a:ext uri="{FF2B5EF4-FFF2-40B4-BE49-F238E27FC236}">
                  <a16:creationId xmlns:a16="http://schemas.microsoft.com/office/drawing/2014/main" id="{E3EFD9FC-A2E2-584B-E49E-CDE7C33D087F}"/>
                </a:ext>
              </a:extLst>
            </p:cNvPr>
            <p:cNvGrpSpPr/>
            <p:nvPr userDrawn="1"/>
          </p:nvGrpSpPr>
          <p:grpSpPr>
            <a:xfrm>
              <a:off x="12325986" y="2057390"/>
              <a:ext cx="4757228" cy="685799"/>
              <a:chOff x="12325986" y="2571764"/>
              <a:chExt cx="4757228" cy="685799"/>
            </a:xfrm>
          </p:grpSpPr>
          <p:sp>
            <p:nvSpPr>
              <p:cNvPr id="43" name="Rectangle 42">
                <a:extLst>
                  <a:ext uri="{FF2B5EF4-FFF2-40B4-BE49-F238E27FC236}">
                    <a16:creationId xmlns:a16="http://schemas.microsoft.com/office/drawing/2014/main" id="{F63ED85F-87C1-BF54-4E56-D42B3CFA067D}"/>
                  </a:ext>
                </a:extLst>
              </p:cNvPr>
              <p:cNvSpPr>
                <a:spLocks/>
              </p:cNvSpPr>
              <p:nvPr/>
            </p:nvSpPr>
            <p:spPr>
              <a:xfrm>
                <a:off x="12325986" y="2571764"/>
                <a:ext cx="792779" cy="685799"/>
              </a:xfrm>
              <a:prstGeom prst="rect">
                <a:avLst/>
              </a:prstGeom>
              <a:solidFill>
                <a:srgbClr val="FFC9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br>
                  <a:rPr lang="en-US" sz="500" dirty="0">
                    <a:solidFill>
                      <a:schemeClr val="bg1"/>
                    </a:solidFill>
                    <a:latin typeface="Mona Sans" pitchFamily="2" charset="77"/>
                  </a:rPr>
                </a:br>
                <a:r>
                  <a:rPr lang="en-US" sz="500" dirty="0">
                    <a:solidFill>
                      <a:schemeClr val="bg1"/>
                    </a:solidFill>
                    <a:latin typeface="Mona Sans" pitchFamily="2" charset="77"/>
                  </a:rPr>
                  <a:t>Pink 1</a:t>
                </a:r>
                <a:br>
                  <a:rPr lang="en-US" sz="500" dirty="0">
                    <a:solidFill>
                      <a:schemeClr val="bg1"/>
                    </a:solidFill>
                    <a:latin typeface="Mona Sans" pitchFamily="2" charset="77"/>
                  </a:rPr>
                </a:br>
                <a:r>
                  <a:rPr lang="en-US" sz="500" dirty="0">
                    <a:solidFill>
                      <a:schemeClr val="bg1"/>
                    </a:solidFill>
                    <a:latin typeface="Mona Sans" pitchFamily="2" charset="77"/>
                  </a:rPr>
                  <a:t>#FFC9F2</a:t>
                </a:r>
              </a:p>
            </p:txBody>
          </p:sp>
          <p:sp>
            <p:nvSpPr>
              <p:cNvPr id="44" name="Rectangle 43">
                <a:extLst>
                  <a:ext uri="{FF2B5EF4-FFF2-40B4-BE49-F238E27FC236}">
                    <a16:creationId xmlns:a16="http://schemas.microsoft.com/office/drawing/2014/main" id="{7F0EE851-EF0E-3D5F-28D7-75118B0550DD}"/>
                  </a:ext>
                </a:extLst>
              </p:cNvPr>
              <p:cNvSpPr>
                <a:spLocks/>
              </p:cNvSpPr>
              <p:nvPr/>
            </p:nvSpPr>
            <p:spPr>
              <a:xfrm>
                <a:off x="13119317" y="2571764"/>
                <a:ext cx="792779" cy="685799"/>
              </a:xfrm>
              <a:prstGeom prst="rect">
                <a:avLst/>
              </a:prstGeom>
              <a:solidFill>
                <a:srgbClr val="FF80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endParaRPr lang="en-US" sz="500" b="1" dirty="0">
                  <a:solidFill>
                    <a:schemeClr val="bg1"/>
                  </a:solidFill>
                  <a:latin typeface="Mona Sans" pitchFamily="2" charset="77"/>
                </a:endParaRPr>
              </a:p>
              <a:p>
                <a:r>
                  <a:rPr lang="en-US" sz="500" dirty="0">
                    <a:solidFill>
                      <a:schemeClr val="bg1"/>
                    </a:solidFill>
                    <a:latin typeface="Mona Sans" pitchFamily="2" charset="77"/>
                  </a:rPr>
                  <a:t>Pink 2</a:t>
                </a:r>
                <a:br>
                  <a:rPr lang="en-US" sz="500" dirty="0">
                    <a:solidFill>
                      <a:schemeClr val="bg1"/>
                    </a:solidFill>
                    <a:latin typeface="Mona Sans" pitchFamily="2" charset="77"/>
                  </a:rPr>
                </a:br>
                <a:r>
                  <a:rPr lang="en-US" sz="500" dirty="0">
                    <a:solidFill>
                      <a:schemeClr val="bg1"/>
                    </a:solidFill>
                    <a:latin typeface="Mona Sans" pitchFamily="2" charset="77"/>
                  </a:rPr>
                  <a:t>#FF80D2</a:t>
                </a:r>
              </a:p>
            </p:txBody>
          </p:sp>
          <p:sp>
            <p:nvSpPr>
              <p:cNvPr id="45" name="Rectangle 44">
                <a:extLst>
                  <a:ext uri="{FF2B5EF4-FFF2-40B4-BE49-F238E27FC236}">
                    <a16:creationId xmlns:a16="http://schemas.microsoft.com/office/drawing/2014/main" id="{24DB71BC-5CCC-DDBC-5B82-44CA1E93E1F3}"/>
                  </a:ext>
                </a:extLst>
              </p:cNvPr>
              <p:cNvSpPr>
                <a:spLocks/>
              </p:cNvSpPr>
              <p:nvPr/>
            </p:nvSpPr>
            <p:spPr>
              <a:xfrm>
                <a:off x="13912096" y="2571764"/>
                <a:ext cx="792779" cy="685799"/>
              </a:xfrm>
              <a:prstGeom prst="rect">
                <a:avLst/>
              </a:prstGeom>
              <a:solidFill>
                <a:srgbClr val="FF4A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endParaRPr lang="en-US" sz="500" b="1" dirty="0">
                  <a:solidFill>
                    <a:schemeClr val="tx1"/>
                  </a:solidFill>
                  <a:latin typeface="Mona Sans" pitchFamily="2" charset="77"/>
                </a:endParaRPr>
              </a:p>
              <a:p>
                <a:r>
                  <a:rPr lang="en-US" sz="500" dirty="0">
                    <a:solidFill>
                      <a:schemeClr val="bg1"/>
                    </a:solidFill>
                    <a:latin typeface="Mona Sans" pitchFamily="2" charset="77"/>
                  </a:rPr>
                  <a:t>Pink 3</a:t>
                </a:r>
                <a:br>
                  <a:rPr lang="en-US" sz="500" dirty="0">
                    <a:solidFill>
                      <a:schemeClr val="bg1"/>
                    </a:solidFill>
                    <a:latin typeface="Mona Sans" pitchFamily="2" charset="77"/>
                  </a:rPr>
                </a:br>
                <a:r>
                  <a:rPr lang="en-US" sz="500" dirty="0">
                    <a:solidFill>
                      <a:schemeClr val="bg1"/>
                    </a:solidFill>
                    <a:latin typeface="Mona Sans" pitchFamily="2" charset="77"/>
                  </a:rPr>
                  <a:t>#FF4AC0</a:t>
                </a:r>
              </a:p>
            </p:txBody>
          </p:sp>
          <p:sp>
            <p:nvSpPr>
              <p:cNvPr id="46" name="Rectangle 45">
                <a:extLst>
                  <a:ext uri="{FF2B5EF4-FFF2-40B4-BE49-F238E27FC236}">
                    <a16:creationId xmlns:a16="http://schemas.microsoft.com/office/drawing/2014/main" id="{BF91F026-1E0D-92D5-DCD2-34951D2FE224}"/>
                  </a:ext>
                </a:extLst>
              </p:cNvPr>
              <p:cNvSpPr>
                <a:spLocks/>
              </p:cNvSpPr>
              <p:nvPr/>
            </p:nvSpPr>
            <p:spPr>
              <a:xfrm>
                <a:off x="14704876" y="2571764"/>
                <a:ext cx="792779" cy="685799"/>
              </a:xfrm>
              <a:prstGeom prst="rect">
                <a:avLst/>
              </a:prstGeom>
              <a:solidFill>
                <a:srgbClr val="CA21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r>
                  <a:rPr lang="en-US" sz="1000" b="1" dirty="0">
                    <a:latin typeface="Mona Sans" pitchFamily="2" charset="77"/>
                  </a:rPr>
                  <a:t>A</a:t>
                </a:r>
                <a:endParaRPr lang="en-US" sz="500" b="1" dirty="0">
                  <a:latin typeface="Mona Sans" pitchFamily="2" charset="77"/>
                </a:endParaRPr>
              </a:p>
              <a:p>
                <a:r>
                  <a:rPr lang="en-US" sz="500" dirty="0">
                    <a:latin typeface="Mona Sans" pitchFamily="2" charset="77"/>
                  </a:rPr>
                  <a:t>Pink 4</a:t>
                </a:r>
                <a:br>
                  <a:rPr lang="en-US" sz="500" dirty="0">
                    <a:latin typeface="Mona Sans" pitchFamily="2" charset="77"/>
                  </a:rPr>
                </a:br>
                <a:r>
                  <a:rPr lang="en-US" sz="500" dirty="0">
                    <a:latin typeface="Mona Sans" pitchFamily="2" charset="77"/>
                  </a:rPr>
                  <a:t>#CA2186</a:t>
                </a:r>
              </a:p>
            </p:txBody>
          </p:sp>
          <p:sp>
            <p:nvSpPr>
              <p:cNvPr id="47" name="Rectangle 46">
                <a:extLst>
                  <a:ext uri="{FF2B5EF4-FFF2-40B4-BE49-F238E27FC236}">
                    <a16:creationId xmlns:a16="http://schemas.microsoft.com/office/drawing/2014/main" id="{C503756C-F41C-33F2-59F9-D0C72447BD29}"/>
                  </a:ext>
                </a:extLst>
              </p:cNvPr>
              <p:cNvSpPr>
                <a:spLocks/>
              </p:cNvSpPr>
              <p:nvPr/>
            </p:nvSpPr>
            <p:spPr>
              <a:xfrm>
                <a:off x="15497655" y="2571764"/>
                <a:ext cx="792779" cy="685799"/>
              </a:xfrm>
              <a:prstGeom prst="rect">
                <a:avLst/>
              </a:prstGeom>
              <a:solidFill>
                <a:srgbClr val="9528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tx1"/>
                    </a:solidFill>
                    <a:latin typeface="Mona Sans" pitchFamily="2" charset="77"/>
                  </a:rPr>
                  <a:t>A</a:t>
                </a:r>
                <a:endParaRPr lang="en-US" sz="500" b="1" dirty="0">
                  <a:solidFill>
                    <a:schemeClr val="tx1"/>
                  </a:solidFill>
                  <a:latin typeface="Mona Sans" pitchFamily="2" charset="77"/>
                </a:endParaRPr>
              </a:p>
              <a:p>
                <a:r>
                  <a:rPr lang="en-US" sz="500" dirty="0">
                    <a:solidFill>
                      <a:schemeClr val="tx1"/>
                    </a:solidFill>
                    <a:latin typeface="Mona Sans" pitchFamily="2" charset="77"/>
                  </a:rPr>
                  <a:t>Pink 5</a:t>
                </a:r>
                <a:br>
                  <a:rPr lang="en-US" sz="500" dirty="0">
                    <a:solidFill>
                      <a:schemeClr val="tx1"/>
                    </a:solidFill>
                    <a:latin typeface="Mona Sans" pitchFamily="2" charset="77"/>
                  </a:rPr>
                </a:br>
                <a:r>
                  <a:rPr lang="en-US" sz="500" dirty="0">
                    <a:solidFill>
                      <a:schemeClr val="tx1"/>
                    </a:solidFill>
                    <a:latin typeface="Mona Sans" pitchFamily="2" charset="77"/>
                  </a:rPr>
                  <a:t>#952866</a:t>
                </a:r>
              </a:p>
            </p:txBody>
          </p:sp>
          <p:sp>
            <p:nvSpPr>
              <p:cNvPr id="48" name="Rectangle 47">
                <a:extLst>
                  <a:ext uri="{FF2B5EF4-FFF2-40B4-BE49-F238E27FC236}">
                    <a16:creationId xmlns:a16="http://schemas.microsoft.com/office/drawing/2014/main" id="{C6AD0DF7-5298-B0EA-2231-B573C49B5A97}"/>
                  </a:ext>
                </a:extLst>
              </p:cNvPr>
              <p:cNvSpPr>
                <a:spLocks/>
              </p:cNvSpPr>
              <p:nvPr/>
            </p:nvSpPr>
            <p:spPr>
              <a:xfrm>
                <a:off x="16290435" y="2571764"/>
                <a:ext cx="792779" cy="685799"/>
              </a:xfrm>
              <a:prstGeom prst="rect">
                <a:avLst/>
              </a:prstGeom>
              <a:solidFill>
                <a:srgbClr val="3008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tx1"/>
                    </a:solidFill>
                    <a:latin typeface="Mona Sans" pitchFamily="2" charset="77"/>
                  </a:rPr>
                  <a:t>A</a:t>
                </a:r>
                <a:endParaRPr lang="en-US" sz="500" b="1" dirty="0">
                  <a:solidFill>
                    <a:schemeClr val="tx1"/>
                  </a:solidFill>
                  <a:latin typeface="Mona Sans" pitchFamily="2" charset="77"/>
                </a:endParaRPr>
              </a:p>
              <a:p>
                <a:r>
                  <a:rPr lang="en-US" sz="500" dirty="0">
                    <a:solidFill>
                      <a:schemeClr val="tx1"/>
                    </a:solidFill>
                    <a:latin typeface="Mona Sans" pitchFamily="2" charset="77"/>
                  </a:rPr>
                  <a:t>Pink 6</a:t>
                </a:r>
                <a:br>
                  <a:rPr lang="en-US" sz="500" dirty="0">
                    <a:solidFill>
                      <a:schemeClr val="tx1"/>
                    </a:solidFill>
                    <a:latin typeface="Mona Sans" pitchFamily="2" charset="77"/>
                  </a:rPr>
                </a:br>
                <a:r>
                  <a:rPr lang="en-US" sz="500" dirty="0">
                    <a:solidFill>
                      <a:schemeClr val="tx1"/>
                    </a:solidFill>
                    <a:latin typeface="Mona Sans" pitchFamily="2" charset="77"/>
                  </a:rPr>
                  <a:t>#30081F</a:t>
                </a:r>
              </a:p>
            </p:txBody>
          </p:sp>
        </p:grpSp>
        <p:grpSp>
          <p:nvGrpSpPr>
            <p:cNvPr id="5" name="Group 4">
              <a:extLst>
                <a:ext uri="{FF2B5EF4-FFF2-40B4-BE49-F238E27FC236}">
                  <a16:creationId xmlns:a16="http://schemas.microsoft.com/office/drawing/2014/main" id="{F681B580-3D4B-52A6-F730-0C3DE50F9AA1}"/>
                </a:ext>
              </a:extLst>
            </p:cNvPr>
            <p:cNvGrpSpPr/>
            <p:nvPr userDrawn="1"/>
          </p:nvGrpSpPr>
          <p:grpSpPr>
            <a:xfrm>
              <a:off x="12325986" y="2743185"/>
              <a:ext cx="4757228" cy="685799"/>
              <a:chOff x="12325986" y="3429012"/>
              <a:chExt cx="4757228" cy="685799"/>
            </a:xfrm>
          </p:grpSpPr>
          <p:sp>
            <p:nvSpPr>
              <p:cNvPr id="37" name="Rectangle 36">
                <a:extLst>
                  <a:ext uri="{FF2B5EF4-FFF2-40B4-BE49-F238E27FC236}">
                    <a16:creationId xmlns:a16="http://schemas.microsoft.com/office/drawing/2014/main" id="{D6BDBED5-1B1C-1FA1-68EA-DF2EFC82EBC6}"/>
                  </a:ext>
                </a:extLst>
              </p:cNvPr>
              <p:cNvSpPr>
                <a:spLocks/>
              </p:cNvSpPr>
              <p:nvPr/>
            </p:nvSpPr>
            <p:spPr>
              <a:xfrm>
                <a:off x="12325986" y="3429012"/>
                <a:ext cx="792779" cy="685799"/>
              </a:xfrm>
              <a:prstGeom prst="rect">
                <a:avLst/>
              </a:prstGeom>
              <a:solidFill>
                <a:srgbClr val="C898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br>
                  <a:rPr lang="en-US" sz="500" dirty="0">
                    <a:solidFill>
                      <a:schemeClr val="bg1"/>
                    </a:solidFill>
                    <a:latin typeface="Mona Sans" pitchFamily="2" charset="77"/>
                  </a:rPr>
                </a:br>
                <a:r>
                  <a:rPr lang="en-US" sz="1000" b="1" dirty="0">
                    <a:solidFill>
                      <a:schemeClr val="bg1"/>
                    </a:solidFill>
                    <a:latin typeface="Mona Sans" pitchFamily="2" charset="77"/>
                  </a:rPr>
                  <a:t>A</a:t>
                </a:r>
                <a:endParaRPr lang="en-US" sz="500" b="1" dirty="0">
                  <a:solidFill>
                    <a:schemeClr val="bg1"/>
                  </a:solidFill>
                  <a:latin typeface="Mona Sans" pitchFamily="2" charset="77"/>
                </a:endParaRPr>
              </a:p>
              <a:p>
                <a:r>
                  <a:rPr lang="en-US" sz="500" dirty="0">
                    <a:solidFill>
                      <a:schemeClr val="bg1"/>
                    </a:solidFill>
                    <a:latin typeface="Mona Sans" pitchFamily="2" charset="77"/>
                  </a:rPr>
                  <a:t>Purple 1</a:t>
                </a:r>
                <a:br>
                  <a:rPr lang="en-US" sz="500" dirty="0">
                    <a:solidFill>
                      <a:schemeClr val="bg1"/>
                    </a:solidFill>
                    <a:latin typeface="Mona Sans" pitchFamily="2" charset="77"/>
                  </a:rPr>
                </a:br>
                <a:r>
                  <a:rPr lang="en-US" sz="500" dirty="0">
                    <a:solidFill>
                      <a:schemeClr val="bg1"/>
                    </a:solidFill>
                    <a:latin typeface="Mona Sans" pitchFamily="2" charset="77"/>
                  </a:rPr>
                  <a:t>#C898FD</a:t>
                </a:r>
              </a:p>
            </p:txBody>
          </p:sp>
          <p:sp>
            <p:nvSpPr>
              <p:cNvPr id="38" name="Rectangle 37">
                <a:extLst>
                  <a:ext uri="{FF2B5EF4-FFF2-40B4-BE49-F238E27FC236}">
                    <a16:creationId xmlns:a16="http://schemas.microsoft.com/office/drawing/2014/main" id="{0B47B499-2EEF-E9F0-6822-8101C536B22F}"/>
                  </a:ext>
                </a:extLst>
              </p:cNvPr>
              <p:cNvSpPr>
                <a:spLocks/>
              </p:cNvSpPr>
              <p:nvPr/>
            </p:nvSpPr>
            <p:spPr>
              <a:xfrm>
                <a:off x="13119317" y="3429012"/>
                <a:ext cx="792779" cy="685799"/>
              </a:xfrm>
              <a:prstGeom prst="rect">
                <a:avLst/>
              </a:prstGeom>
              <a:solidFill>
                <a:srgbClr val="B87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endParaRPr lang="en-US" sz="500" b="1" dirty="0">
                  <a:solidFill>
                    <a:schemeClr val="bg1"/>
                  </a:solidFill>
                  <a:latin typeface="Mona Sans" pitchFamily="2" charset="77"/>
                </a:endParaRPr>
              </a:p>
              <a:p>
                <a:r>
                  <a:rPr lang="en-US" sz="500" dirty="0">
                    <a:solidFill>
                      <a:schemeClr val="bg1"/>
                    </a:solidFill>
                    <a:latin typeface="Mona Sans" pitchFamily="2" charset="77"/>
                  </a:rPr>
                  <a:t>Purple 2</a:t>
                </a:r>
                <a:br>
                  <a:rPr lang="en-US" sz="500" dirty="0">
                    <a:solidFill>
                      <a:schemeClr val="bg1"/>
                    </a:solidFill>
                    <a:latin typeface="Mona Sans" pitchFamily="2" charset="77"/>
                  </a:rPr>
                </a:br>
                <a:r>
                  <a:rPr lang="en-US" sz="500" dirty="0">
                    <a:solidFill>
                      <a:schemeClr val="bg1"/>
                    </a:solidFill>
                    <a:latin typeface="Mona Sans" pitchFamily="2" charset="77"/>
                  </a:rPr>
                  <a:t>#B870FF</a:t>
                </a:r>
              </a:p>
            </p:txBody>
          </p:sp>
          <p:sp>
            <p:nvSpPr>
              <p:cNvPr id="39" name="Rectangle 38">
                <a:extLst>
                  <a:ext uri="{FF2B5EF4-FFF2-40B4-BE49-F238E27FC236}">
                    <a16:creationId xmlns:a16="http://schemas.microsoft.com/office/drawing/2014/main" id="{D89D1C90-B3D8-65C7-16E3-809FA9274800}"/>
                  </a:ext>
                </a:extLst>
              </p:cNvPr>
              <p:cNvSpPr>
                <a:spLocks/>
              </p:cNvSpPr>
              <p:nvPr/>
            </p:nvSpPr>
            <p:spPr>
              <a:xfrm>
                <a:off x="13912096" y="3429012"/>
                <a:ext cx="792779" cy="685799"/>
              </a:xfrm>
              <a:prstGeom prst="rect">
                <a:avLst/>
              </a:prstGeom>
              <a:solidFill>
                <a:srgbClr val="853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r>
                  <a:rPr lang="en-US" sz="1000" b="1" dirty="0">
                    <a:solidFill>
                      <a:schemeClr val="tx1"/>
                    </a:solidFill>
                    <a:latin typeface="Mona Sans" pitchFamily="2" charset="77"/>
                  </a:rPr>
                  <a:t>A</a:t>
                </a:r>
                <a:endParaRPr lang="en-US" sz="500" b="1" dirty="0">
                  <a:solidFill>
                    <a:schemeClr val="tx1"/>
                  </a:solidFill>
                  <a:latin typeface="Mona Sans" pitchFamily="2" charset="77"/>
                </a:endParaRPr>
              </a:p>
              <a:p>
                <a:r>
                  <a:rPr lang="en-US" sz="500" dirty="0">
                    <a:solidFill>
                      <a:schemeClr val="tx1"/>
                    </a:solidFill>
                    <a:latin typeface="Mona Sans" pitchFamily="2" charset="77"/>
                  </a:rPr>
                  <a:t>Purple 3</a:t>
                </a:r>
                <a:br>
                  <a:rPr lang="en-US" sz="500" dirty="0">
                    <a:solidFill>
                      <a:schemeClr val="tx1"/>
                    </a:solidFill>
                    <a:latin typeface="Mona Sans" pitchFamily="2" charset="77"/>
                  </a:rPr>
                </a:br>
                <a:r>
                  <a:rPr lang="en-US" sz="500" dirty="0">
                    <a:solidFill>
                      <a:schemeClr val="tx1"/>
                    </a:solidFill>
                    <a:latin typeface="Mona Sans" pitchFamily="2" charset="77"/>
                  </a:rPr>
                  <a:t>#8534F3</a:t>
                </a:r>
              </a:p>
            </p:txBody>
          </p:sp>
          <p:sp>
            <p:nvSpPr>
              <p:cNvPr id="40" name="Rectangle 39">
                <a:extLst>
                  <a:ext uri="{FF2B5EF4-FFF2-40B4-BE49-F238E27FC236}">
                    <a16:creationId xmlns:a16="http://schemas.microsoft.com/office/drawing/2014/main" id="{81EDE246-8512-E797-BB8A-570ACF7B5125}"/>
                  </a:ext>
                </a:extLst>
              </p:cNvPr>
              <p:cNvSpPr>
                <a:spLocks/>
              </p:cNvSpPr>
              <p:nvPr/>
            </p:nvSpPr>
            <p:spPr>
              <a:xfrm>
                <a:off x="14704876" y="3429012"/>
                <a:ext cx="792779" cy="685799"/>
              </a:xfrm>
              <a:prstGeom prst="rect">
                <a:avLst/>
              </a:prstGeom>
              <a:solidFill>
                <a:srgbClr val="4317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latin typeface="Mona Sans" pitchFamily="2" charset="77"/>
                  </a:rPr>
                  <a:t>A</a:t>
                </a:r>
                <a:endParaRPr lang="en-US" sz="500" b="1" dirty="0">
                  <a:latin typeface="Mona Sans" pitchFamily="2" charset="77"/>
                </a:endParaRPr>
              </a:p>
              <a:p>
                <a:r>
                  <a:rPr lang="en-US" sz="500" dirty="0">
                    <a:latin typeface="Mona Sans" pitchFamily="2" charset="77"/>
                  </a:rPr>
                  <a:t>Purple 4</a:t>
                </a:r>
                <a:br>
                  <a:rPr lang="en-US" sz="500" dirty="0">
                    <a:latin typeface="Mona Sans" pitchFamily="2" charset="77"/>
                  </a:rPr>
                </a:br>
                <a:r>
                  <a:rPr lang="en-US" sz="500" dirty="0">
                    <a:latin typeface="Mona Sans" pitchFamily="2" charset="77"/>
                  </a:rPr>
                  <a:t>#43179E</a:t>
                </a:r>
              </a:p>
            </p:txBody>
          </p:sp>
          <p:sp>
            <p:nvSpPr>
              <p:cNvPr id="41" name="Rectangle 40">
                <a:extLst>
                  <a:ext uri="{FF2B5EF4-FFF2-40B4-BE49-F238E27FC236}">
                    <a16:creationId xmlns:a16="http://schemas.microsoft.com/office/drawing/2014/main" id="{0C13E6A5-B1C5-7B79-0EC0-E8A4024EE7D3}"/>
                  </a:ext>
                </a:extLst>
              </p:cNvPr>
              <p:cNvSpPr>
                <a:spLocks/>
              </p:cNvSpPr>
              <p:nvPr/>
            </p:nvSpPr>
            <p:spPr>
              <a:xfrm>
                <a:off x="15497655" y="3429012"/>
                <a:ext cx="792779" cy="685799"/>
              </a:xfrm>
              <a:prstGeom prst="rect">
                <a:avLst/>
              </a:prstGeom>
              <a:solidFill>
                <a:srgbClr val="2611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latin typeface="Mona Sans" pitchFamily="2" charset="77"/>
                  </a:rPr>
                  <a:t>A</a:t>
                </a:r>
                <a:endParaRPr lang="en-US" sz="500" b="1" dirty="0">
                  <a:latin typeface="Mona Sans" pitchFamily="2" charset="77"/>
                </a:endParaRPr>
              </a:p>
              <a:p>
                <a:r>
                  <a:rPr lang="en-US" sz="500" dirty="0">
                    <a:latin typeface="Mona Sans" pitchFamily="2" charset="77"/>
                  </a:rPr>
                  <a:t>Purple</a:t>
                </a:r>
                <a:r>
                  <a:rPr lang="en-US" sz="500" dirty="0">
                    <a:solidFill>
                      <a:schemeClr val="tx1"/>
                    </a:solidFill>
                    <a:latin typeface="Mona Sans" pitchFamily="2" charset="77"/>
                  </a:rPr>
                  <a:t> 5</a:t>
                </a:r>
                <a:br>
                  <a:rPr lang="en-US" sz="500" dirty="0">
                    <a:solidFill>
                      <a:schemeClr val="tx1"/>
                    </a:solidFill>
                    <a:latin typeface="Mona Sans" pitchFamily="2" charset="77"/>
                  </a:rPr>
                </a:br>
                <a:r>
                  <a:rPr lang="en-US" sz="500" dirty="0">
                    <a:solidFill>
                      <a:schemeClr val="tx1"/>
                    </a:solidFill>
                    <a:latin typeface="Mona Sans" pitchFamily="2" charset="77"/>
                  </a:rPr>
                  <a:t>#26115F</a:t>
                </a:r>
              </a:p>
            </p:txBody>
          </p:sp>
          <p:sp>
            <p:nvSpPr>
              <p:cNvPr id="42" name="Rectangle 41">
                <a:extLst>
                  <a:ext uri="{FF2B5EF4-FFF2-40B4-BE49-F238E27FC236}">
                    <a16:creationId xmlns:a16="http://schemas.microsoft.com/office/drawing/2014/main" id="{7BF0CF23-AD24-28EA-9CF9-E0243AC9377C}"/>
                  </a:ext>
                </a:extLst>
              </p:cNvPr>
              <p:cNvSpPr>
                <a:spLocks/>
              </p:cNvSpPr>
              <p:nvPr/>
            </p:nvSpPr>
            <p:spPr>
              <a:xfrm>
                <a:off x="16290435" y="3429012"/>
                <a:ext cx="792779" cy="685799"/>
              </a:xfrm>
              <a:prstGeom prst="rect">
                <a:avLst/>
              </a:prstGeom>
              <a:solidFill>
                <a:srgbClr val="1600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latin typeface="Mona Sans" pitchFamily="2" charset="77"/>
                  </a:rPr>
                  <a:t>A</a:t>
                </a:r>
                <a:endParaRPr lang="en-US" sz="500" b="1" dirty="0">
                  <a:latin typeface="Mona Sans" pitchFamily="2" charset="77"/>
                </a:endParaRPr>
              </a:p>
              <a:p>
                <a:r>
                  <a:rPr lang="en-US" sz="500" dirty="0">
                    <a:latin typeface="Mona Sans" pitchFamily="2" charset="77"/>
                  </a:rPr>
                  <a:t>Purple</a:t>
                </a:r>
                <a:r>
                  <a:rPr lang="en-US" sz="500" dirty="0">
                    <a:solidFill>
                      <a:schemeClr val="tx1"/>
                    </a:solidFill>
                    <a:latin typeface="Mona Sans" pitchFamily="2" charset="77"/>
                  </a:rPr>
                  <a:t> 6</a:t>
                </a:r>
                <a:br>
                  <a:rPr lang="en-US" sz="500" dirty="0">
                    <a:solidFill>
                      <a:schemeClr val="tx1"/>
                    </a:solidFill>
                    <a:latin typeface="Mona Sans" pitchFamily="2" charset="77"/>
                  </a:rPr>
                </a:br>
                <a:r>
                  <a:rPr lang="en-US" sz="500" dirty="0">
                    <a:solidFill>
                      <a:schemeClr val="tx1"/>
                    </a:solidFill>
                    <a:latin typeface="Mona Sans" pitchFamily="2" charset="77"/>
                  </a:rPr>
                  <a:t>#160048</a:t>
                </a:r>
              </a:p>
            </p:txBody>
          </p:sp>
        </p:grpSp>
        <p:grpSp>
          <p:nvGrpSpPr>
            <p:cNvPr id="6" name="Group 5">
              <a:extLst>
                <a:ext uri="{FF2B5EF4-FFF2-40B4-BE49-F238E27FC236}">
                  <a16:creationId xmlns:a16="http://schemas.microsoft.com/office/drawing/2014/main" id="{0DDA01DB-9A94-75FC-BE22-B1791C6C1FC8}"/>
                </a:ext>
              </a:extLst>
            </p:cNvPr>
            <p:cNvGrpSpPr/>
            <p:nvPr userDrawn="1"/>
          </p:nvGrpSpPr>
          <p:grpSpPr>
            <a:xfrm>
              <a:off x="12325986" y="3429012"/>
              <a:ext cx="4757228" cy="685799"/>
              <a:chOff x="12325986" y="4286261"/>
              <a:chExt cx="4757228" cy="685799"/>
            </a:xfrm>
          </p:grpSpPr>
          <p:sp>
            <p:nvSpPr>
              <p:cNvPr id="31" name="Rectangle 30">
                <a:extLst>
                  <a:ext uri="{FF2B5EF4-FFF2-40B4-BE49-F238E27FC236}">
                    <a16:creationId xmlns:a16="http://schemas.microsoft.com/office/drawing/2014/main" id="{9C03D832-3CEC-0F46-AE34-9FD407E1ABB4}"/>
                  </a:ext>
                </a:extLst>
              </p:cNvPr>
              <p:cNvSpPr>
                <a:spLocks/>
              </p:cNvSpPr>
              <p:nvPr/>
            </p:nvSpPr>
            <p:spPr>
              <a:xfrm>
                <a:off x="12325986" y="4286261"/>
                <a:ext cx="792779" cy="685799"/>
              </a:xfrm>
              <a:prstGeom prst="rect">
                <a:avLst/>
              </a:prstGeom>
              <a:solidFill>
                <a:srgbClr val="F4A8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br>
                  <a:rPr lang="en-US" sz="500" dirty="0">
                    <a:solidFill>
                      <a:schemeClr val="bg1"/>
                    </a:solidFill>
                    <a:latin typeface="Mona Sans" pitchFamily="2" charset="77"/>
                  </a:rPr>
                </a:br>
                <a:r>
                  <a:rPr lang="en-US" sz="1000" b="1" dirty="0">
                    <a:solidFill>
                      <a:schemeClr val="bg1"/>
                    </a:solidFill>
                    <a:latin typeface="Mona Sans" pitchFamily="2" charset="77"/>
                  </a:rPr>
                  <a:t>A</a:t>
                </a:r>
                <a:endParaRPr lang="en-US" sz="500" b="1" dirty="0">
                  <a:solidFill>
                    <a:schemeClr val="bg1"/>
                  </a:solidFill>
                  <a:latin typeface="Mona Sans" pitchFamily="2" charset="77"/>
                </a:endParaRPr>
              </a:p>
              <a:p>
                <a:r>
                  <a:rPr lang="en-US" sz="500" dirty="0">
                    <a:solidFill>
                      <a:schemeClr val="bg1"/>
                    </a:solidFill>
                    <a:latin typeface="Mona Sans" pitchFamily="2" charset="77"/>
                  </a:rPr>
                  <a:t>Orange 1</a:t>
                </a:r>
                <a:br>
                  <a:rPr lang="en-US" sz="500" dirty="0">
                    <a:solidFill>
                      <a:schemeClr val="bg1"/>
                    </a:solidFill>
                    <a:latin typeface="Mona Sans" pitchFamily="2" charset="77"/>
                  </a:rPr>
                </a:br>
                <a:r>
                  <a:rPr lang="en-US" sz="500" dirty="0">
                    <a:solidFill>
                      <a:schemeClr val="bg1"/>
                    </a:solidFill>
                    <a:latin typeface="Mona Sans" pitchFamily="2" charset="77"/>
                  </a:rPr>
                  <a:t>#F4A876</a:t>
                </a:r>
              </a:p>
            </p:txBody>
          </p:sp>
          <p:sp>
            <p:nvSpPr>
              <p:cNvPr id="32" name="Rectangle 31">
                <a:extLst>
                  <a:ext uri="{FF2B5EF4-FFF2-40B4-BE49-F238E27FC236}">
                    <a16:creationId xmlns:a16="http://schemas.microsoft.com/office/drawing/2014/main" id="{16C7164E-2E51-A645-2888-4F20FD594EF7}"/>
                  </a:ext>
                </a:extLst>
              </p:cNvPr>
              <p:cNvSpPr>
                <a:spLocks/>
              </p:cNvSpPr>
              <p:nvPr/>
            </p:nvSpPr>
            <p:spPr>
              <a:xfrm>
                <a:off x="13119317" y="4286261"/>
                <a:ext cx="792779" cy="685799"/>
              </a:xfrm>
              <a:prstGeom prst="rect">
                <a:avLst/>
              </a:prstGeom>
              <a:solidFill>
                <a:srgbClr val="F08A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endParaRPr lang="en-US" sz="500" b="1" dirty="0">
                  <a:solidFill>
                    <a:schemeClr val="bg1"/>
                  </a:solidFill>
                  <a:latin typeface="Mona Sans" pitchFamily="2" charset="77"/>
                </a:endParaRPr>
              </a:p>
              <a:p>
                <a:r>
                  <a:rPr lang="en-US" sz="500" dirty="0">
                    <a:solidFill>
                      <a:schemeClr val="bg1"/>
                    </a:solidFill>
                    <a:latin typeface="Mona Sans" pitchFamily="2" charset="77"/>
                  </a:rPr>
                  <a:t>Orange 2</a:t>
                </a:r>
                <a:br>
                  <a:rPr lang="en-US" sz="500" dirty="0">
                    <a:solidFill>
                      <a:schemeClr val="bg1"/>
                    </a:solidFill>
                    <a:latin typeface="Mona Sans" pitchFamily="2" charset="77"/>
                  </a:rPr>
                </a:br>
                <a:r>
                  <a:rPr lang="en-US" sz="500" dirty="0">
                    <a:solidFill>
                      <a:schemeClr val="bg1"/>
                    </a:solidFill>
                    <a:latin typeface="Mona Sans" pitchFamily="2" charset="77"/>
                  </a:rPr>
                  <a:t>#F08A3A</a:t>
                </a:r>
              </a:p>
            </p:txBody>
          </p:sp>
          <p:sp>
            <p:nvSpPr>
              <p:cNvPr id="33" name="Rectangle 32">
                <a:extLst>
                  <a:ext uri="{FF2B5EF4-FFF2-40B4-BE49-F238E27FC236}">
                    <a16:creationId xmlns:a16="http://schemas.microsoft.com/office/drawing/2014/main" id="{4B8DF553-C18C-73A2-DE20-65EA511EA28D}"/>
                  </a:ext>
                </a:extLst>
              </p:cNvPr>
              <p:cNvSpPr>
                <a:spLocks/>
              </p:cNvSpPr>
              <p:nvPr/>
            </p:nvSpPr>
            <p:spPr>
              <a:xfrm>
                <a:off x="13912096" y="4286261"/>
                <a:ext cx="792779" cy="685799"/>
              </a:xfrm>
              <a:prstGeom prst="rect">
                <a:avLst/>
              </a:prstGeom>
              <a:solidFill>
                <a:srgbClr val="FE4C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r>
                  <a:rPr lang="en-US" sz="1000" b="1" dirty="0">
                    <a:solidFill>
                      <a:schemeClr val="tx1"/>
                    </a:solidFill>
                    <a:latin typeface="Mona Sans" pitchFamily="2" charset="77"/>
                  </a:rPr>
                  <a:t>A</a:t>
                </a:r>
                <a:endParaRPr lang="en-US" sz="500" b="1" dirty="0">
                  <a:solidFill>
                    <a:schemeClr val="tx1"/>
                  </a:solidFill>
                  <a:latin typeface="Mona Sans" pitchFamily="2" charset="77"/>
                </a:endParaRPr>
              </a:p>
              <a:p>
                <a:r>
                  <a:rPr lang="en-US" sz="500" dirty="0">
                    <a:solidFill>
                      <a:schemeClr val="bg1"/>
                    </a:solidFill>
                    <a:latin typeface="Mona Sans" pitchFamily="2" charset="77"/>
                  </a:rPr>
                  <a:t>Orange 3</a:t>
                </a:r>
                <a:br>
                  <a:rPr lang="en-US" sz="500" dirty="0">
                    <a:solidFill>
                      <a:schemeClr val="bg1"/>
                    </a:solidFill>
                    <a:latin typeface="Mona Sans" pitchFamily="2" charset="77"/>
                  </a:rPr>
                </a:br>
                <a:r>
                  <a:rPr lang="en-US" sz="500" dirty="0">
                    <a:solidFill>
                      <a:schemeClr val="bg1"/>
                    </a:solidFill>
                    <a:latin typeface="Mona Sans" pitchFamily="2" charset="77"/>
                  </a:rPr>
                  <a:t>#FE4C25</a:t>
                </a:r>
              </a:p>
            </p:txBody>
          </p:sp>
          <p:sp>
            <p:nvSpPr>
              <p:cNvPr id="34" name="Rectangle 33">
                <a:extLst>
                  <a:ext uri="{FF2B5EF4-FFF2-40B4-BE49-F238E27FC236}">
                    <a16:creationId xmlns:a16="http://schemas.microsoft.com/office/drawing/2014/main" id="{C7CBE0B7-8802-C66B-88AF-6F9C141B9839}"/>
                  </a:ext>
                </a:extLst>
              </p:cNvPr>
              <p:cNvSpPr>
                <a:spLocks/>
              </p:cNvSpPr>
              <p:nvPr/>
            </p:nvSpPr>
            <p:spPr>
              <a:xfrm>
                <a:off x="14704876" y="4286261"/>
                <a:ext cx="792779" cy="685799"/>
              </a:xfrm>
              <a:prstGeom prst="rect">
                <a:avLst/>
              </a:prstGeom>
              <a:solidFill>
                <a:srgbClr val="C532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latin typeface="Mona Sans" pitchFamily="2" charset="77"/>
                  </a:rPr>
                  <a:t>A</a:t>
                </a:r>
                <a:endParaRPr lang="en-US" sz="500" b="1" dirty="0">
                  <a:latin typeface="Mona Sans" pitchFamily="2" charset="77"/>
                </a:endParaRPr>
              </a:p>
              <a:p>
                <a:r>
                  <a:rPr lang="en-US" sz="500" dirty="0">
                    <a:latin typeface="Mona Sans" pitchFamily="2" charset="77"/>
                  </a:rPr>
                  <a:t>Orange 4</a:t>
                </a:r>
                <a:br>
                  <a:rPr lang="en-US" sz="500" dirty="0">
                    <a:latin typeface="Mona Sans" pitchFamily="2" charset="77"/>
                  </a:rPr>
                </a:br>
                <a:r>
                  <a:rPr lang="en-US" sz="500" dirty="0">
                    <a:latin typeface="Mona Sans" pitchFamily="2" charset="77"/>
                  </a:rPr>
                  <a:t>#C53211</a:t>
                </a:r>
              </a:p>
            </p:txBody>
          </p:sp>
          <p:sp>
            <p:nvSpPr>
              <p:cNvPr id="35" name="Rectangle 34">
                <a:extLst>
                  <a:ext uri="{FF2B5EF4-FFF2-40B4-BE49-F238E27FC236}">
                    <a16:creationId xmlns:a16="http://schemas.microsoft.com/office/drawing/2014/main" id="{B1CB842C-804D-A153-43D8-B24B2230E71A}"/>
                  </a:ext>
                </a:extLst>
              </p:cNvPr>
              <p:cNvSpPr>
                <a:spLocks/>
              </p:cNvSpPr>
              <p:nvPr/>
            </p:nvSpPr>
            <p:spPr>
              <a:xfrm>
                <a:off x="15497655" y="4286261"/>
                <a:ext cx="792779" cy="685799"/>
              </a:xfrm>
              <a:prstGeom prst="rect">
                <a:avLst/>
              </a:prstGeom>
              <a:solidFill>
                <a:srgbClr val="801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latin typeface="Mona Sans" pitchFamily="2" charset="77"/>
                  </a:rPr>
                  <a:t>A</a:t>
                </a:r>
                <a:endParaRPr lang="en-US" sz="500" b="1" dirty="0">
                  <a:latin typeface="Mona Sans" pitchFamily="2" charset="77"/>
                </a:endParaRPr>
              </a:p>
              <a:p>
                <a:r>
                  <a:rPr lang="en-US" sz="500" dirty="0">
                    <a:latin typeface="Mona Sans" pitchFamily="2" charset="77"/>
                  </a:rPr>
                  <a:t>Orange</a:t>
                </a:r>
                <a:r>
                  <a:rPr lang="en-US" sz="500" dirty="0">
                    <a:solidFill>
                      <a:schemeClr val="tx1"/>
                    </a:solidFill>
                    <a:latin typeface="Mona Sans" pitchFamily="2" charset="77"/>
                  </a:rPr>
                  <a:t> 5</a:t>
                </a:r>
                <a:br>
                  <a:rPr lang="en-US" sz="500" dirty="0">
                    <a:solidFill>
                      <a:schemeClr val="tx1"/>
                    </a:solidFill>
                    <a:latin typeface="Mona Sans" pitchFamily="2" charset="77"/>
                  </a:rPr>
                </a:br>
                <a:r>
                  <a:rPr lang="en-US" sz="500" dirty="0">
                    <a:solidFill>
                      <a:schemeClr val="tx1"/>
                    </a:solidFill>
                    <a:latin typeface="Mona Sans" pitchFamily="2" charset="77"/>
                  </a:rPr>
                  <a:t>#801E0F</a:t>
                </a:r>
              </a:p>
            </p:txBody>
          </p:sp>
          <p:sp>
            <p:nvSpPr>
              <p:cNvPr id="36" name="Rectangle 35">
                <a:extLst>
                  <a:ext uri="{FF2B5EF4-FFF2-40B4-BE49-F238E27FC236}">
                    <a16:creationId xmlns:a16="http://schemas.microsoft.com/office/drawing/2014/main" id="{B744921B-18F0-0B55-F72C-493C340A1B0A}"/>
                  </a:ext>
                </a:extLst>
              </p:cNvPr>
              <p:cNvSpPr>
                <a:spLocks/>
              </p:cNvSpPr>
              <p:nvPr/>
            </p:nvSpPr>
            <p:spPr>
              <a:xfrm>
                <a:off x="16290435" y="4286261"/>
                <a:ext cx="792779" cy="685799"/>
              </a:xfrm>
              <a:prstGeom prst="rect">
                <a:avLst/>
              </a:prstGeom>
              <a:solidFill>
                <a:srgbClr val="500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latin typeface="Mona Sans" pitchFamily="2" charset="77"/>
                  </a:rPr>
                  <a:t>A</a:t>
                </a:r>
                <a:endParaRPr lang="en-US" sz="500" b="1" dirty="0">
                  <a:latin typeface="Mona Sans" pitchFamily="2" charset="77"/>
                </a:endParaRPr>
              </a:p>
              <a:p>
                <a:r>
                  <a:rPr lang="en-US" sz="500" dirty="0">
                    <a:latin typeface="Mona Sans" pitchFamily="2" charset="77"/>
                  </a:rPr>
                  <a:t>Orange</a:t>
                </a:r>
                <a:r>
                  <a:rPr lang="en-US" sz="500" dirty="0">
                    <a:solidFill>
                      <a:schemeClr val="tx1"/>
                    </a:solidFill>
                    <a:latin typeface="Mona Sans" pitchFamily="2" charset="77"/>
                  </a:rPr>
                  <a:t> 6</a:t>
                </a:r>
                <a:br>
                  <a:rPr lang="en-US" sz="500" dirty="0">
                    <a:solidFill>
                      <a:schemeClr val="tx1"/>
                    </a:solidFill>
                    <a:latin typeface="Mona Sans" pitchFamily="2" charset="77"/>
                  </a:rPr>
                </a:br>
                <a:r>
                  <a:rPr lang="en-US" sz="500" dirty="0">
                    <a:solidFill>
                      <a:schemeClr val="tx1"/>
                    </a:solidFill>
                    <a:latin typeface="Mona Sans" pitchFamily="2" charset="77"/>
                  </a:rPr>
                  <a:t>#500A00</a:t>
                </a:r>
              </a:p>
            </p:txBody>
          </p:sp>
        </p:grpSp>
        <p:grpSp>
          <p:nvGrpSpPr>
            <p:cNvPr id="7" name="Group 6">
              <a:extLst>
                <a:ext uri="{FF2B5EF4-FFF2-40B4-BE49-F238E27FC236}">
                  <a16:creationId xmlns:a16="http://schemas.microsoft.com/office/drawing/2014/main" id="{0C08108D-417A-DE36-DB69-1E5BF2F8092C}"/>
                </a:ext>
              </a:extLst>
            </p:cNvPr>
            <p:cNvGrpSpPr/>
            <p:nvPr userDrawn="1"/>
          </p:nvGrpSpPr>
          <p:grpSpPr>
            <a:xfrm>
              <a:off x="12325986" y="4114775"/>
              <a:ext cx="4757228" cy="685799"/>
              <a:chOff x="12325986" y="5143506"/>
              <a:chExt cx="4757228" cy="685799"/>
            </a:xfrm>
          </p:grpSpPr>
          <p:sp>
            <p:nvSpPr>
              <p:cNvPr id="25" name="Rectangle 24">
                <a:extLst>
                  <a:ext uri="{FF2B5EF4-FFF2-40B4-BE49-F238E27FC236}">
                    <a16:creationId xmlns:a16="http://schemas.microsoft.com/office/drawing/2014/main" id="{F75AA5CF-3EBA-6499-86B1-6289264BA426}"/>
                  </a:ext>
                </a:extLst>
              </p:cNvPr>
              <p:cNvSpPr>
                <a:spLocks/>
              </p:cNvSpPr>
              <p:nvPr/>
            </p:nvSpPr>
            <p:spPr>
              <a:xfrm>
                <a:off x="12325986" y="5143506"/>
                <a:ext cx="792779" cy="685799"/>
              </a:xfrm>
              <a:prstGeom prst="rect">
                <a:avLst/>
              </a:prstGeom>
              <a:solidFill>
                <a:srgbClr val="9EE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endParaRPr lang="en-US" sz="500" b="1" dirty="0">
                  <a:solidFill>
                    <a:schemeClr val="bg1"/>
                  </a:solidFill>
                  <a:latin typeface="Mona Sans" pitchFamily="2" charset="77"/>
                </a:endParaRPr>
              </a:p>
              <a:p>
                <a:r>
                  <a:rPr lang="en-US" sz="500" dirty="0">
                    <a:solidFill>
                      <a:schemeClr val="bg1"/>
                    </a:solidFill>
                    <a:latin typeface="Mona Sans" pitchFamily="2" charset="77"/>
                  </a:rPr>
                  <a:t>Blue 1</a:t>
                </a:r>
                <a:br>
                  <a:rPr lang="en-US" sz="500" dirty="0">
                    <a:solidFill>
                      <a:schemeClr val="bg1"/>
                    </a:solidFill>
                    <a:latin typeface="Mona Sans" pitchFamily="2" charset="77"/>
                  </a:rPr>
                </a:br>
                <a:r>
                  <a:rPr lang="en-US" sz="500" dirty="0">
                    <a:solidFill>
                      <a:schemeClr val="bg1"/>
                    </a:solidFill>
                    <a:latin typeface="Mona Sans" pitchFamily="2" charset="77"/>
                  </a:rPr>
                  <a:t>#9EECFF</a:t>
                </a:r>
              </a:p>
            </p:txBody>
          </p:sp>
          <p:sp>
            <p:nvSpPr>
              <p:cNvPr id="26" name="Rectangle 25">
                <a:extLst>
                  <a:ext uri="{FF2B5EF4-FFF2-40B4-BE49-F238E27FC236}">
                    <a16:creationId xmlns:a16="http://schemas.microsoft.com/office/drawing/2014/main" id="{B71E38BF-B2EA-8481-2CCA-85F9FBDBEBA9}"/>
                  </a:ext>
                </a:extLst>
              </p:cNvPr>
              <p:cNvSpPr>
                <a:spLocks/>
              </p:cNvSpPr>
              <p:nvPr/>
            </p:nvSpPr>
            <p:spPr>
              <a:xfrm>
                <a:off x="13119317" y="5143506"/>
                <a:ext cx="792779" cy="685799"/>
              </a:xfrm>
              <a:prstGeom prst="rect">
                <a:avLst/>
              </a:prstGeom>
              <a:solidFill>
                <a:srgbClr val="309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endParaRPr lang="en-US" sz="500" b="1" dirty="0">
                  <a:solidFill>
                    <a:schemeClr val="bg1"/>
                  </a:solidFill>
                  <a:latin typeface="Mona Sans" pitchFamily="2" charset="77"/>
                </a:endParaRPr>
              </a:p>
              <a:p>
                <a:r>
                  <a:rPr lang="en-US" sz="500" dirty="0">
                    <a:solidFill>
                      <a:schemeClr val="bg1"/>
                    </a:solidFill>
                    <a:latin typeface="Mona Sans" pitchFamily="2" charset="77"/>
                  </a:rPr>
                  <a:t>Blue 2</a:t>
                </a:r>
                <a:br>
                  <a:rPr lang="en-US" sz="500" dirty="0">
                    <a:solidFill>
                      <a:schemeClr val="bg1"/>
                    </a:solidFill>
                    <a:latin typeface="Mona Sans" pitchFamily="2" charset="77"/>
                  </a:rPr>
                </a:br>
                <a:r>
                  <a:rPr lang="en-US" sz="500" dirty="0">
                    <a:solidFill>
                      <a:schemeClr val="bg1"/>
                    </a:solidFill>
                    <a:latin typeface="Mona Sans" pitchFamily="2" charset="77"/>
                  </a:rPr>
                  <a:t>#3094FF</a:t>
                </a:r>
              </a:p>
            </p:txBody>
          </p:sp>
          <p:sp>
            <p:nvSpPr>
              <p:cNvPr id="27" name="Rectangle 26">
                <a:extLst>
                  <a:ext uri="{FF2B5EF4-FFF2-40B4-BE49-F238E27FC236}">
                    <a16:creationId xmlns:a16="http://schemas.microsoft.com/office/drawing/2014/main" id="{A8A07180-7285-0384-8393-BC000EA6EACC}"/>
                  </a:ext>
                </a:extLst>
              </p:cNvPr>
              <p:cNvSpPr>
                <a:spLocks/>
              </p:cNvSpPr>
              <p:nvPr/>
            </p:nvSpPr>
            <p:spPr>
              <a:xfrm>
                <a:off x="13912096" y="5143506"/>
                <a:ext cx="792779" cy="685799"/>
              </a:xfrm>
              <a:prstGeom prst="rect">
                <a:avLst/>
              </a:prstGeom>
              <a:solidFill>
                <a:srgbClr val="1A61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endParaRPr lang="en-US" sz="500" b="1" dirty="0">
                  <a:solidFill>
                    <a:schemeClr val="bg1"/>
                  </a:solidFill>
                  <a:latin typeface="Mona Sans" pitchFamily="2" charset="77"/>
                </a:endParaRPr>
              </a:p>
              <a:p>
                <a:r>
                  <a:rPr lang="en-US" sz="500" dirty="0">
                    <a:solidFill>
                      <a:schemeClr val="bg1"/>
                    </a:solidFill>
                    <a:latin typeface="Mona Sans" pitchFamily="2" charset="77"/>
                  </a:rPr>
                  <a:t>Blue 3</a:t>
                </a:r>
                <a:br>
                  <a:rPr lang="en-US" sz="500" dirty="0">
                    <a:solidFill>
                      <a:schemeClr val="bg1"/>
                    </a:solidFill>
                    <a:latin typeface="Mona Sans" pitchFamily="2" charset="77"/>
                  </a:rPr>
                </a:br>
                <a:r>
                  <a:rPr lang="en-US" sz="500" dirty="0">
                    <a:solidFill>
                      <a:schemeClr val="bg1"/>
                    </a:solidFill>
                    <a:latin typeface="Mona Sans" pitchFamily="2" charset="77"/>
                  </a:rPr>
                  <a:t>#1A61FE</a:t>
                </a:r>
              </a:p>
            </p:txBody>
          </p:sp>
          <p:sp>
            <p:nvSpPr>
              <p:cNvPr id="28" name="Rectangle 27">
                <a:extLst>
                  <a:ext uri="{FF2B5EF4-FFF2-40B4-BE49-F238E27FC236}">
                    <a16:creationId xmlns:a16="http://schemas.microsoft.com/office/drawing/2014/main" id="{89CE890C-806D-6B79-E970-0A23A6329D0B}"/>
                  </a:ext>
                </a:extLst>
              </p:cNvPr>
              <p:cNvSpPr>
                <a:spLocks/>
              </p:cNvSpPr>
              <p:nvPr/>
            </p:nvSpPr>
            <p:spPr>
              <a:xfrm>
                <a:off x="14704876" y="5143506"/>
                <a:ext cx="792779" cy="685799"/>
              </a:xfrm>
              <a:prstGeom prst="rect">
                <a:avLst/>
              </a:prstGeom>
              <a:solidFill>
                <a:srgbClr val="0527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endParaRPr lang="en-US" sz="500" dirty="0">
                  <a:latin typeface="Mona Sans" pitchFamily="2" charset="77"/>
                </a:endParaRPr>
              </a:p>
              <a:p>
                <a:r>
                  <a:rPr lang="en-US" sz="1000" b="1" dirty="0">
                    <a:latin typeface="Mona Sans" pitchFamily="2" charset="77"/>
                  </a:rPr>
                  <a:t>A</a:t>
                </a:r>
                <a:endParaRPr lang="en-US" sz="500" b="1" dirty="0">
                  <a:latin typeface="Mona Sans" pitchFamily="2" charset="77"/>
                </a:endParaRPr>
              </a:p>
              <a:p>
                <a:r>
                  <a:rPr lang="en-US" sz="500" dirty="0">
                    <a:latin typeface="Mona Sans" pitchFamily="2" charset="77"/>
                  </a:rPr>
                  <a:t>Blue 4</a:t>
                </a:r>
                <a:br>
                  <a:rPr lang="en-US" sz="500" dirty="0">
                    <a:latin typeface="Mona Sans" pitchFamily="2" charset="77"/>
                  </a:rPr>
                </a:br>
                <a:r>
                  <a:rPr lang="en-US" sz="500" dirty="0">
                    <a:latin typeface="Mona Sans" pitchFamily="2" charset="77"/>
                  </a:rPr>
                  <a:t>#0527FC</a:t>
                </a:r>
              </a:p>
            </p:txBody>
          </p:sp>
          <p:sp>
            <p:nvSpPr>
              <p:cNvPr id="29" name="Rectangle 28">
                <a:extLst>
                  <a:ext uri="{FF2B5EF4-FFF2-40B4-BE49-F238E27FC236}">
                    <a16:creationId xmlns:a16="http://schemas.microsoft.com/office/drawing/2014/main" id="{6BC964D3-BC3C-89D3-6898-296C7D605DF9}"/>
                  </a:ext>
                </a:extLst>
              </p:cNvPr>
              <p:cNvSpPr>
                <a:spLocks/>
              </p:cNvSpPr>
              <p:nvPr/>
            </p:nvSpPr>
            <p:spPr>
              <a:xfrm>
                <a:off x="15497655" y="5143506"/>
                <a:ext cx="792779" cy="685799"/>
              </a:xfrm>
              <a:prstGeom prst="rect">
                <a:avLst/>
              </a:prstGeom>
              <a:solidFill>
                <a:srgbClr val="2121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latin typeface="Mona Sans" pitchFamily="2" charset="77"/>
                  </a:rPr>
                  <a:t>A</a:t>
                </a:r>
                <a:endParaRPr lang="en-US" sz="500" b="1" dirty="0">
                  <a:latin typeface="Mona Sans" pitchFamily="2" charset="77"/>
                </a:endParaRPr>
              </a:p>
              <a:p>
                <a:r>
                  <a:rPr lang="en-US" sz="500" dirty="0">
                    <a:latin typeface="Mona Sans" pitchFamily="2" charset="77"/>
                  </a:rPr>
                  <a:t>Blue</a:t>
                </a:r>
                <a:r>
                  <a:rPr lang="en-US" sz="500" dirty="0">
                    <a:solidFill>
                      <a:schemeClr val="tx1"/>
                    </a:solidFill>
                    <a:latin typeface="Mona Sans" pitchFamily="2" charset="77"/>
                  </a:rPr>
                  <a:t> 5</a:t>
                </a:r>
                <a:br>
                  <a:rPr lang="en-US" sz="500" dirty="0">
                    <a:solidFill>
                      <a:schemeClr val="tx1"/>
                    </a:solidFill>
                    <a:latin typeface="Mona Sans" pitchFamily="2" charset="77"/>
                  </a:rPr>
                </a:br>
                <a:r>
                  <a:rPr lang="en-US" sz="500" dirty="0">
                    <a:solidFill>
                      <a:schemeClr val="tx1"/>
                    </a:solidFill>
                    <a:latin typeface="Mona Sans" pitchFamily="2" charset="77"/>
                  </a:rPr>
                  <a:t>#212183</a:t>
                </a:r>
              </a:p>
            </p:txBody>
          </p:sp>
          <p:sp>
            <p:nvSpPr>
              <p:cNvPr id="30" name="Rectangle 29">
                <a:extLst>
                  <a:ext uri="{FF2B5EF4-FFF2-40B4-BE49-F238E27FC236}">
                    <a16:creationId xmlns:a16="http://schemas.microsoft.com/office/drawing/2014/main" id="{3BEF8C39-286B-6EA3-A552-B6FD0354DC7D}"/>
                  </a:ext>
                </a:extLst>
              </p:cNvPr>
              <p:cNvSpPr>
                <a:spLocks/>
              </p:cNvSpPr>
              <p:nvPr/>
            </p:nvSpPr>
            <p:spPr>
              <a:xfrm>
                <a:off x="16290435" y="5143506"/>
                <a:ext cx="792779" cy="685799"/>
              </a:xfrm>
              <a:prstGeom prst="rect">
                <a:avLst/>
              </a:prstGeom>
              <a:solidFill>
                <a:srgbClr val="001C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latin typeface="Mona Sans" pitchFamily="2" charset="77"/>
                  </a:rPr>
                  <a:t>A</a:t>
                </a:r>
                <a:endParaRPr lang="en-US" sz="500" b="1" dirty="0">
                  <a:latin typeface="Mona Sans" pitchFamily="2" charset="77"/>
                </a:endParaRPr>
              </a:p>
              <a:p>
                <a:r>
                  <a:rPr lang="en-US" sz="500" dirty="0">
                    <a:latin typeface="Mona Sans" pitchFamily="2" charset="77"/>
                  </a:rPr>
                  <a:t>Blue</a:t>
                </a:r>
                <a:r>
                  <a:rPr lang="en-US" sz="500" dirty="0">
                    <a:solidFill>
                      <a:schemeClr val="tx1"/>
                    </a:solidFill>
                    <a:latin typeface="Mona Sans" pitchFamily="2" charset="77"/>
                  </a:rPr>
                  <a:t> 6</a:t>
                </a:r>
                <a:br>
                  <a:rPr lang="en-US" sz="500" dirty="0">
                    <a:solidFill>
                      <a:schemeClr val="tx1"/>
                    </a:solidFill>
                    <a:latin typeface="Mona Sans" pitchFamily="2" charset="77"/>
                  </a:rPr>
                </a:br>
                <a:r>
                  <a:rPr lang="en-US" sz="500" dirty="0">
                    <a:solidFill>
                      <a:schemeClr val="tx1"/>
                    </a:solidFill>
                    <a:latin typeface="Mona Sans" pitchFamily="2" charset="77"/>
                  </a:rPr>
                  <a:t>#001C4D</a:t>
                </a:r>
              </a:p>
            </p:txBody>
          </p:sp>
        </p:grpSp>
        <p:grpSp>
          <p:nvGrpSpPr>
            <p:cNvPr id="8" name="Group 7">
              <a:extLst>
                <a:ext uri="{FF2B5EF4-FFF2-40B4-BE49-F238E27FC236}">
                  <a16:creationId xmlns:a16="http://schemas.microsoft.com/office/drawing/2014/main" id="{22ED131D-395D-EAF8-F6B8-B5BCC9BB8069}"/>
                </a:ext>
              </a:extLst>
            </p:cNvPr>
            <p:cNvGrpSpPr/>
            <p:nvPr userDrawn="1"/>
          </p:nvGrpSpPr>
          <p:grpSpPr>
            <a:xfrm>
              <a:off x="12325986" y="4800570"/>
              <a:ext cx="4757228" cy="685799"/>
              <a:chOff x="12325986" y="6000747"/>
              <a:chExt cx="4757228" cy="685799"/>
            </a:xfrm>
          </p:grpSpPr>
          <p:sp>
            <p:nvSpPr>
              <p:cNvPr id="19" name="Rectangle 18">
                <a:extLst>
                  <a:ext uri="{FF2B5EF4-FFF2-40B4-BE49-F238E27FC236}">
                    <a16:creationId xmlns:a16="http://schemas.microsoft.com/office/drawing/2014/main" id="{1242AACF-F0F2-8AC3-0FBF-4DD7F3D56662}"/>
                  </a:ext>
                </a:extLst>
              </p:cNvPr>
              <p:cNvSpPr>
                <a:spLocks/>
              </p:cNvSpPr>
              <p:nvPr/>
            </p:nvSpPr>
            <p:spPr>
              <a:xfrm>
                <a:off x="12325986" y="6000747"/>
                <a:ext cx="792779" cy="685799"/>
              </a:xfrm>
              <a:prstGeom prst="rect">
                <a:avLst/>
              </a:prstGeom>
              <a:solidFill>
                <a:srgbClr val="DCFF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br>
                  <a:rPr lang="en-US" sz="500" dirty="0">
                    <a:solidFill>
                      <a:schemeClr val="bg1"/>
                    </a:solidFill>
                    <a:latin typeface="Mona Sans" pitchFamily="2" charset="77"/>
                  </a:rPr>
                </a:br>
                <a:r>
                  <a:rPr lang="en-US" sz="500" dirty="0">
                    <a:solidFill>
                      <a:schemeClr val="bg1"/>
                    </a:solidFill>
                    <a:latin typeface="Mona Sans" pitchFamily="2" charset="77"/>
                  </a:rPr>
                  <a:t>Lime 1</a:t>
                </a:r>
                <a:br>
                  <a:rPr lang="en-US" sz="500" dirty="0">
                    <a:solidFill>
                      <a:schemeClr val="bg1"/>
                    </a:solidFill>
                    <a:latin typeface="Mona Sans" pitchFamily="2" charset="77"/>
                  </a:rPr>
                </a:br>
                <a:r>
                  <a:rPr lang="en-US" sz="500" dirty="0">
                    <a:solidFill>
                      <a:schemeClr val="bg1"/>
                    </a:solidFill>
                    <a:latin typeface="Mona Sans" pitchFamily="2" charset="77"/>
                  </a:rPr>
                  <a:t>#DCFF96</a:t>
                </a:r>
              </a:p>
            </p:txBody>
          </p:sp>
          <p:sp>
            <p:nvSpPr>
              <p:cNvPr id="20" name="Rectangle 19">
                <a:extLst>
                  <a:ext uri="{FF2B5EF4-FFF2-40B4-BE49-F238E27FC236}">
                    <a16:creationId xmlns:a16="http://schemas.microsoft.com/office/drawing/2014/main" id="{04DC7988-26AF-4A04-D465-7FDE960125E8}"/>
                  </a:ext>
                </a:extLst>
              </p:cNvPr>
              <p:cNvSpPr>
                <a:spLocks/>
              </p:cNvSpPr>
              <p:nvPr/>
            </p:nvSpPr>
            <p:spPr>
              <a:xfrm>
                <a:off x="13119317" y="6000747"/>
                <a:ext cx="792779" cy="685799"/>
              </a:xfrm>
              <a:prstGeom prst="rect">
                <a:avLst/>
              </a:prstGeom>
              <a:solidFill>
                <a:srgbClr val="D3FA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endParaRPr lang="en-US" sz="500" b="1" dirty="0">
                  <a:solidFill>
                    <a:schemeClr val="bg1"/>
                  </a:solidFill>
                  <a:latin typeface="Mona Sans" pitchFamily="2" charset="77"/>
                </a:endParaRPr>
              </a:p>
              <a:p>
                <a:r>
                  <a:rPr lang="en-US" sz="500" dirty="0">
                    <a:solidFill>
                      <a:schemeClr val="bg1"/>
                    </a:solidFill>
                    <a:latin typeface="Mona Sans" pitchFamily="2" charset="77"/>
                  </a:rPr>
                  <a:t>Lime 2</a:t>
                </a:r>
                <a:br>
                  <a:rPr lang="en-US" sz="500" dirty="0">
                    <a:solidFill>
                      <a:schemeClr val="bg1"/>
                    </a:solidFill>
                    <a:latin typeface="Mona Sans" pitchFamily="2" charset="77"/>
                  </a:rPr>
                </a:br>
                <a:r>
                  <a:rPr lang="en-US" sz="500" dirty="0">
                    <a:solidFill>
                      <a:schemeClr val="bg1"/>
                    </a:solidFill>
                    <a:latin typeface="Mona Sans" pitchFamily="2" charset="77"/>
                  </a:rPr>
                  <a:t>#D3FA37</a:t>
                </a:r>
              </a:p>
            </p:txBody>
          </p:sp>
          <p:sp>
            <p:nvSpPr>
              <p:cNvPr id="21" name="Rectangle 20">
                <a:extLst>
                  <a:ext uri="{FF2B5EF4-FFF2-40B4-BE49-F238E27FC236}">
                    <a16:creationId xmlns:a16="http://schemas.microsoft.com/office/drawing/2014/main" id="{0EE29DAA-A00E-CB1B-C367-48922B6466AC}"/>
                  </a:ext>
                </a:extLst>
              </p:cNvPr>
              <p:cNvSpPr>
                <a:spLocks/>
              </p:cNvSpPr>
              <p:nvPr/>
            </p:nvSpPr>
            <p:spPr>
              <a:xfrm>
                <a:off x="13912096" y="6000747"/>
                <a:ext cx="792779" cy="685799"/>
              </a:xfrm>
              <a:prstGeom prst="rect">
                <a:avLst/>
              </a:prstGeom>
              <a:solidFill>
                <a:srgbClr val="D8BD0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r>
                  <a:rPr lang="en-US" sz="1000" b="1" dirty="0">
                    <a:solidFill>
                      <a:schemeClr val="tx1"/>
                    </a:solidFill>
                    <a:latin typeface="Mona Sans" pitchFamily="2" charset="77"/>
                  </a:rPr>
                  <a:t>A</a:t>
                </a:r>
                <a:endParaRPr lang="en-US" sz="500" b="1" dirty="0">
                  <a:solidFill>
                    <a:schemeClr val="tx1"/>
                  </a:solidFill>
                  <a:latin typeface="Mona Sans" pitchFamily="2" charset="77"/>
                </a:endParaRPr>
              </a:p>
              <a:p>
                <a:r>
                  <a:rPr lang="en-US" sz="500" dirty="0">
                    <a:solidFill>
                      <a:schemeClr val="bg1"/>
                    </a:solidFill>
                    <a:latin typeface="Mona Sans" pitchFamily="2" charset="77"/>
                  </a:rPr>
                  <a:t>Lime 3</a:t>
                </a:r>
                <a:br>
                  <a:rPr lang="en-US" sz="500" dirty="0">
                    <a:solidFill>
                      <a:schemeClr val="bg1"/>
                    </a:solidFill>
                    <a:latin typeface="Mona Sans" pitchFamily="2" charset="77"/>
                  </a:rPr>
                </a:br>
                <a:r>
                  <a:rPr lang="en-US" sz="500" dirty="0">
                    <a:solidFill>
                      <a:schemeClr val="bg1"/>
                    </a:solidFill>
                    <a:latin typeface="Mona Sans" pitchFamily="2" charset="77"/>
                  </a:rPr>
                  <a:t>#D8BD0E</a:t>
                </a:r>
              </a:p>
            </p:txBody>
          </p:sp>
          <p:sp>
            <p:nvSpPr>
              <p:cNvPr id="22" name="Rectangle 21">
                <a:extLst>
                  <a:ext uri="{FF2B5EF4-FFF2-40B4-BE49-F238E27FC236}">
                    <a16:creationId xmlns:a16="http://schemas.microsoft.com/office/drawing/2014/main" id="{110E0593-71B2-BA54-0AB6-F602E0A9A5D6}"/>
                  </a:ext>
                </a:extLst>
              </p:cNvPr>
              <p:cNvSpPr>
                <a:spLocks/>
              </p:cNvSpPr>
              <p:nvPr/>
            </p:nvSpPr>
            <p:spPr>
              <a:xfrm>
                <a:off x="14704875" y="6000747"/>
                <a:ext cx="792779" cy="685799"/>
              </a:xfrm>
              <a:prstGeom prst="rect">
                <a:avLst/>
              </a:prstGeom>
              <a:solidFill>
                <a:srgbClr val="C08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r>
                  <a:rPr lang="en-US" sz="1000" b="1" dirty="0">
                    <a:latin typeface="Mona Sans" pitchFamily="2" charset="77"/>
                  </a:rPr>
                  <a:t>A</a:t>
                </a:r>
                <a:endParaRPr lang="en-US" sz="500" b="1" dirty="0">
                  <a:latin typeface="Mona Sans" pitchFamily="2" charset="77"/>
                </a:endParaRPr>
              </a:p>
              <a:p>
                <a:r>
                  <a:rPr lang="en-US" sz="500" dirty="0">
                    <a:solidFill>
                      <a:schemeClr val="bg1"/>
                    </a:solidFill>
                    <a:latin typeface="Mona Sans" pitchFamily="2" charset="77"/>
                  </a:rPr>
                  <a:t>Lime 4</a:t>
                </a:r>
                <a:br>
                  <a:rPr lang="en-US" sz="500" dirty="0">
                    <a:solidFill>
                      <a:schemeClr val="bg1"/>
                    </a:solidFill>
                    <a:latin typeface="Mona Sans" pitchFamily="2" charset="77"/>
                  </a:rPr>
                </a:br>
                <a:r>
                  <a:rPr lang="en-US" sz="500" dirty="0">
                    <a:solidFill>
                      <a:schemeClr val="bg1"/>
                    </a:solidFill>
                    <a:latin typeface="Mona Sans" pitchFamily="2" charset="77"/>
                  </a:rPr>
                  <a:t>#C08600</a:t>
                </a:r>
              </a:p>
            </p:txBody>
          </p:sp>
          <p:sp>
            <p:nvSpPr>
              <p:cNvPr id="23" name="Rectangle 22">
                <a:extLst>
                  <a:ext uri="{FF2B5EF4-FFF2-40B4-BE49-F238E27FC236}">
                    <a16:creationId xmlns:a16="http://schemas.microsoft.com/office/drawing/2014/main" id="{86C21A5F-0FCC-430D-87A4-8135779EA72A}"/>
                  </a:ext>
                </a:extLst>
              </p:cNvPr>
              <p:cNvSpPr>
                <a:spLocks/>
              </p:cNvSpPr>
              <p:nvPr/>
            </p:nvSpPr>
            <p:spPr>
              <a:xfrm>
                <a:off x="15497655" y="6000747"/>
                <a:ext cx="792779" cy="685799"/>
              </a:xfrm>
              <a:prstGeom prst="rect">
                <a:avLst/>
              </a:prstGeom>
              <a:solidFill>
                <a:srgbClr val="DA721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r>
                  <a:rPr lang="en-US" sz="1000" b="1" dirty="0">
                    <a:latin typeface="Mona Sans" pitchFamily="2" charset="77"/>
                  </a:rPr>
                  <a:t>A</a:t>
                </a:r>
                <a:endParaRPr lang="en-US" sz="500" b="1" dirty="0">
                  <a:latin typeface="Mona Sans" pitchFamily="2" charset="77"/>
                </a:endParaRPr>
              </a:p>
              <a:p>
                <a:r>
                  <a:rPr lang="en-US" sz="500" dirty="0">
                    <a:solidFill>
                      <a:schemeClr val="bg1"/>
                    </a:solidFill>
                    <a:latin typeface="Mona Sans" pitchFamily="2" charset="77"/>
                  </a:rPr>
                  <a:t>Lime 5</a:t>
                </a:r>
                <a:br>
                  <a:rPr lang="en-US" sz="500" dirty="0">
                    <a:solidFill>
                      <a:schemeClr val="bg1"/>
                    </a:solidFill>
                    <a:latin typeface="Mona Sans" pitchFamily="2" charset="77"/>
                  </a:rPr>
                </a:br>
                <a:r>
                  <a:rPr lang="en-US" sz="500" dirty="0">
                    <a:solidFill>
                      <a:schemeClr val="bg1"/>
                    </a:solidFill>
                    <a:latin typeface="Mona Sans" pitchFamily="2" charset="77"/>
                  </a:rPr>
                  <a:t>#DA7210</a:t>
                </a:r>
              </a:p>
            </p:txBody>
          </p:sp>
          <p:sp>
            <p:nvSpPr>
              <p:cNvPr id="24" name="Rectangle 23">
                <a:extLst>
                  <a:ext uri="{FF2B5EF4-FFF2-40B4-BE49-F238E27FC236}">
                    <a16:creationId xmlns:a16="http://schemas.microsoft.com/office/drawing/2014/main" id="{C73E9022-A597-13CE-F226-E4F89C5D174D}"/>
                  </a:ext>
                </a:extLst>
              </p:cNvPr>
              <p:cNvSpPr>
                <a:spLocks/>
              </p:cNvSpPr>
              <p:nvPr/>
            </p:nvSpPr>
            <p:spPr>
              <a:xfrm>
                <a:off x="16290435" y="6000747"/>
                <a:ext cx="792779" cy="685799"/>
              </a:xfrm>
              <a:prstGeom prst="rect">
                <a:avLst/>
              </a:prstGeom>
              <a:solidFill>
                <a:srgbClr val="703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latin typeface="Mona Sans" pitchFamily="2" charset="77"/>
                  </a:rPr>
                  <a:t>A</a:t>
                </a:r>
                <a:endParaRPr lang="en-US" sz="500" b="1" dirty="0">
                  <a:latin typeface="Mona Sans" pitchFamily="2" charset="77"/>
                </a:endParaRPr>
              </a:p>
              <a:p>
                <a:r>
                  <a:rPr lang="en-US" sz="500" dirty="0">
                    <a:latin typeface="Mona Sans" pitchFamily="2" charset="77"/>
                  </a:rPr>
                  <a:t>Lime</a:t>
                </a:r>
                <a:r>
                  <a:rPr lang="en-US" sz="500" dirty="0">
                    <a:solidFill>
                      <a:schemeClr val="tx1"/>
                    </a:solidFill>
                    <a:latin typeface="Mona Sans" pitchFamily="2" charset="77"/>
                  </a:rPr>
                  <a:t> 6</a:t>
                </a:r>
                <a:br>
                  <a:rPr lang="en-US" sz="500" dirty="0">
                    <a:solidFill>
                      <a:schemeClr val="tx1"/>
                    </a:solidFill>
                    <a:latin typeface="Mona Sans" pitchFamily="2" charset="77"/>
                  </a:rPr>
                </a:br>
                <a:r>
                  <a:rPr lang="en-US" sz="500" dirty="0">
                    <a:solidFill>
                      <a:schemeClr val="tx1"/>
                    </a:solidFill>
                    <a:latin typeface="Mona Sans" pitchFamily="2" charset="77"/>
                  </a:rPr>
                  <a:t>#703100</a:t>
                </a:r>
              </a:p>
            </p:txBody>
          </p:sp>
        </p:grpSp>
        <p:grpSp>
          <p:nvGrpSpPr>
            <p:cNvPr id="9" name="Group 8">
              <a:extLst>
                <a:ext uri="{FF2B5EF4-FFF2-40B4-BE49-F238E27FC236}">
                  <a16:creationId xmlns:a16="http://schemas.microsoft.com/office/drawing/2014/main" id="{3257EE37-0FB2-EF31-7201-3F2317D23DFA}"/>
                </a:ext>
              </a:extLst>
            </p:cNvPr>
            <p:cNvGrpSpPr/>
            <p:nvPr userDrawn="1"/>
          </p:nvGrpSpPr>
          <p:grpSpPr>
            <a:xfrm>
              <a:off x="12325986" y="685795"/>
              <a:ext cx="4757228" cy="685800"/>
              <a:chOff x="12325986" y="857254"/>
              <a:chExt cx="4757228" cy="685800"/>
            </a:xfrm>
          </p:grpSpPr>
          <p:sp>
            <p:nvSpPr>
              <p:cNvPr id="15" name="Rectangle 14">
                <a:extLst>
                  <a:ext uri="{FF2B5EF4-FFF2-40B4-BE49-F238E27FC236}">
                    <a16:creationId xmlns:a16="http://schemas.microsoft.com/office/drawing/2014/main" id="{BC2A32B5-BD60-7CB4-4229-00C0EBE5D971}"/>
                  </a:ext>
                </a:extLst>
              </p:cNvPr>
              <p:cNvSpPr>
                <a:spLocks/>
              </p:cNvSpPr>
              <p:nvPr/>
            </p:nvSpPr>
            <p:spPr>
              <a:xfrm>
                <a:off x="12325986" y="857254"/>
                <a:ext cx="1189100" cy="68580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tx1"/>
                    </a:solidFill>
                    <a:latin typeface="Mona Sans" pitchFamily="2" charset="77"/>
                  </a:rPr>
                  <a:t>A</a:t>
                </a:r>
                <a:endParaRPr lang="en-US" sz="500" b="1" dirty="0">
                  <a:solidFill>
                    <a:schemeClr val="tx1"/>
                  </a:solidFill>
                  <a:latin typeface="Mona Sans" pitchFamily="2" charset="77"/>
                </a:endParaRPr>
              </a:p>
              <a:p>
                <a:r>
                  <a:rPr lang="en-US" sz="500" dirty="0">
                    <a:solidFill>
                      <a:schemeClr val="tx1"/>
                    </a:solidFill>
                    <a:latin typeface="Mona Sans" pitchFamily="2" charset="77"/>
                  </a:rPr>
                  <a:t>Black</a:t>
                </a:r>
                <a:br>
                  <a:rPr lang="en-US" sz="500" dirty="0">
                    <a:solidFill>
                      <a:schemeClr val="tx1"/>
                    </a:solidFill>
                    <a:latin typeface="Mona Sans" pitchFamily="2" charset="77"/>
                  </a:rPr>
                </a:br>
                <a:r>
                  <a:rPr lang="en-US" sz="500" dirty="0">
                    <a:solidFill>
                      <a:schemeClr val="tx1"/>
                    </a:solidFill>
                    <a:latin typeface="Mona Sans" pitchFamily="2" charset="77"/>
                  </a:rPr>
                  <a:t>#000000</a:t>
                </a:r>
              </a:p>
            </p:txBody>
          </p:sp>
          <p:sp>
            <p:nvSpPr>
              <p:cNvPr id="16" name="Rectangle 15">
                <a:extLst>
                  <a:ext uri="{FF2B5EF4-FFF2-40B4-BE49-F238E27FC236}">
                    <a16:creationId xmlns:a16="http://schemas.microsoft.com/office/drawing/2014/main" id="{A14E8BA1-9A77-BE6A-16DD-1C3E178936C1}"/>
                  </a:ext>
                </a:extLst>
              </p:cNvPr>
              <p:cNvSpPr>
                <a:spLocks/>
              </p:cNvSpPr>
              <p:nvPr/>
            </p:nvSpPr>
            <p:spPr>
              <a:xfrm>
                <a:off x="15894114" y="857254"/>
                <a:ext cx="1189100" cy="685800"/>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r>
                  <a:rPr lang="en-US" sz="1000" b="1" dirty="0">
                    <a:solidFill>
                      <a:schemeClr val="tx1"/>
                    </a:solidFill>
                    <a:latin typeface="Mona Sans" pitchFamily="2" charset="77"/>
                  </a:rPr>
                  <a:t>A</a:t>
                </a:r>
                <a:br>
                  <a:rPr lang="en-US" sz="500" dirty="0">
                    <a:solidFill>
                      <a:schemeClr val="tx1"/>
                    </a:solidFill>
                    <a:latin typeface="Mona Sans" pitchFamily="2" charset="77"/>
                  </a:rPr>
                </a:br>
                <a:r>
                  <a:rPr lang="en-US" sz="500" dirty="0">
                    <a:solidFill>
                      <a:schemeClr val="bg1"/>
                    </a:solidFill>
                    <a:latin typeface="Mona Sans" pitchFamily="2" charset="77"/>
                  </a:rPr>
                  <a:t>Gray 4</a:t>
                </a:r>
                <a:br>
                  <a:rPr lang="en-US" sz="500" dirty="0">
                    <a:solidFill>
                      <a:schemeClr val="bg1"/>
                    </a:solidFill>
                    <a:latin typeface="Mona Sans" pitchFamily="2" charset="77"/>
                  </a:rPr>
                </a:br>
                <a:r>
                  <a:rPr lang="en-US" sz="500" dirty="0">
                    <a:solidFill>
                      <a:schemeClr val="bg1"/>
                    </a:solidFill>
                    <a:latin typeface="Mona Sans" pitchFamily="2" charset="77"/>
                  </a:rPr>
                  <a:t>#909692</a:t>
                </a:r>
              </a:p>
            </p:txBody>
          </p:sp>
          <p:sp>
            <p:nvSpPr>
              <p:cNvPr id="17" name="Rectangle 16">
                <a:extLst>
                  <a:ext uri="{FF2B5EF4-FFF2-40B4-BE49-F238E27FC236}">
                    <a16:creationId xmlns:a16="http://schemas.microsoft.com/office/drawing/2014/main" id="{58B8E4B4-CC7C-423D-04F7-8BE6948A7156}"/>
                  </a:ext>
                </a:extLst>
              </p:cNvPr>
              <p:cNvSpPr>
                <a:spLocks/>
              </p:cNvSpPr>
              <p:nvPr/>
            </p:nvSpPr>
            <p:spPr>
              <a:xfrm>
                <a:off x="14705013" y="857254"/>
                <a:ext cx="1189100" cy="685800"/>
              </a:xfrm>
              <a:prstGeom prst="rect">
                <a:avLst/>
              </a:prstGeom>
              <a:solidFill>
                <a:srgbClr val="2329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tx1"/>
                    </a:solidFill>
                    <a:latin typeface="Mona Sans" pitchFamily="2" charset="77"/>
                  </a:rPr>
                  <a:t>A</a:t>
                </a:r>
                <a:endParaRPr lang="en-US" sz="500" b="1" dirty="0">
                  <a:solidFill>
                    <a:schemeClr val="tx1"/>
                  </a:solidFill>
                  <a:latin typeface="Mona Sans" pitchFamily="2" charset="77"/>
                </a:endParaRPr>
              </a:p>
              <a:p>
                <a:r>
                  <a:rPr lang="en-US" sz="500" dirty="0">
                    <a:solidFill>
                      <a:schemeClr val="tx1"/>
                    </a:solidFill>
                    <a:latin typeface="Mona Sans" pitchFamily="2" charset="77"/>
                  </a:rPr>
                  <a:t>Gray 5</a:t>
                </a:r>
                <a:br>
                  <a:rPr lang="en-US" sz="500" dirty="0">
                    <a:solidFill>
                      <a:schemeClr val="tx1"/>
                    </a:solidFill>
                    <a:latin typeface="Mona Sans" pitchFamily="2" charset="77"/>
                  </a:rPr>
                </a:br>
                <a:r>
                  <a:rPr lang="en-US" sz="500" dirty="0">
                    <a:solidFill>
                      <a:schemeClr val="tx1"/>
                    </a:solidFill>
                    <a:latin typeface="Mona Sans" pitchFamily="2" charset="77"/>
                  </a:rPr>
                  <a:t>#232925</a:t>
                </a:r>
              </a:p>
            </p:txBody>
          </p:sp>
          <p:sp>
            <p:nvSpPr>
              <p:cNvPr id="18" name="Rectangle 17">
                <a:extLst>
                  <a:ext uri="{FF2B5EF4-FFF2-40B4-BE49-F238E27FC236}">
                    <a16:creationId xmlns:a16="http://schemas.microsoft.com/office/drawing/2014/main" id="{794A15EA-8690-E1D4-0BF2-4052914175EC}"/>
                  </a:ext>
                </a:extLst>
              </p:cNvPr>
              <p:cNvSpPr>
                <a:spLocks/>
              </p:cNvSpPr>
              <p:nvPr/>
            </p:nvSpPr>
            <p:spPr>
              <a:xfrm>
                <a:off x="13514259" y="857254"/>
                <a:ext cx="1189100" cy="685800"/>
              </a:xfrm>
              <a:prstGeom prst="rect">
                <a:avLst/>
              </a:prstGeom>
              <a:solidFill>
                <a:srgbClr val="1014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tx1"/>
                    </a:solidFill>
                    <a:latin typeface="Mona Sans" pitchFamily="2" charset="77"/>
                  </a:rPr>
                  <a:t>A</a:t>
                </a:r>
                <a:endParaRPr lang="en-US" sz="500" b="1" dirty="0">
                  <a:solidFill>
                    <a:schemeClr val="tx1"/>
                  </a:solidFill>
                  <a:latin typeface="Mona Sans" pitchFamily="2" charset="77"/>
                </a:endParaRPr>
              </a:p>
              <a:p>
                <a:r>
                  <a:rPr lang="en-US" sz="500" dirty="0">
                    <a:solidFill>
                      <a:schemeClr val="tx1"/>
                    </a:solidFill>
                    <a:latin typeface="Mona Sans" pitchFamily="2" charset="77"/>
                  </a:rPr>
                  <a:t>Gray 6</a:t>
                </a:r>
                <a:br>
                  <a:rPr lang="en-US" sz="500" dirty="0">
                    <a:solidFill>
                      <a:schemeClr val="tx1"/>
                    </a:solidFill>
                    <a:latin typeface="Mona Sans" pitchFamily="2" charset="77"/>
                  </a:rPr>
                </a:br>
                <a:r>
                  <a:rPr lang="en-US" sz="500" dirty="0">
                    <a:solidFill>
                      <a:schemeClr val="tx1"/>
                    </a:solidFill>
                    <a:latin typeface="Mona Sans" pitchFamily="2" charset="77"/>
                  </a:rPr>
                  <a:t>#101411</a:t>
                </a:r>
              </a:p>
            </p:txBody>
          </p:sp>
        </p:grpSp>
        <p:grpSp>
          <p:nvGrpSpPr>
            <p:cNvPr id="10" name="Group 9">
              <a:extLst>
                <a:ext uri="{FF2B5EF4-FFF2-40B4-BE49-F238E27FC236}">
                  <a16:creationId xmlns:a16="http://schemas.microsoft.com/office/drawing/2014/main" id="{96108762-3DAD-9169-AB4F-2648EEDE5B90}"/>
                </a:ext>
              </a:extLst>
            </p:cNvPr>
            <p:cNvGrpSpPr/>
            <p:nvPr userDrawn="1"/>
          </p:nvGrpSpPr>
          <p:grpSpPr>
            <a:xfrm>
              <a:off x="12325985" y="0"/>
              <a:ext cx="4758055" cy="685800"/>
              <a:chOff x="12325985" y="0"/>
              <a:chExt cx="4758055" cy="685800"/>
            </a:xfrm>
          </p:grpSpPr>
          <p:sp>
            <p:nvSpPr>
              <p:cNvPr id="11" name="Rectangle 10">
                <a:extLst>
                  <a:ext uri="{FF2B5EF4-FFF2-40B4-BE49-F238E27FC236}">
                    <a16:creationId xmlns:a16="http://schemas.microsoft.com/office/drawing/2014/main" id="{845EEBFF-B84C-1E95-7218-28FD0CAC9421}"/>
                  </a:ext>
                </a:extLst>
              </p:cNvPr>
              <p:cNvSpPr>
                <a:spLocks/>
              </p:cNvSpPr>
              <p:nvPr/>
            </p:nvSpPr>
            <p:spPr>
              <a:xfrm>
                <a:off x="13515912" y="0"/>
                <a:ext cx="1189100" cy="685800"/>
              </a:xfrm>
              <a:prstGeom prst="rect">
                <a:avLst/>
              </a:prstGeom>
              <a:solidFill>
                <a:srgbClr val="F2F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0" marR="0" lvl="0" indent="0" algn="l" defTabSz="914080" rtl="0" eaLnBrk="1" fontAlgn="auto" latinLnBrk="0" hangingPunct="1">
                  <a:lnSpc>
                    <a:spcPct val="100000"/>
                  </a:lnSpc>
                  <a:spcBef>
                    <a:spcPts val="0"/>
                  </a:spcBef>
                  <a:spcAft>
                    <a:spcPts val="0"/>
                  </a:spcAft>
                  <a:buClrTx/>
                  <a:buSzTx/>
                  <a:buFontTx/>
                  <a:buNone/>
                  <a:tabLst/>
                  <a:defRPr/>
                </a:pPr>
                <a:r>
                  <a:rPr lang="en-US" sz="1000" b="1" dirty="0">
                    <a:solidFill>
                      <a:schemeClr val="bg1"/>
                    </a:solidFill>
                    <a:latin typeface="Mona Sans" pitchFamily="2" charset="77"/>
                  </a:rPr>
                  <a:t>A</a:t>
                </a:r>
                <a:endParaRPr lang="en-US" sz="500" dirty="0">
                  <a:solidFill>
                    <a:schemeClr val="bg1"/>
                  </a:solidFill>
                  <a:latin typeface="Mona Sans" pitchFamily="2" charset="77"/>
                </a:endParaRPr>
              </a:p>
              <a:p>
                <a:r>
                  <a:rPr lang="en-US" sz="500" dirty="0">
                    <a:solidFill>
                      <a:schemeClr val="bg1"/>
                    </a:solidFill>
                    <a:latin typeface="Mona Sans" pitchFamily="2" charset="77"/>
                  </a:rPr>
                  <a:t>Gray 1</a:t>
                </a:r>
                <a:br>
                  <a:rPr lang="en-US" sz="500" dirty="0">
                    <a:solidFill>
                      <a:schemeClr val="bg1"/>
                    </a:solidFill>
                    <a:latin typeface="Mona Sans" pitchFamily="2" charset="77"/>
                  </a:rPr>
                </a:br>
                <a:r>
                  <a:rPr lang="en-US" sz="500" dirty="0">
                    <a:solidFill>
                      <a:schemeClr val="bg1"/>
                    </a:solidFill>
                    <a:latin typeface="Mona Sans" pitchFamily="2" charset="77"/>
                  </a:rPr>
                  <a:t>#F2F5F3</a:t>
                </a:r>
              </a:p>
            </p:txBody>
          </p:sp>
          <p:sp>
            <p:nvSpPr>
              <p:cNvPr id="12" name="Rectangle 11">
                <a:extLst>
                  <a:ext uri="{FF2B5EF4-FFF2-40B4-BE49-F238E27FC236}">
                    <a16:creationId xmlns:a16="http://schemas.microsoft.com/office/drawing/2014/main" id="{DF765250-E13E-483B-380F-988CBC0B08E4}"/>
                  </a:ext>
                </a:extLst>
              </p:cNvPr>
              <p:cNvSpPr>
                <a:spLocks/>
              </p:cNvSpPr>
              <p:nvPr/>
            </p:nvSpPr>
            <p:spPr>
              <a:xfrm>
                <a:off x="14705769" y="0"/>
                <a:ext cx="1189100" cy="685800"/>
              </a:xfrm>
              <a:prstGeom prst="rect">
                <a:avLst/>
              </a:prstGeom>
              <a:solidFill>
                <a:srgbClr val="E4EB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p>
              <a:p>
                <a:r>
                  <a:rPr lang="en-US" sz="500" dirty="0">
                    <a:solidFill>
                      <a:schemeClr val="bg1"/>
                    </a:solidFill>
                    <a:latin typeface="Mona Sans" pitchFamily="2" charset="77"/>
                  </a:rPr>
                  <a:t>Gray 2</a:t>
                </a:r>
                <a:br>
                  <a:rPr lang="en-US" sz="500" dirty="0">
                    <a:solidFill>
                      <a:schemeClr val="bg1"/>
                    </a:solidFill>
                    <a:latin typeface="Mona Sans" pitchFamily="2" charset="77"/>
                  </a:rPr>
                </a:br>
                <a:r>
                  <a:rPr lang="en-US" sz="500" dirty="0">
                    <a:solidFill>
                      <a:schemeClr val="bg1"/>
                    </a:solidFill>
                    <a:latin typeface="Mona Sans" pitchFamily="2" charset="77"/>
                  </a:rPr>
                  <a:t>#E4EBE6</a:t>
                </a:r>
              </a:p>
            </p:txBody>
          </p:sp>
          <p:sp>
            <p:nvSpPr>
              <p:cNvPr id="13" name="Rectangle 12">
                <a:extLst>
                  <a:ext uri="{FF2B5EF4-FFF2-40B4-BE49-F238E27FC236}">
                    <a16:creationId xmlns:a16="http://schemas.microsoft.com/office/drawing/2014/main" id="{34A9D568-55EB-ACC9-E170-8AB08FE3FB9C}"/>
                  </a:ext>
                </a:extLst>
              </p:cNvPr>
              <p:cNvSpPr>
                <a:spLocks/>
              </p:cNvSpPr>
              <p:nvPr/>
            </p:nvSpPr>
            <p:spPr>
              <a:xfrm>
                <a:off x="15894940" y="0"/>
                <a:ext cx="1189100" cy="685800"/>
              </a:xfrm>
              <a:prstGeom prst="rect">
                <a:avLst/>
              </a:prstGeom>
              <a:solidFill>
                <a:srgbClr val="B6BF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r>
                  <a:rPr lang="en-US" sz="500" b="1" dirty="0">
                    <a:solidFill>
                      <a:schemeClr val="bg1"/>
                    </a:solidFill>
                    <a:latin typeface="Mona Sans" pitchFamily="2" charset="77"/>
                  </a:rPr>
                  <a:t> </a:t>
                </a:r>
                <a:endParaRPr lang="en-US" sz="500" b="1" dirty="0">
                  <a:solidFill>
                    <a:schemeClr val="tx1"/>
                  </a:solidFill>
                  <a:latin typeface="Mona Sans" pitchFamily="2" charset="77"/>
                </a:endParaRPr>
              </a:p>
              <a:p>
                <a:r>
                  <a:rPr lang="en-US" sz="500" dirty="0">
                    <a:solidFill>
                      <a:schemeClr val="bg1"/>
                    </a:solidFill>
                    <a:latin typeface="Mona Sans" pitchFamily="2" charset="77"/>
                  </a:rPr>
                  <a:t>Gray 3</a:t>
                </a:r>
                <a:br>
                  <a:rPr lang="en-US" sz="500" dirty="0">
                    <a:solidFill>
                      <a:schemeClr val="bg1"/>
                    </a:solidFill>
                    <a:latin typeface="Mona Sans" pitchFamily="2" charset="77"/>
                  </a:rPr>
                </a:br>
                <a:r>
                  <a:rPr lang="en-US" sz="500" dirty="0">
                    <a:solidFill>
                      <a:schemeClr val="bg1"/>
                    </a:solidFill>
                    <a:latin typeface="Mona Sans" pitchFamily="2" charset="77"/>
                  </a:rPr>
                  <a:t>#B6BFB8</a:t>
                </a:r>
              </a:p>
            </p:txBody>
          </p:sp>
          <p:sp>
            <p:nvSpPr>
              <p:cNvPr id="14" name="Rectangle 13">
                <a:extLst>
                  <a:ext uri="{FF2B5EF4-FFF2-40B4-BE49-F238E27FC236}">
                    <a16:creationId xmlns:a16="http://schemas.microsoft.com/office/drawing/2014/main" id="{11CA09FD-C05E-12AE-8F4B-D69F063AB916}"/>
                  </a:ext>
                </a:extLst>
              </p:cNvPr>
              <p:cNvSpPr>
                <a:spLocks/>
              </p:cNvSpPr>
              <p:nvPr/>
            </p:nvSpPr>
            <p:spPr>
              <a:xfrm>
                <a:off x="12325985" y="0"/>
                <a:ext cx="1189100" cy="685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endParaRPr lang="en-US" sz="500" b="1" dirty="0">
                  <a:solidFill>
                    <a:schemeClr val="bg1"/>
                  </a:solidFill>
                  <a:latin typeface="Mona Sans" pitchFamily="2" charset="77"/>
                </a:endParaRPr>
              </a:p>
              <a:p>
                <a:r>
                  <a:rPr lang="en-US" sz="500" dirty="0">
                    <a:solidFill>
                      <a:schemeClr val="bg1"/>
                    </a:solidFill>
                    <a:latin typeface="Mona Sans" pitchFamily="2" charset="77"/>
                  </a:rPr>
                  <a:t>White</a:t>
                </a:r>
                <a:br>
                  <a:rPr lang="en-US" sz="500" dirty="0">
                    <a:solidFill>
                      <a:schemeClr val="bg1"/>
                    </a:solidFill>
                    <a:latin typeface="Mona Sans" pitchFamily="2" charset="77"/>
                  </a:rPr>
                </a:br>
                <a:r>
                  <a:rPr lang="en-US" sz="500" dirty="0">
                    <a:solidFill>
                      <a:schemeClr val="bg1"/>
                    </a:solidFill>
                    <a:latin typeface="Mona Sans" pitchFamily="2" charset="77"/>
                  </a:rPr>
                  <a:t>#FFFFFF</a:t>
                </a:r>
              </a:p>
            </p:txBody>
          </p:sp>
        </p:grpSp>
      </p:grpSp>
    </p:spTree>
    <p:extLst>
      <p:ext uri="{BB962C8B-B14F-4D97-AF65-F5344CB8AC3E}">
        <p14:creationId xmlns:p14="http://schemas.microsoft.com/office/powerpoint/2010/main" val="1257559441"/>
      </p:ext>
    </p:extLst>
  </p:cSld>
  <p:clrMap bg1="dk1" tx1="lt1" bg2="dk2" tx2="lt2" accent1="accent1" accent2="accent2" accent3="accent3" accent4="accent4" accent5="accent5" accent6="accent6" hlink="hlink" folHlink="folHlink"/>
  <p:sldLayoutIdLst>
    <p:sldLayoutId id="2147484085" r:id="rId1"/>
    <p:sldLayoutId id="2147484102" r:id="rId2"/>
    <p:sldLayoutId id="2147484107" r:id="rId3"/>
    <p:sldLayoutId id="2147484123" r:id="rId4"/>
    <p:sldLayoutId id="2147484124" r:id="rId5"/>
  </p:sldLayoutIdLst>
  <p:txStyles>
    <p:titleStyle>
      <a:lvl1pPr algn="l" defTabSz="914034" rtl="0" eaLnBrk="1" latinLnBrk="0" hangingPunct="1">
        <a:lnSpc>
          <a:spcPct val="90000"/>
        </a:lnSpc>
        <a:spcBef>
          <a:spcPct val="0"/>
        </a:spcBef>
        <a:buNone/>
        <a:defRPr sz="3599" b="1" i="0" kern="1200">
          <a:solidFill>
            <a:schemeClr val="tx1"/>
          </a:solidFill>
          <a:latin typeface="Mona-Sans" pitchFamily="2" charset="77"/>
          <a:ea typeface="+mj-ea"/>
          <a:cs typeface="Arial" panose="020B0604020202020204" pitchFamily="34" charset="0"/>
        </a:defRPr>
      </a:lvl1pPr>
    </p:titleStyle>
    <p:bodyStyle>
      <a:lvl1pPr marL="0" indent="0" algn="l" defTabSz="914034" rtl="0" eaLnBrk="1" latinLnBrk="0" hangingPunct="1">
        <a:lnSpc>
          <a:spcPct val="90000"/>
        </a:lnSpc>
        <a:spcBef>
          <a:spcPts val="1000"/>
        </a:spcBef>
        <a:buFont typeface="Arial" panose="020B0604020202020204" pitchFamily="34" charset="0"/>
        <a:buNone/>
        <a:defRPr sz="2199" b="0" i="0" kern="1200">
          <a:solidFill>
            <a:schemeClr val="tx1"/>
          </a:solidFill>
          <a:latin typeface="Mona-Sans Regular" pitchFamily="2" charset="77"/>
          <a:ea typeface="+mn-ea"/>
          <a:cs typeface="Arial" panose="020B0604020202020204" pitchFamily="34" charset="0"/>
        </a:defRPr>
      </a:lvl1pPr>
      <a:lvl2pPr marL="457017"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2pPr>
      <a:lvl3pPr marL="914034"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3pPr>
      <a:lvl4pPr marL="1371051"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4pPr>
      <a:lvl5pPr marL="1828068"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119" userDrawn="1">
          <p15:clr>
            <a:srgbClr val="F26B43"/>
          </p15:clr>
        </p15:guide>
        <p15:guide id="4" pos="7559" userDrawn="1">
          <p15:clr>
            <a:srgbClr val="F26B43"/>
          </p15:clr>
        </p15:guide>
        <p15:guide id="5" orient="horz" pos="120" userDrawn="1">
          <p15:clr>
            <a:srgbClr val="F26B43"/>
          </p15:clr>
        </p15:guide>
        <p15:guide id="6" orient="horz" pos="4200" userDrawn="1">
          <p15:clr>
            <a:srgbClr val="F26B43"/>
          </p15:clr>
        </p15:guide>
        <p15:guide id="7" pos="239" userDrawn="1">
          <p15:clr>
            <a:srgbClr val="F26B43"/>
          </p15:clr>
        </p15:guide>
        <p15:guide id="8" orient="horz" pos="264" userDrawn="1">
          <p15:clr>
            <a:srgbClr val="F26B43"/>
          </p15:clr>
        </p15:guide>
        <p15:guide id="9" orient="horz" pos="4056" userDrawn="1">
          <p15:clr>
            <a:srgbClr val="F26B43"/>
          </p15:clr>
        </p15:guide>
        <p15:guide id="10" pos="743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6.jpeg"/><Relationship Id="rId5" Type="http://schemas.openxmlformats.org/officeDocument/2006/relationships/image" Target="../media/image5.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gh.io/gh-skills-builder"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gh.io/gh-skills-builder"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5208F56E-6F69-2613-022B-A66B9463C6B7}"/>
              </a:ext>
            </a:extLst>
          </p:cNvPr>
          <p:cNvSpPr txBox="1">
            <a:spLocks noGrp="1"/>
          </p:cNvSpPr>
          <p:nvPr>
            <p:ph type="title" idx="4294967295"/>
          </p:nvPr>
        </p:nvSpPr>
        <p:spPr>
          <a:xfrm>
            <a:off x="0" y="-233363"/>
            <a:ext cx="12188825" cy="233363"/>
          </a:xfrm>
          <a:prstGeom prst="rect">
            <a:avLst/>
          </a:prstGeom>
          <a:noFill/>
          <a:ln>
            <a:noFill/>
            <a:prstDash/>
          </a:ln>
          <a:effectLst/>
        </p:spPr>
        <p:txBody>
          <a:bodyPr rot="0" spcFirstLastPara="0" vertOverflow="overflow" horzOverflow="overflow" vert="horz" wrap="square" lIns="0" tIns="0" rIns="0" bIns="0" numCol="1" spcCol="0" rtlCol="0" fromWordArt="0" anchor="b" anchorCtr="0" forceAA="0" compatLnSpc="1">
            <a:prstTxWarp prst="textNoShape">
              <a:avLst/>
            </a:prstTxWarp>
            <a:normAutofit/>
          </a:bodyPr>
          <a:lstStyle>
            <a:lvl1pPr algn="l" defTabSz="914034" rtl="0" eaLnBrk="1" latinLnBrk="0" hangingPunct="1">
              <a:lnSpc>
                <a:spcPct val="80000"/>
              </a:lnSpc>
              <a:spcBef>
                <a:spcPct val="0"/>
              </a:spcBef>
              <a:buNone/>
              <a:defRPr sz="9600" b="0" i="0" kern="1200">
                <a:solidFill>
                  <a:schemeClr val="tx1"/>
                </a:solidFill>
                <a:latin typeface="Mona Sans Display" pitchFamily="2" charset="77"/>
                <a:ea typeface="+mj-ea"/>
                <a:cs typeface="Mona Sans Display" pitchFamily="2" charset="77"/>
              </a:defRPr>
            </a:lvl1pPr>
          </a:lstStyle>
          <a:p>
            <a:pPr marL="0" marR="0" lvl="0" indent="0" algn="l" defTabSz="914034" rtl="0" eaLnBrk="1" fontAlgn="auto" latinLnBrk="0" hangingPunct="1">
              <a:lnSpc>
                <a:spcPct val="80000"/>
              </a:lnSpc>
              <a:spcBef>
                <a:spcPct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Mona Sans Display" pitchFamily="2" charset="77"/>
                <a:ea typeface="+mj-ea"/>
                <a:cs typeface="Mona Sans Display" pitchFamily="2" charset="77"/>
              </a:rPr>
              <a:t>2026 GitHub presentation template instructions 1</a:t>
            </a:r>
          </a:p>
        </p:txBody>
      </p:sp>
      <p:pic>
        <p:nvPicPr>
          <p:cNvPr id="3" name="Picture Placeholder 2" descr="Cartoon style Mona cat, GitHub’s mascot’s headshot in black in white.">
            <a:extLst>
              <a:ext uri="{FF2B5EF4-FFF2-40B4-BE49-F238E27FC236}">
                <a16:creationId xmlns:a16="http://schemas.microsoft.com/office/drawing/2014/main" id="{F26F74B1-3C8E-8C92-3AC7-F701FF2ABD42}"/>
              </a:ext>
              <a:ext uri="{C183D7F6-B498-43B3-948B-1728B52AA6E4}">
                <adec:decorative xmlns:adec="http://schemas.microsoft.com/office/drawing/2017/decorative" val="0"/>
              </a:ext>
            </a:extLst>
          </p:cNvPr>
          <p:cNvPicPr>
            <a:picLocks noGrp="1" noChangeAspect="1"/>
          </p:cNvPicPr>
          <p:nvPr>
            <p:ph type="pic" idx="4294967295"/>
          </p:nvPr>
        </p:nvPicPr>
        <p:blipFill>
          <a:blip r:embed="rId3">
            <a:extLst>
              <a:ext uri="{BEBA8EAE-BF5A-486C-A8C5-ECC9F3942E4B}">
                <a14:imgProps xmlns:a14="http://schemas.microsoft.com/office/drawing/2010/main">
                  <a14:imgLayer r:embed="rId4">
                    <a14:imgEffect>
                      <a14:saturation sat="0"/>
                    </a14:imgEffect>
                  </a14:imgLayer>
                </a14:imgProps>
              </a:ext>
            </a:extLst>
          </a:blip>
          <a:srcRect l="795" r="795"/>
          <a:stretch/>
        </p:blipFill>
        <p:spPr>
          <a:xfrm>
            <a:off x="0" y="5924550"/>
            <a:ext cx="687388" cy="698500"/>
          </a:xfrm>
          <a:prstGeom prst="rect">
            <a:avLst/>
          </a:prstGeom>
        </p:spPr>
      </p:pic>
      <p:pic>
        <p:nvPicPr>
          <p:cNvPr id="11" name="Picture 10" descr="A black and green rectangular object with a white line">
            <a:extLst>
              <a:ext uri="{FF2B5EF4-FFF2-40B4-BE49-F238E27FC236}">
                <a16:creationId xmlns:a16="http://schemas.microsoft.com/office/drawing/2014/main" id="{3FBFA4BB-AE7A-C1B7-81D5-818F43763483}"/>
              </a:ext>
            </a:extLst>
          </p:cNvPr>
          <p:cNvPicPr>
            <a:picLocks noGrp="1" noRot="1" noChangeAspect="1" noMove="1" noResize="1" noEditPoints="1" noAdjustHandles="1" noChangeArrowheads="1" noChangeShapeType="1" noCrop="1"/>
          </p:cNvPicPr>
          <p:nvPr/>
        </p:nvPicPr>
        <p:blipFill>
          <a:blip r:embed="rId5"/>
          <a:stretch>
            <a:fillRect/>
          </a:stretch>
        </p:blipFill>
        <p:spPr>
          <a:xfrm>
            <a:off x="0" y="0"/>
            <a:ext cx="2234327" cy="6858000"/>
          </a:xfrm>
          <a:prstGeom prst="rect">
            <a:avLst/>
          </a:prstGeom>
        </p:spPr>
      </p:pic>
      <p:sp>
        <p:nvSpPr>
          <p:cNvPr id="12" name="Title 1">
            <a:extLst>
              <a:ext uri="{FF2B5EF4-FFF2-40B4-BE49-F238E27FC236}">
                <a16:creationId xmlns:a16="http://schemas.microsoft.com/office/drawing/2014/main" id="{879AA1DB-49BF-21A6-AA93-DACB36E38F5E}"/>
              </a:ext>
            </a:extLst>
          </p:cNvPr>
          <p:cNvSpPr txBox="1">
            <a:spLocks/>
          </p:cNvSpPr>
          <p:nvPr/>
        </p:nvSpPr>
        <p:spPr>
          <a:xfrm>
            <a:off x="2432957" y="193676"/>
            <a:ext cx="9566956" cy="5434876"/>
          </a:xfrm>
          <a:prstGeom prst="rect">
            <a:avLst/>
          </a:prstGeom>
        </p:spPr>
        <p:txBody>
          <a:bodyPr lIns="0" tIns="0" rIns="0" bIns="0" anchor="t">
            <a:noAutofit/>
          </a:bodyPr>
          <a:lstStyle>
            <a:lvl1pPr algn="l" defTabSz="914034" rtl="0" eaLnBrk="1" latinLnBrk="0" hangingPunct="1">
              <a:lnSpc>
                <a:spcPct val="80000"/>
              </a:lnSpc>
              <a:spcBef>
                <a:spcPct val="0"/>
              </a:spcBef>
              <a:buNone/>
              <a:defRPr sz="7200" b="0" i="0" kern="1200" spc="-150">
                <a:solidFill>
                  <a:schemeClr val="tx1"/>
                </a:solidFill>
                <a:latin typeface="Mona Sans Display" pitchFamily="2" charset="77"/>
                <a:ea typeface="+mj-ea"/>
                <a:cs typeface="Mona Sans Display" pitchFamily="2" charset="77"/>
              </a:defRPr>
            </a:lvl1pPr>
          </a:lstStyle>
          <a:p>
            <a:r>
              <a:rPr lang="en-US" sz="6000" dirty="0">
                <a:latin typeface="+mj-lt"/>
                <a:cs typeface="Arial"/>
              </a:rPr>
              <a:t>Turn any idea into a Hands-on GitHub Exercise</a:t>
            </a:r>
          </a:p>
          <a:p>
            <a:r>
              <a:rPr lang="en-US" sz="2800" dirty="0">
                <a:solidFill>
                  <a:schemeClr val="accent1">
                    <a:lumMod val="50000"/>
                  </a:schemeClr>
                </a:solidFill>
                <a:latin typeface="+mj-lt"/>
              </a:rPr>
              <a:t>GitHub Copilot app/CLI and the gh-skills-builder-plugin</a:t>
            </a:r>
          </a:p>
          <a:p>
            <a:endParaRPr lang="en-US" sz="6000" dirty="0">
              <a:latin typeface="+mj-lt"/>
              <a:cs typeface="Arial"/>
            </a:endParaRPr>
          </a:p>
        </p:txBody>
      </p:sp>
      <p:sp>
        <p:nvSpPr>
          <p:cNvPr id="13" name="Rectangle 12">
            <a:extLst>
              <a:ext uri="{FF2B5EF4-FFF2-40B4-BE49-F238E27FC236}">
                <a16:creationId xmlns:a16="http://schemas.microsoft.com/office/drawing/2014/main" id="{9C9970E2-FD91-8AC5-DC96-1C5099754D5C}"/>
              </a:ext>
              <a:ext uri="{C183D7F6-B498-43B3-948B-1728B52AA6E4}">
                <adec:decorative xmlns:adec="http://schemas.microsoft.com/office/drawing/2017/decorative" val="1"/>
              </a:ext>
            </a:extLst>
          </p:cNvPr>
          <p:cNvSpPr/>
          <p:nvPr/>
        </p:nvSpPr>
        <p:spPr>
          <a:xfrm>
            <a:off x="2432957" y="5767540"/>
            <a:ext cx="9564624" cy="18288"/>
          </a:xfrm>
          <a:prstGeom prst="rect">
            <a:avLst/>
          </a:prstGeom>
          <a:solidFill>
            <a:srgbClr val="5A61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08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Mona Sans"/>
              <a:ea typeface="+mn-ea"/>
              <a:cs typeface="+mn-cs"/>
            </a:endParaRPr>
          </a:p>
        </p:txBody>
      </p:sp>
      <p:pic>
        <p:nvPicPr>
          <p:cNvPr id="5" name="Picture Placeholder 2">
            <a:extLst>
              <a:ext uri="{FF2B5EF4-FFF2-40B4-BE49-F238E27FC236}">
                <a16:creationId xmlns:a16="http://schemas.microsoft.com/office/drawing/2014/main" id="{A4040410-ACC5-4882-5E1F-DEA42C4A9CB9}"/>
              </a:ext>
            </a:extLst>
          </p:cNvPr>
          <p:cNvPicPr>
            <a:picLocks noChangeAspect="1"/>
          </p:cNvPicPr>
          <p:nvPr/>
        </p:nvPicPr>
        <p:blipFill>
          <a:blip r:embed="rId6"/>
          <a:stretch>
            <a:fillRect/>
          </a:stretch>
        </p:blipFill>
        <p:spPr>
          <a:xfrm>
            <a:off x="2432957" y="5924551"/>
            <a:ext cx="1231037" cy="848568"/>
          </a:xfrm>
          <a:prstGeom prst="rect">
            <a:avLst/>
          </a:prstGeom>
        </p:spPr>
      </p:pic>
      <p:sp>
        <p:nvSpPr>
          <p:cNvPr id="6" name="Text Placeholder 3">
            <a:extLst>
              <a:ext uri="{FF2B5EF4-FFF2-40B4-BE49-F238E27FC236}">
                <a16:creationId xmlns:a16="http://schemas.microsoft.com/office/drawing/2014/main" id="{7D122613-DB47-BE75-3CF6-CA61F9919FB5}"/>
              </a:ext>
            </a:extLst>
          </p:cNvPr>
          <p:cNvSpPr txBox="1">
            <a:spLocks/>
          </p:cNvSpPr>
          <p:nvPr/>
        </p:nvSpPr>
        <p:spPr>
          <a:xfrm>
            <a:off x="3764059" y="5951154"/>
            <a:ext cx="8507391" cy="162484"/>
          </a:xfrm>
          <a:prstGeom prst="rect">
            <a:avLst/>
          </a:prstGeom>
        </p:spPr>
        <p:txBody>
          <a:bodyPr/>
          <a:lstStyle>
            <a:lvl1pPr marL="0" indent="0" algn="l" defTabSz="914034" rtl="0" eaLnBrk="1" latinLnBrk="0" hangingPunct="1">
              <a:lnSpc>
                <a:spcPct val="90000"/>
              </a:lnSpc>
              <a:spcBef>
                <a:spcPts val="1000"/>
              </a:spcBef>
              <a:buFont typeface="Arial" panose="020B0604020202020204" pitchFamily="34" charset="0"/>
              <a:buNone/>
              <a:defRPr sz="2199" b="0" i="0" kern="1200">
                <a:solidFill>
                  <a:schemeClr val="tx1"/>
                </a:solidFill>
                <a:latin typeface="Mona-Sans Regular" pitchFamily="2" charset="77"/>
                <a:ea typeface="+mn-ea"/>
                <a:cs typeface="Arial" panose="020B0604020202020204" pitchFamily="34" charset="0"/>
              </a:defRPr>
            </a:lvl1pPr>
            <a:lvl2pPr marL="457017"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2pPr>
            <a:lvl3pPr marL="914034"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3pPr>
            <a:lvl4pPr marL="1371051"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4pPr>
            <a:lvl5pPr marL="1828068"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sz="2000" b="1">
                <a:latin typeface="Mona Sans Mono"/>
              </a:rPr>
              <a:t>Ari LiVigni</a:t>
            </a:r>
            <a:endParaRPr lang="en-US" sz="2000" b="1" dirty="0">
              <a:latin typeface="Mona Sans Mono"/>
            </a:endParaRPr>
          </a:p>
        </p:txBody>
      </p:sp>
      <p:sp>
        <p:nvSpPr>
          <p:cNvPr id="7" name="Text Placeholder 4">
            <a:extLst>
              <a:ext uri="{FF2B5EF4-FFF2-40B4-BE49-F238E27FC236}">
                <a16:creationId xmlns:a16="http://schemas.microsoft.com/office/drawing/2014/main" id="{9AAB6681-B0AF-CC6E-BCCC-14369EFFE7F4}"/>
              </a:ext>
            </a:extLst>
          </p:cNvPr>
          <p:cNvSpPr txBox="1">
            <a:spLocks/>
          </p:cNvSpPr>
          <p:nvPr/>
        </p:nvSpPr>
        <p:spPr>
          <a:xfrm>
            <a:off x="3751238" y="6236279"/>
            <a:ext cx="8507390" cy="76401"/>
          </a:xfrm>
          <a:prstGeom prst="rect">
            <a:avLst/>
          </a:prstGeom>
        </p:spPr>
        <p:txBody>
          <a:bodyPr/>
          <a:lstStyle>
            <a:lvl1pPr marL="0" indent="0" algn="l" defTabSz="914034" rtl="0" eaLnBrk="1" latinLnBrk="0" hangingPunct="1">
              <a:lnSpc>
                <a:spcPct val="90000"/>
              </a:lnSpc>
              <a:spcBef>
                <a:spcPts val="1000"/>
              </a:spcBef>
              <a:buFont typeface="Arial" panose="020B0604020202020204" pitchFamily="34" charset="0"/>
              <a:buNone/>
              <a:defRPr sz="2199" b="0" i="0" kern="1200">
                <a:solidFill>
                  <a:schemeClr val="tx1"/>
                </a:solidFill>
                <a:latin typeface="Mona-Sans Regular" pitchFamily="2" charset="77"/>
                <a:ea typeface="+mn-ea"/>
                <a:cs typeface="Arial" panose="020B0604020202020204" pitchFamily="34" charset="0"/>
              </a:defRPr>
            </a:lvl1pPr>
            <a:lvl2pPr marL="457017"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2pPr>
            <a:lvl3pPr marL="914034"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3pPr>
            <a:lvl4pPr marL="1371051"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4pPr>
            <a:lvl5pPr marL="1828068"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sz="1600" b="1" dirty="0">
                <a:solidFill>
                  <a:schemeClr val="accent4"/>
                </a:solidFill>
                <a:latin typeface="Mona Sans Display"/>
              </a:rPr>
              <a:t>Sr. Learning Advocate and Agentic AI Engineer</a:t>
            </a:r>
            <a:endParaRPr lang="en-US" sz="1600" b="1" dirty="0">
              <a:solidFill>
                <a:schemeClr val="accent4"/>
              </a:solidFill>
            </a:endParaRPr>
          </a:p>
        </p:txBody>
      </p:sp>
      <p:sp>
        <p:nvSpPr>
          <p:cNvPr id="8" name="Text Placeholder 5">
            <a:extLst>
              <a:ext uri="{FF2B5EF4-FFF2-40B4-BE49-F238E27FC236}">
                <a16:creationId xmlns:a16="http://schemas.microsoft.com/office/drawing/2014/main" id="{68B126A6-81FC-90BC-86FB-D8F0ED3C5423}"/>
              </a:ext>
            </a:extLst>
          </p:cNvPr>
          <p:cNvSpPr txBox="1">
            <a:spLocks/>
          </p:cNvSpPr>
          <p:nvPr/>
        </p:nvSpPr>
        <p:spPr>
          <a:xfrm>
            <a:off x="3751238" y="6511723"/>
            <a:ext cx="8774021" cy="152601"/>
          </a:xfrm>
          <a:prstGeom prst="rect">
            <a:avLst/>
          </a:prstGeom>
        </p:spPr>
        <p:txBody>
          <a:bodyPr/>
          <a:lstStyle>
            <a:lvl1pPr marL="0" indent="0" algn="l" defTabSz="914034" rtl="0" eaLnBrk="1" latinLnBrk="0" hangingPunct="1">
              <a:lnSpc>
                <a:spcPct val="90000"/>
              </a:lnSpc>
              <a:spcBef>
                <a:spcPts val="1000"/>
              </a:spcBef>
              <a:buFont typeface="Arial" panose="020B0604020202020204" pitchFamily="34" charset="0"/>
              <a:buNone/>
              <a:defRPr sz="2199" b="0" i="0" kern="1200">
                <a:solidFill>
                  <a:schemeClr val="tx1"/>
                </a:solidFill>
                <a:latin typeface="Mona-Sans Regular" pitchFamily="2" charset="77"/>
                <a:ea typeface="+mn-ea"/>
                <a:cs typeface="Arial" panose="020B0604020202020204" pitchFamily="34" charset="0"/>
              </a:defRPr>
            </a:lvl1pPr>
            <a:lvl2pPr marL="457017"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2pPr>
            <a:lvl3pPr marL="914034"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3pPr>
            <a:lvl4pPr marL="1371051"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4pPr>
            <a:lvl5pPr marL="1828068"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sz="1600" b="1">
                <a:solidFill>
                  <a:schemeClr val="accent4"/>
                </a:solidFill>
                <a:latin typeface="Mona Sans Display"/>
              </a:rPr>
              <a:t>GitHub</a:t>
            </a:r>
            <a:endParaRPr lang="en-US" sz="1600" b="1" dirty="0">
              <a:solidFill>
                <a:schemeClr val="accent4"/>
              </a:solidFill>
              <a:latin typeface="Mona Sans Display"/>
            </a:endParaRPr>
          </a:p>
        </p:txBody>
      </p:sp>
    </p:spTree>
    <p:extLst>
      <p:ext uri="{BB962C8B-B14F-4D97-AF65-F5344CB8AC3E}">
        <p14:creationId xmlns:p14="http://schemas.microsoft.com/office/powerpoint/2010/main" val="713585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852928"/>
            <a:ext cx="2926080" cy="1325880"/>
          </a:xfrm>
          <a:prstGeom prst="rect">
            <a:avLst/>
          </a:prstGeom>
          <a:noFill/>
        </p:spPr>
        <p:txBody>
          <a:bodyPr wrap="square" lIns="0" tIns="0" rIns="0" bIns="0" anchor="t">
            <a:spAutoFit/>
          </a:bodyPr>
          <a:lstStyle/>
          <a:p>
            <a:pPr algn="l">
              <a:spcAft>
                <a:spcPts val="300"/>
              </a:spcAft>
            </a:pPr>
            <a:r>
              <a:rPr sz="3000" b="1">
                <a:solidFill>
                  <a:srgbClr val="FFFFFF"/>
                </a:solidFill>
                <a:latin typeface="Mona Sans Display"/>
              </a:rPr>
              <a:t>Our 60-minute</a:t>
            </a:r>
          </a:p>
          <a:p>
            <a:pPr algn="l">
              <a:spcAft>
                <a:spcPts val="300"/>
              </a:spcAft>
            </a:pPr>
            <a:r>
              <a:rPr sz="3000" b="1">
                <a:solidFill>
                  <a:srgbClr val="FFFFFF"/>
                </a:solidFill>
                <a:latin typeface="Mona Sans Display"/>
              </a:rPr>
              <a:t>flight plan</a:t>
            </a:r>
          </a:p>
        </p:txBody>
      </p:sp>
      <p:sp>
        <p:nvSpPr>
          <p:cNvPr id="3" name="TextBox 2"/>
          <p:cNvSpPr txBox="1"/>
          <p:nvPr/>
        </p:nvSpPr>
        <p:spPr>
          <a:xfrm>
            <a:off x="548640" y="4700016"/>
            <a:ext cx="2926080" cy="1005840"/>
          </a:xfrm>
          <a:prstGeom prst="rect">
            <a:avLst/>
          </a:prstGeom>
          <a:noFill/>
        </p:spPr>
        <p:txBody>
          <a:bodyPr wrap="square" lIns="0" tIns="0" rIns="0" bIns="0" anchor="t">
            <a:spAutoFit/>
          </a:bodyPr>
          <a:lstStyle/>
          <a:p>
            <a:pPr algn="l">
              <a:spcAft>
                <a:spcPts val="300"/>
              </a:spcAft>
            </a:pPr>
            <a:r>
              <a:rPr sz="2100" b="0">
                <a:solidFill>
                  <a:srgbClr val="B0BAC3"/>
                </a:solidFill>
                <a:latin typeface="Mona Sans"/>
              </a:rPr>
              <a:t>Mostly live.</a:t>
            </a:r>
          </a:p>
          <a:p>
            <a:pPr algn="l">
              <a:spcAft>
                <a:spcPts val="300"/>
              </a:spcAft>
            </a:pPr>
            <a:r>
              <a:rPr sz="2100" b="0">
                <a:solidFill>
                  <a:srgbClr val="B0BAC3"/>
                </a:solidFill>
                <a:latin typeface="Mona Sans"/>
              </a:rPr>
              <a:t>Checkpoints protect the demo.</a:t>
            </a:r>
          </a:p>
        </p:txBody>
      </p:sp>
      <p:sp>
        <p:nvSpPr>
          <p:cNvPr id="4" name="TextBox 3"/>
          <p:cNvSpPr txBox="1"/>
          <p:nvPr/>
        </p:nvSpPr>
        <p:spPr>
          <a:xfrm>
            <a:off x="4416552" y="521207"/>
            <a:ext cx="1143000" cy="365760"/>
          </a:xfrm>
          <a:prstGeom prst="rect">
            <a:avLst/>
          </a:prstGeom>
          <a:noFill/>
        </p:spPr>
        <p:txBody>
          <a:bodyPr wrap="square" lIns="0" tIns="0" rIns="0" bIns="0" anchor="t">
            <a:spAutoFit/>
          </a:bodyPr>
          <a:lstStyle/>
          <a:p>
            <a:pPr algn="l">
              <a:spcAft>
                <a:spcPts val="300"/>
              </a:spcAft>
            </a:pPr>
            <a:r>
              <a:rPr sz="1900" b="1">
                <a:solidFill>
                  <a:srgbClr val="5EEC83"/>
                </a:solidFill>
                <a:latin typeface="Mona Sans Display"/>
              </a:rPr>
              <a:t>00-06</a:t>
            </a:r>
          </a:p>
        </p:txBody>
      </p:sp>
      <p:sp>
        <p:nvSpPr>
          <p:cNvPr id="5" name="TextBox 4"/>
          <p:cNvSpPr txBox="1"/>
          <p:nvPr/>
        </p:nvSpPr>
        <p:spPr>
          <a:xfrm>
            <a:off x="5760720" y="521207"/>
            <a:ext cx="5715000" cy="365760"/>
          </a:xfrm>
          <a:prstGeom prst="rect">
            <a:avLst/>
          </a:prstGeom>
          <a:noFill/>
        </p:spPr>
        <p:txBody>
          <a:bodyPr wrap="square" lIns="0" tIns="0" rIns="0" bIns="0" anchor="t">
            <a:spAutoFit/>
          </a:bodyPr>
          <a:lstStyle/>
          <a:p>
            <a:pPr algn="l">
              <a:spcAft>
                <a:spcPts val="300"/>
              </a:spcAft>
            </a:pPr>
            <a:r>
              <a:rPr sz="2300" b="1">
                <a:solidFill>
                  <a:srgbClr val="FFFFFF"/>
                </a:solidFill>
                <a:latin typeface="Mona Sans Display"/>
              </a:rPr>
              <a:t>Get oriented</a:t>
            </a:r>
          </a:p>
        </p:txBody>
      </p:sp>
      <p:sp>
        <p:nvSpPr>
          <p:cNvPr id="6" name="TextBox 5"/>
          <p:cNvSpPr txBox="1"/>
          <p:nvPr/>
        </p:nvSpPr>
        <p:spPr>
          <a:xfrm>
            <a:off x="5760720" y="950976"/>
            <a:ext cx="5715000" cy="457200"/>
          </a:xfrm>
          <a:prstGeom prst="rect">
            <a:avLst/>
          </a:prstGeom>
          <a:noFill/>
        </p:spPr>
        <p:txBody>
          <a:bodyPr wrap="square" lIns="0" tIns="0" rIns="0" bIns="0" anchor="t">
            <a:spAutoFit/>
          </a:bodyPr>
          <a:lstStyle/>
          <a:p>
            <a:pPr algn="l">
              <a:spcAft>
                <a:spcPts val="300"/>
              </a:spcAft>
            </a:pPr>
            <a:r>
              <a:rPr sz="1700" b="0">
                <a:solidFill>
                  <a:srgbClr val="B0BAC3"/>
                </a:solidFill>
                <a:latin typeface="Mona Sans"/>
              </a:rPr>
              <a:t>Plugins, installation, and the quick-start scenario</a:t>
            </a:r>
          </a:p>
        </p:txBody>
      </p:sp>
      <p:sp>
        <p:nvSpPr>
          <p:cNvPr id="7" name="TextBox 6"/>
          <p:cNvSpPr txBox="1"/>
          <p:nvPr/>
        </p:nvSpPr>
        <p:spPr>
          <a:xfrm>
            <a:off x="4416552" y="1453895"/>
            <a:ext cx="1143000" cy="365760"/>
          </a:xfrm>
          <a:prstGeom prst="rect">
            <a:avLst/>
          </a:prstGeom>
          <a:noFill/>
        </p:spPr>
        <p:txBody>
          <a:bodyPr wrap="square" lIns="0" tIns="0" rIns="0" bIns="0" anchor="t">
            <a:spAutoFit/>
          </a:bodyPr>
          <a:lstStyle/>
          <a:p>
            <a:pPr algn="l">
              <a:spcAft>
                <a:spcPts val="300"/>
              </a:spcAft>
            </a:pPr>
            <a:r>
              <a:rPr sz="1900" b="1">
                <a:solidFill>
                  <a:srgbClr val="5EEC83"/>
                </a:solidFill>
                <a:latin typeface="Mona Sans Display"/>
              </a:rPr>
              <a:t>06-16</a:t>
            </a:r>
          </a:p>
        </p:txBody>
      </p:sp>
      <p:sp>
        <p:nvSpPr>
          <p:cNvPr id="8" name="TextBox 7"/>
          <p:cNvSpPr txBox="1"/>
          <p:nvPr/>
        </p:nvSpPr>
        <p:spPr>
          <a:xfrm>
            <a:off x="5760720" y="1453895"/>
            <a:ext cx="5715000" cy="365760"/>
          </a:xfrm>
          <a:prstGeom prst="rect">
            <a:avLst/>
          </a:prstGeom>
          <a:noFill/>
        </p:spPr>
        <p:txBody>
          <a:bodyPr wrap="square" lIns="0" tIns="0" rIns="0" bIns="0" anchor="t">
            <a:spAutoFit/>
          </a:bodyPr>
          <a:lstStyle/>
          <a:p>
            <a:pPr algn="l">
              <a:spcAft>
                <a:spcPts val="300"/>
              </a:spcAft>
            </a:pPr>
            <a:r>
              <a:rPr sz="2300" b="1">
                <a:solidFill>
                  <a:srgbClr val="FFFFFF"/>
                </a:solidFill>
                <a:latin typeface="Mona Sans Display"/>
              </a:rPr>
              <a:t>Outline + hand-off</a:t>
            </a:r>
          </a:p>
        </p:txBody>
      </p:sp>
      <p:sp>
        <p:nvSpPr>
          <p:cNvPr id="9" name="TextBox 8"/>
          <p:cNvSpPr txBox="1"/>
          <p:nvPr/>
        </p:nvSpPr>
        <p:spPr>
          <a:xfrm>
            <a:off x="5760720" y="1883663"/>
            <a:ext cx="5715000" cy="457200"/>
          </a:xfrm>
          <a:prstGeom prst="rect">
            <a:avLst/>
          </a:prstGeom>
          <a:noFill/>
        </p:spPr>
        <p:txBody>
          <a:bodyPr wrap="square" lIns="0" tIns="0" rIns="0" bIns="0" anchor="t">
            <a:spAutoFit/>
          </a:bodyPr>
          <a:lstStyle/>
          <a:p>
            <a:pPr algn="l">
              <a:spcAft>
                <a:spcPts val="300"/>
              </a:spcAft>
            </a:pPr>
            <a:r>
              <a:rPr sz="1700" b="0">
                <a:solidFill>
                  <a:srgbClr val="B0BAC3"/>
                </a:solidFill>
                <a:latin typeface="Mona Sans"/>
              </a:rPr>
              <a:t>Three learner steps, a name, and a private repo</a:t>
            </a:r>
          </a:p>
        </p:txBody>
      </p:sp>
      <p:sp>
        <p:nvSpPr>
          <p:cNvPr id="10" name="TextBox 9"/>
          <p:cNvSpPr txBox="1"/>
          <p:nvPr/>
        </p:nvSpPr>
        <p:spPr>
          <a:xfrm>
            <a:off x="4416552" y="2386584"/>
            <a:ext cx="1143000" cy="365760"/>
          </a:xfrm>
          <a:prstGeom prst="rect">
            <a:avLst/>
          </a:prstGeom>
          <a:noFill/>
        </p:spPr>
        <p:txBody>
          <a:bodyPr wrap="square" lIns="0" tIns="0" rIns="0" bIns="0" anchor="t">
            <a:spAutoFit/>
          </a:bodyPr>
          <a:lstStyle/>
          <a:p>
            <a:pPr algn="l">
              <a:spcAft>
                <a:spcPts val="300"/>
              </a:spcAft>
            </a:pPr>
            <a:r>
              <a:rPr sz="1900" b="1">
                <a:solidFill>
                  <a:srgbClr val="5EEC83"/>
                </a:solidFill>
                <a:latin typeface="Mona Sans Display"/>
              </a:rPr>
              <a:t>16-27</a:t>
            </a:r>
          </a:p>
        </p:txBody>
      </p:sp>
      <p:sp>
        <p:nvSpPr>
          <p:cNvPr id="11" name="TextBox 10"/>
          <p:cNvSpPr txBox="1"/>
          <p:nvPr/>
        </p:nvSpPr>
        <p:spPr>
          <a:xfrm>
            <a:off x="5760720" y="2386584"/>
            <a:ext cx="5715000" cy="365760"/>
          </a:xfrm>
          <a:prstGeom prst="rect">
            <a:avLst/>
          </a:prstGeom>
          <a:noFill/>
        </p:spPr>
        <p:txBody>
          <a:bodyPr wrap="square" lIns="0" tIns="0" rIns="0" bIns="0" anchor="t">
            <a:spAutoFit/>
          </a:bodyPr>
          <a:lstStyle/>
          <a:p>
            <a:pPr algn="l">
              <a:spcAft>
                <a:spcPts val="300"/>
              </a:spcAft>
            </a:pPr>
            <a:r>
              <a:rPr sz="2300" b="1">
                <a:solidFill>
                  <a:srgbClr val="FFFFFF"/>
                </a:solidFill>
                <a:latin typeface="Mona Sans Display"/>
              </a:rPr>
              <a:t>Bootstrap</a:t>
            </a:r>
          </a:p>
        </p:txBody>
      </p:sp>
      <p:sp>
        <p:nvSpPr>
          <p:cNvPr id="12" name="TextBox 11"/>
          <p:cNvSpPr txBox="1"/>
          <p:nvPr/>
        </p:nvSpPr>
        <p:spPr>
          <a:xfrm>
            <a:off x="5760720" y="2816352"/>
            <a:ext cx="5715000" cy="457200"/>
          </a:xfrm>
          <a:prstGeom prst="rect">
            <a:avLst/>
          </a:prstGeom>
          <a:noFill/>
        </p:spPr>
        <p:txBody>
          <a:bodyPr wrap="square" lIns="0" tIns="0" rIns="0" bIns="0" anchor="t">
            <a:spAutoFit/>
          </a:bodyPr>
          <a:lstStyle/>
          <a:p>
            <a:pPr algn="l">
              <a:spcAft>
                <a:spcPts val="300"/>
              </a:spcAft>
            </a:pPr>
            <a:r>
              <a:rPr sz="1700" b="0">
                <a:solidFill>
                  <a:srgbClr val="B0BAC3"/>
                </a:solidFill>
                <a:latin typeface="Mona Sans"/>
              </a:rPr>
              <a:t>From outline to files, plus one fail-to-pass check</a:t>
            </a:r>
          </a:p>
        </p:txBody>
      </p:sp>
      <p:sp>
        <p:nvSpPr>
          <p:cNvPr id="13" name="TextBox 12"/>
          <p:cNvSpPr txBox="1"/>
          <p:nvPr/>
        </p:nvSpPr>
        <p:spPr>
          <a:xfrm>
            <a:off x="4416552" y="3319272"/>
            <a:ext cx="1143000" cy="365760"/>
          </a:xfrm>
          <a:prstGeom prst="rect">
            <a:avLst/>
          </a:prstGeom>
          <a:noFill/>
        </p:spPr>
        <p:txBody>
          <a:bodyPr wrap="square" lIns="0" tIns="0" rIns="0" bIns="0" anchor="t">
            <a:spAutoFit/>
          </a:bodyPr>
          <a:lstStyle/>
          <a:p>
            <a:pPr algn="l">
              <a:spcAft>
                <a:spcPts val="300"/>
              </a:spcAft>
            </a:pPr>
            <a:r>
              <a:rPr sz="1900" b="1">
                <a:solidFill>
                  <a:srgbClr val="5EEC83"/>
                </a:solidFill>
                <a:latin typeface="Mona Sans Display"/>
              </a:rPr>
              <a:t>27-35</a:t>
            </a:r>
          </a:p>
        </p:txBody>
      </p:sp>
      <p:sp>
        <p:nvSpPr>
          <p:cNvPr id="14" name="TextBox 13"/>
          <p:cNvSpPr txBox="1"/>
          <p:nvPr/>
        </p:nvSpPr>
        <p:spPr>
          <a:xfrm>
            <a:off x="5760720" y="3319272"/>
            <a:ext cx="5715000" cy="365760"/>
          </a:xfrm>
          <a:prstGeom prst="rect">
            <a:avLst/>
          </a:prstGeom>
          <a:noFill/>
        </p:spPr>
        <p:txBody>
          <a:bodyPr wrap="square" lIns="0" tIns="0" rIns="0" bIns="0" anchor="t">
            <a:spAutoFit/>
          </a:bodyPr>
          <a:lstStyle/>
          <a:p>
            <a:pPr algn="l">
              <a:spcAft>
                <a:spcPts val="300"/>
              </a:spcAft>
            </a:pPr>
            <a:r>
              <a:rPr sz="2300" b="1">
                <a:solidFill>
                  <a:srgbClr val="FFFFFF"/>
                </a:solidFill>
                <a:latin typeface="Mona Sans Display"/>
              </a:rPr>
              <a:t>Review</a:t>
            </a:r>
          </a:p>
        </p:txBody>
      </p:sp>
      <p:sp>
        <p:nvSpPr>
          <p:cNvPr id="15" name="TextBox 14"/>
          <p:cNvSpPr txBox="1"/>
          <p:nvPr/>
        </p:nvSpPr>
        <p:spPr>
          <a:xfrm>
            <a:off x="5760720" y="3749039"/>
            <a:ext cx="5715000" cy="457200"/>
          </a:xfrm>
          <a:prstGeom prst="rect">
            <a:avLst/>
          </a:prstGeom>
          <a:noFill/>
        </p:spPr>
        <p:txBody>
          <a:bodyPr wrap="square" lIns="0" tIns="0" rIns="0" bIns="0" anchor="t">
            <a:spAutoFit/>
          </a:bodyPr>
          <a:lstStyle/>
          <a:p>
            <a:pPr algn="l">
              <a:spcAft>
                <a:spcPts val="300"/>
              </a:spcAft>
            </a:pPr>
            <a:r>
              <a:rPr sz="1700" b="0">
                <a:solidFill>
                  <a:srgbClr val="B0BAC3"/>
                </a:solidFill>
                <a:latin typeface="Mona Sans"/>
              </a:rPr>
              <a:t>Report findings, approve one fix, review again</a:t>
            </a:r>
          </a:p>
        </p:txBody>
      </p:sp>
      <p:sp>
        <p:nvSpPr>
          <p:cNvPr id="16" name="TextBox 15"/>
          <p:cNvSpPr txBox="1"/>
          <p:nvPr/>
        </p:nvSpPr>
        <p:spPr>
          <a:xfrm>
            <a:off x="4416552" y="4251960"/>
            <a:ext cx="1143000" cy="365760"/>
          </a:xfrm>
          <a:prstGeom prst="rect">
            <a:avLst/>
          </a:prstGeom>
          <a:noFill/>
        </p:spPr>
        <p:txBody>
          <a:bodyPr wrap="square" lIns="0" tIns="0" rIns="0" bIns="0" anchor="t">
            <a:spAutoFit/>
          </a:bodyPr>
          <a:lstStyle/>
          <a:p>
            <a:pPr algn="l">
              <a:spcAft>
                <a:spcPts val="300"/>
              </a:spcAft>
            </a:pPr>
            <a:r>
              <a:rPr sz="1900" b="1">
                <a:solidFill>
                  <a:srgbClr val="5EEC83"/>
                </a:solidFill>
                <a:latin typeface="Mona Sans Display"/>
              </a:rPr>
              <a:t>35-41</a:t>
            </a:r>
          </a:p>
        </p:txBody>
      </p:sp>
      <p:sp>
        <p:nvSpPr>
          <p:cNvPr id="17" name="TextBox 16"/>
          <p:cNvSpPr txBox="1"/>
          <p:nvPr/>
        </p:nvSpPr>
        <p:spPr>
          <a:xfrm>
            <a:off x="5760720" y="4251960"/>
            <a:ext cx="5715000" cy="365760"/>
          </a:xfrm>
          <a:prstGeom prst="rect">
            <a:avLst/>
          </a:prstGeom>
          <a:noFill/>
        </p:spPr>
        <p:txBody>
          <a:bodyPr wrap="square" lIns="0" tIns="0" rIns="0" bIns="0" anchor="t">
            <a:spAutoFit/>
          </a:bodyPr>
          <a:lstStyle/>
          <a:p>
            <a:pPr algn="l">
              <a:spcAft>
                <a:spcPts val="300"/>
              </a:spcAft>
            </a:pPr>
            <a:r>
              <a:rPr sz="2300" b="1">
                <a:solidFill>
                  <a:srgbClr val="FFFFFF"/>
                </a:solidFill>
                <a:latin typeface="Mona Sans Display"/>
              </a:rPr>
              <a:t>Publish readiness</a:t>
            </a:r>
          </a:p>
        </p:txBody>
      </p:sp>
      <p:sp>
        <p:nvSpPr>
          <p:cNvPr id="18" name="TextBox 17"/>
          <p:cNvSpPr txBox="1"/>
          <p:nvPr/>
        </p:nvSpPr>
        <p:spPr>
          <a:xfrm>
            <a:off x="5760720" y="4681728"/>
            <a:ext cx="5715000" cy="457200"/>
          </a:xfrm>
          <a:prstGeom prst="rect">
            <a:avLst/>
          </a:prstGeom>
          <a:noFill/>
        </p:spPr>
        <p:txBody>
          <a:bodyPr wrap="square" lIns="0" tIns="0" rIns="0" bIns="0" anchor="t">
            <a:spAutoFit/>
          </a:bodyPr>
          <a:lstStyle/>
          <a:p>
            <a:pPr algn="l">
              <a:spcAft>
                <a:spcPts val="300"/>
              </a:spcAft>
            </a:pPr>
            <a:r>
              <a:rPr sz="1700" b="0">
                <a:solidFill>
                  <a:srgbClr val="B0BAC3"/>
                </a:solidFill>
                <a:latin typeface="Mona Sans"/>
              </a:rPr>
              <a:t>Evidence and a launch plan, without publishing</a:t>
            </a:r>
          </a:p>
        </p:txBody>
      </p:sp>
      <p:sp>
        <p:nvSpPr>
          <p:cNvPr id="19" name="TextBox 18"/>
          <p:cNvSpPr txBox="1"/>
          <p:nvPr/>
        </p:nvSpPr>
        <p:spPr>
          <a:xfrm>
            <a:off x="4416552" y="5184648"/>
            <a:ext cx="1143000" cy="365760"/>
          </a:xfrm>
          <a:prstGeom prst="rect">
            <a:avLst/>
          </a:prstGeom>
          <a:noFill/>
        </p:spPr>
        <p:txBody>
          <a:bodyPr wrap="square" lIns="0" tIns="0" rIns="0" bIns="0" anchor="t">
            <a:spAutoFit/>
          </a:bodyPr>
          <a:lstStyle/>
          <a:p>
            <a:pPr algn="l">
              <a:spcAft>
                <a:spcPts val="300"/>
              </a:spcAft>
            </a:pPr>
            <a:r>
              <a:rPr sz="1900" b="1">
                <a:solidFill>
                  <a:srgbClr val="5EEC83"/>
                </a:solidFill>
                <a:latin typeface="Mona Sans Display"/>
              </a:rPr>
              <a:t>41-60</a:t>
            </a:r>
          </a:p>
        </p:txBody>
      </p:sp>
      <p:sp>
        <p:nvSpPr>
          <p:cNvPr id="20" name="TextBox 19"/>
          <p:cNvSpPr txBox="1"/>
          <p:nvPr/>
        </p:nvSpPr>
        <p:spPr>
          <a:xfrm>
            <a:off x="5760720" y="5184648"/>
            <a:ext cx="5715000" cy="365760"/>
          </a:xfrm>
          <a:prstGeom prst="rect">
            <a:avLst/>
          </a:prstGeom>
          <a:noFill/>
        </p:spPr>
        <p:txBody>
          <a:bodyPr wrap="square" lIns="0" tIns="0" rIns="0" bIns="0" anchor="t">
            <a:spAutoFit/>
          </a:bodyPr>
          <a:lstStyle/>
          <a:p>
            <a:pPr algn="l">
              <a:spcAft>
                <a:spcPts val="300"/>
              </a:spcAft>
            </a:pPr>
            <a:r>
              <a:rPr sz="2300" b="1">
                <a:solidFill>
                  <a:srgbClr val="FFFFFF"/>
                </a:solidFill>
                <a:latin typeface="Mona Sans Display"/>
              </a:rPr>
              <a:t>Recap + Q&amp;A</a:t>
            </a:r>
          </a:p>
        </p:txBody>
      </p:sp>
      <p:sp>
        <p:nvSpPr>
          <p:cNvPr id="21" name="TextBox 20"/>
          <p:cNvSpPr txBox="1"/>
          <p:nvPr/>
        </p:nvSpPr>
        <p:spPr>
          <a:xfrm>
            <a:off x="5760720" y="5614416"/>
            <a:ext cx="5715000" cy="457200"/>
          </a:xfrm>
          <a:prstGeom prst="rect">
            <a:avLst/>
          </a:prstGeom>
          <a:noFill/>
        </p:spPr>
        <p:txBody>
          <a:bodyPr wrap="square" lIns="0" tIns="0" rIns="0" bIns="0" anchor="t">
            <a:spAutoFit/>
          </a:bodyPr>
          <a:lstStyle/>
          <a:p>
            <a:pPr algn="l">
              <a:spcAft>
                <a:spcPts val="300"/>
              </a:spcAft>
            </a:pPr>
            <a:r>
              <a:rPr sz="1700" b="0">
                <a:solidFill>
                  <a:srgbClr val="B0BAC3"/>
                </a:solidFill>
                <a:latin typeface="Mona Sans"/>
              </a:rPr>
              <a:t>Takeaways by 0:45, then a buffer and Q&amp;A by 0:50</a:t>
            </a:r>
          </a:p>
        </p:txBody>
      </p:sp>
      <p:sp>
        <p:nvSpPr>
          <p:cNvPr id="22" name="Workshop slide number 2"/>
          <p:cNvSpPr txBox="1"/>
          <p:nvPr/>
        </p:nvSpPr>
        <p:spPr>
          <a:xfrm>
            <a:off x="11109960" y="6428232"/>
            <a:ext cx="502920" cy="219456"/>
          </a:xfrm>
          <a:prstGeom prst="rect">
            <a:avLst/>
          </a:prstGeom>
          <a:noFill/>
          <a:ln>
            <a:noFill/>
          </a:ln>
        </p:spPr>
        <p:txBody>
          <a:bodyPr wrap="square" lIns="0" tIns="0" rIns="0" bIns="0" anchor="ctr">
            <a:noAutofit/>
          </a:bodyPr>
          <a:lstStyle/>
          <a:p>
            <a:pPr algn="r"/>
            <a:r>
              <a:rPr lang="en-US" sz="1100" dirty="0">
                <a:solidFill>
                  <a:srgbClr val="B0BAC3"/>
                </a:solidFill>
                <a:latin typeface="Mona Sans"/>
              </a:rPr>
              <a:t>2</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38912"/>
            <a:ext cx="10972800" cy="676656"/>
          </a:xfrm>
          <a:prstGeom prst="rect">
            <a:avLst/>
          </a:prstGeom>
          <a:noFill/>
        </p:spPr>
        <p:txBody>
          <a:bodyPr wrap="square" lIns="0" tIns="0" rIns="0" bIns="0" anchor="t">
            <a:spAutoFit/>
          </a:bodyPr>
          <a:lstStyle/>
          <a:p>
            <a:pPr algn="l">
              <a:spcAft>
                <a:spcPts val="300"/>
              </a:spcAft>
            </a:pPr>
            <a:r>
              <a:rPr sz="3400" b="1">
                <a:solidFill>
                  <a:srgbClr val="FFFFFF"/>
                </a:solidFill>
                <a:latin typeface="Mona Sans Display"/>
              </a:rPr>
              <a:t>What is a plugin?</a:t>
            </a:r>
          </a:p>
        </p:txBody>
      </p:sp>
      <p:sp>
        <p:nvSpPr>
          <p:cNvPr id="3" name="TextBox 2"/>
          <p:cNvSpPr txBox="1"/>
          <p:nvPr/>
        </p:nvSpPr>
        <p:spPr>
          <a:xfrm>
            <a:off x="594360" y="1234440"/>
            <a:ext cx="10881360" cy="731520"/>
          </a:xfrm>
          <a:prstGeom prst="rect">
            <a:avLst/>
          </a:prstGeom>
          <a:noFill/>
        </p:spPr>
        <p:txBody>
          <a:bodyPr wrap="square" lIns="0" tIns="0" rIns="0" bIns="0" anchor="t">
            <a:spAutoFit/>
          </a:bodyPr>
          <a:lstStyle/>
          <a:p>
            <a:pPr algn="l">
              <a:spcAft>
                <a:spcPts val="300"/>
              </a:spcAft>
            </a:pPr>
            <a:r>
              <a:rPr sz="2100" b="0">
                <a:solidFill>
                  <a:srgbClr val="B0BAC3"/>
                </a:solidFill>
                <a:latin typeface="Mona Sans"/>
              </a:rPr>
              <a:t>An installable toolkit that adds reusable capabilities to GitHub Copilot.</a:t>
            </a:r>
          </a:p>
        </p:txBody>
      </p:sp>
      <p:sp>
        <p:nvSpPr>
          <p:cNvPr id="4" name="Rounded Rectangle 3"/>
          <p:cNvSpPr/>
          <p:nvPr/>
        </p:nvSpPr>
        <p:spPr>
          <a:xfrm>
            <a:off x="640080" y="2331720"/>
            <a:ext cx="4800600" cy="3337560"/>
          </a:xfrm>
          <a:prstGeom prst="roundRect">
            <a:avLst/>
          </a:prstGeom>
          <a:solidFill>
            <a:srgbClr val="09241A"/>
          </a:solidFill>
          <a:ln w="12700">
            <a:solidFill>
              <a:srgbClr val="255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14400" y="2651760"/>
            <a:ext cx="685800" cy="685800"/>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Mona Sans Display"/>
              </a:rPr>
              <a:t>+</a:t>
            </a:r>
          </a:p>
        </p:txBody>
      </p:sp>
      <p:sp>
        <p:nvSpPr>
          <p:cNvPr id="6" name="TextBox 5"/>
          <p:cNvSpPr txBox="1"/>
          <p:nvPr/>
        </p:nvSpPr>
        <p:spPr>
          <a:xfrm>
            <a:off x="1828800" y="2724912"/>
            <a:ext cx="3291840" cy="502920"/>
          </a:xfrm>
          <a:prstGeom prst="rect">
            <a:avLst/>
          </a:prstGeom>
          <a:noFill/>
        </p:spPr>
        <p:txBody>
          <a:bodyPr wrap="square" lIns="0" tIns="0" rIns="0" bIns="0" anchor="t">
            <a:spAutoFit/>
          </a:bodyPr>
          <a:lstStyle/>
          <a:p>
            <a:pPr algn="l">
              <a:spcAft>
                <a:spcPts val="300"/>
              </a:spcAft>
            </a:pPr>
            <a:r>
              <a:rPr sz="2700" b="1">
                <a:solidFill>
                  <a:srgbClr val="FFFFFF"/>
                </a:solidFill>
                <a:latin typeface="Mona Sans Display"/>
              </a:rPr>
              <a:t>gh-skills-builder</a:t>
            </a:r>
          </a:p>
        </p:txBody>
      </p:sp>
      <p:sp>
        <p:nvSpPr>
          <p:cNvPr id="7" name="TextBox 6"/>
          <p:cNvSpPr txBox="1"/>
          <p:nvPr/>
        </p:nvSpPr>
        <p:spPr>
          <a:xfrm>
            <a:off x="960120" y="3685032"/>
            <a:ext cx="4160520" cy="1325880"/>
          </a:xfrm>
          <a:prstGeom prst="rect">
            <a:avLst/>
          </a:prstGeom>
          <a:noFill/>
        </p:spPr>
        <p:txBody>
          <a:bodyPr wrap="square" lIns="0" tIns="0" rIns="0" bIns="0" anchor="t">
            <a:spAutoFit/>
          </a:bodyPr>
          <a:lstStyle/>
          <a:p>
            <a:pPr algn="l">
              <a:spcAft>
                <a:spcPts val="300"/>
              </a:spcAft>
            </a:pPr>
            <a:r>
              <a:rPr sz="2700" b="1">
                <a:solidFill>
                  <a:srgbClr val="5EEC83"/>
                </a:solidFill>
                <a:latin typeface="Mona Sans Display"/>
              </a:rPr>
              <a:t>Install once.</a:t>
            </a:r>
          </a:p>
          <a:p>
            <a:pPr algn="l">
              <a:spcAft>
                <a:spcPts val="300"/>
              </a:spcAft>
            </a:pPr>
            <a:r>
              <a:rPr sz="2700" b="1">
                <a:solidFill>
                  <a:srgbClr val="5EEC83"/>
                </a:solidFill>
                <a:latin typeface="Mona Sans Display"/>
              </a:rPr>
              <a:t>Reuse the workflow.</a:t>
            </a:r>
          </a:p>
        </p:txBody>
      </p:sp>
      <p:sp>
        <p:nvSpPr>
          <p:cNvPr id="8" name="Rounded Rectangle 7"/>
          <p:cNvSpPr/>
          <p:nvPr/>
        </p:nvSpPr>
        <p:spPr>
          <a:xfrm>
            <a:off x="5870448" y="2331720"/>
            <a:ext cx="2697480" cy="3337560"/>
          </a:xfrm>
          <a:prstGeom prst="roundRect">
            <a:avLst/>
          </a:prstGeom>
          <a:solidFill>
            <a:srgbClr val="101411"/>
          </a:solidFill>
          <a:ln w="12700">
            <a:solidFill>
              <a:srgbClr val="255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089904" y="256032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A</a:t>
            </a:r>
          </a:p>
        </p:txBody>
      </p:sp>
      <p:sp>
        <p:nvSpPr>
          <p:cNvPr id="10" name="TextBox 9"/>
          <p:cNvSpPr txBox="1"/>
          <p:nvPr/>
        </p:nvSpPr>
        <p:spPr>
          <a:xfrm>
            <a:off x="6099048" y="3291839"/>
            <a:ext cx="2240280" cy="731520"/>
          </a:xfrm>
          <a:prstGeom prst="rect">
            <a:avLst/>
          </a:prstGeom>
          <a:noFill/>
        </p:spPr>
        <p:txBody>
          <a:bodyPr wrap="square" lIns="0" tIns="0" rIns="0" bIns="0" anchor="t">
            <a:spAutoFit/>
          </a:bodyPr>
          <a:lstStyle/>
          <a:p>
            <a:pPr algn="l">
              <a:spcAft>
                <a:spcPts val="300"/>
              </a:spcAft>
            </a:pPr>
            <a:r>
              <a:rPr sz="2400" b="1">
                <a:solidFill>
                  <a:srgbClr val="FFFFFF"/>
                </a:solidFill>
                <a:latin typeface="Mona Sans Display"/>
              </a:rPr>
              <a:t>One agent</a:t>
            </a:r>
          </a:p>
        </p:txBody>
      </p:sp>
      <p:sp>
        <p:nvSpPr>
          <p:cNvPr id="11" name="TextBox 10"/>
          <p:cNvSpPr txBox="1"/>
          <p:nvPr/>
        </p:nvSpPr>
        <p:spPr>
          <a:xfrm>
            <a:off x="6099048" y="4160520"/>
            <a:ext cx="2240280" cy="1325880"/>
          </a:xfrm>
          <a:prstGeom prst="rect">
            <a:avLst/>
          </a:prstGeom>
          <a:noFill/>
        </p:spPr>
        <p:txBody>
          <a:bodyPr wrap="square" lIns="0" tIns="0" rIns="0" bIns="0" anchor="t">
            <a:spAutoFit/>
          </a:bodyPr>
          <a:lstStyle/>
          <a:p>
            <a:pPr algn="l">
              <a:spcAft>
                <a:spcPts val="300"/>
              </a:spcAft>
            </a:pPr>
            <a:r>
              <a:rPr sz="1900" b="0">
                <a:solidFill>
                  <a:srgbClr val="B0BAC3"/>
                </a:solidFill>
                <a:latin typeface="Mona Sans"/>
              </a:rPr>
              <a:t>Coordinates the work and asks for your approval.</a:t>
            </a:r>
          </a:p>
        </p:txBody>
      </p:sp>
      <p:sp>
        <p:nvSpPr>
          <p:cNvPr id="12" name="Rounded Rectangle 11"/>
          <p:cNvSpPr/>
          <p:nvPr/>
        </p:nvSpPr>
        <p:spPr>
          <a:xfrm>
            <a:off x="8869680" y="2331720"/>
            <a:ext cx="2697480" cy="3337560"/>
          </a:xfrm>
          <a:prstGeom prst="roundRect">
            <a:avLst/>
          </a:prstGeom>
          <a:solidFill>
            <a:srgbClr val="101411"/>
          </a:solidFill>
          <a:ln w="12700">
            <a:solidFill>
              <a:srgbClr val="255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089136" y="256032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S</a:t>
            </a:r>
          </a:p>
        </p:txBody>
      </p:sp>
      <p:sp>
        <p:nvSpPr>
          <p:cNvPr id="14" name="TextBox 13"/>
          <p:cNvSpPr txBox="1"/>
          <p:nvPr/>
        </p:nvSpPr>
        <p:spPr>
          <a:xfrm>
            <a:off x="9098280" y="3291839"/>
            <a:ext cx="2240280" cy="731520"/>
          </a:xfrm>
          <a:prstGeom prst="rect">
            <a:avLst/>
          </a:prstGeom>
          <a:noFill/>
        </p:spPr>
        <p:txBody>
          <a:bodyPr wrap="square" lIns="0" tIns="0" rIns="0" bIns="0" anchor="t">
            <a:spAutoFit/>
          </a:bodyPr>
          <a:lstStyle/>
          <a:p>
            <a:pPr algn="l">
              <a:spcAft>
                <a:spcPts val="300"/>
              </a:spcAft>
            </a:pPr>
            <a:r>
              <a:rPr sz="2400" b="1">
                <a:solidFill>
                  <a:srgbClr val="FFFFFF"/>
                </a:solidFill>
                <a:latin typeface="Mona Sans Display"/>
              </a:rPr>
              <a:t>Five skills</a:t>
            </a:r>
          </a:p>
        </p:txBody>
      </p:sp>
      <p:sp>
        <p:nvSpPr>
          <p:cNvPr id="15" name="TextBox 14"/>
          <p:cNvSpPr txBox="1"/>
          <p:nvPr/>
        </p:nvSpPr>
        <p:spPr>
          <a:xfrm>
            <a:off x="9098280" y="4160520"/>
            <a:ext cx="2240280" cy="1325880"/>
          </a:xfrm>
          <a:prstGeom prst="rect">
            <a:avLst/>
          </a:prstGeom>
          <a:noFill/>
        </p:spPr>
        <p:txBody>
          <a:bodyPr wrap="square" lIns="0" tIns="0" rIns="0" bIns="0" anchor="t">
            <a:spAutoFit/>
          </a:bodyPr>
          <a:lstStyle/>
          <a:p>
            <a:pPr algn="l">
              <a:spcAft>
                <a:spcPts val="300"/>
              </a:spcAft>
            </a:pPr>
            <a:r>
              <a:rPr sz="1900" b="0">
                <a:solidFill>
                  <a:srgbClr val="B0BAC3"/>
                </a:solidFill>
                <a:latin typeface="Mona Sans"/>
              </a:rPr>
              <a:t>Reusable workflows and capabilities the agent loads.</a:t>
            </a:r>
          </a:p>
        </p:txBody>
      </p:sp>
      <p:sp>
        <p:nvSpPr>
          <p:cNvPr id="16" name="TextBox 15"/>
          <p:cNvSpPr txBox="1"/>
          <p:nvPr/>
        </p:nvSpPr>
        <p:spPr>
          <a:xfrm>
            <a:off x="594360" y="6080760"/>
            <a:ext cx="10881360" cy="228600"/>
          </a:xfrm>
          <a:prstGeom prst="rect">
            <a:avLst/>
          </a:prstGeom>
          <a:noFill/>
        </p:spPr>
        <p:txBody>
          <a:bodyPr wrap="square" lIns="0" tIns="0" rIns="0" bIns="0" anchor="t">
            <a:spAutoFit/>
          </a:bodyPr>
          <a:lstStyle/>
          <a:p>
            <a:pPr algn="l">
              <a:spcAft>
                <a:spcPts val="300"/>
              </a:spcAft>
            </a:pPr>
            <a:r>
              <a:rPr sz="1100" b="0">
                <a:solidFill>
                  <a:srgbClr val="B0BAC3"/>
                </a:solidFill>
                <a:latin typeface="Mona Sans"/>
              </a:rPr>
              <a:t>A plugin packages customizations. It is not a separate AI model.</a:t>
            </a:r>
          </a:p>
        </p:txBody>
      </p:sp>
      <p:sp>
        <p:nvSpPr>
          <p:cNvPr id="17" name="Workshop slide number 3"/>
          <p:cNvSpPr txBox="1"/>
          <p:nvPr/>
        </p:nvSpPr>
        <p:spPr>
          <a:xfrm>
            <a:off x="11109960" y="6428232"/>
            <a:ext cx="502920" cy="219456"/>
          </a:xfrm>
          <a:prstGeom prst="rect">
            <a:avLst/>
          </a:prstGeom>
          <a:noFill/>
          <a:ln>
            <a:noFill/>
          </a:ln>
        </p:spPr>
        <p:txBody>
          <a:bodyPr wrap="square" lIns="0" tIns="0" rIns="0" bIns="0" anchor="ctr">
            <a:noAutofit/>
          </a:bodyPr>
          <a:lstStyle/>
          <a:p>
            <a:pPr algn="r"/>
            <a:r>
              <a:rPr lang="en-US" sz="1100" dirty="0">
                <a:solidFill>
                  <a:srgbClr val="B0BAC3"/>
                </a:solidFill>
                <a:latin typeface="Mona Sans"/>
              </a:rPr>
              <a:t>3</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38912"/>
            <a:ext cx="10972800" cy="676656"/>
          </a:xfrm>
          <a:prstGeom prst="rect">
            <a:avLst/>
          </a:prstGeom>
          <a:noFill/>
        </p:spPr>
        <p:txBody>
          <a:bodyPr wrap="square" lIns="0" tIns="0" rIns="0" bIns="0" anchor="t">
            <a:spAutoFit/>
          </a:bodyPr>
          <a:lstStyle/>
          <a:p>
            <a:pPr algn="l">
              <a:spcAft>
                <a:spcPts val="300"/>
              </a:spcAft>
            </a:pPr>
            <a:r>
              <a:rPr sz="3400" b="1">
                <a:solidFill>
                  <a:srgbClr val="FFFFFF"/>
                </a:solidFill>
                <a:latin typeface="Mona Sans Display"/>
              </a:rPr>
              <a:t>Add the toolkit. Start building.</a:t>
            </a:r>
          </a:p>
        </p:txBody>
      </p:sp>
      <p:sp>
        <p:nvSpPr>
          <p:cNvPr id="3" name="TextBox 2"/>
          <p:cNvSpPr txBox="1"/>
          <p:nvPr/>
        </p:nvSpPr>
        <p:spPr>
          <a:xfrm>
            <a:off x="594360" y="1234440"/>
            <a:ext cx="10881360" cy="731520"/>
          </a:xfrm>
          <a:prstGeom prst="rect">
            <a:avLst/>
          </a:prstGeom>
          <a:noFill/>
        </p:spPr>
        <p:txBody>
          <a:bodyPr wrap="square" lIns="0" tIns="0" rIns="0" bIns="0" anchor="t">
            <a:spAutoFit/>
          </a:bodyPr>
          <a:lstStyle/>
          <a:p>
            <a:pPr algn="l">
              <a:spcAft>
                <a:spcPts val="300"/>
              </a:spcAft>
            </a:pPr>
            <a:r>
              <a:rPr sz="2100" b="0">
                <a:solidFill>
                  <a:srgbClr val="B0BAC3"/>
                </a:solidFill>
                <a:latin typeface="Mona Sans"/>
              </a:rPr>
              <a:t>gh-skills-builder is available in the Awesome Copilot marketplace.</a:t>
            </a:r>
          </a:p>
        </p:txBody>
      </p:sp>
      <p:sp>
        <p:nvSpPr>
          <p:cNvPr id="4" name="Oval 3"/>
          <p:cNvSpPr/>
          <p:nvPr/>
        </p:nvSpPr>
        <p:spPr>
          <a:xfrm>
            <a:off x="694944" y="2194560"/>
            <a:ext cx="438912" cy="438912"/>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1</a:t>
            </a:r>
          </a:p>
        </p:txBody>
      </p:sp>
      <p:sp>
        <p:nvSpPr>
          <p:cNvPr id="5" name="TextBox 4"/>
          <p:cNvSpPr txBox="1"/>
          <p:nvPr/>
        </p:nvSpPr>
        <p:spPr>
          <a:xfrm>
            <a:off x="1353312" y="2194560"/>
            <a:ext cx="6126480" cy="393192"/>
          </a:xfrm>
          <a:prstGeom prst="rect">
            <a:avLst/>
          </a:prstGeom>
          <a:noFill/>
        </p:spPr>
        <p:txBody>
          <a:bodyPr wrap="square" lIns="0" tIns="0" rIns="0" bIns="0" anchor="t">
            <a:spAutoFit/>
          </a:bodyPr>
          <a:lstStyle/>
          <a:p>
            <a:pPr algn="l">
              <a:spcAft>
                <a:spcPts val="300"/>
              </a:spcAft>
            </a:pPr>
            <a:r>
              <a:rPr sz="2300" b="1">
                <a:solidFill>
                  <a:srgbClr val="FFFFFF"/>
                </a:solidFill>
                <a:latin typeface="Mona Sans Display"/>
              </a:rPr>
              <a:t>Find it</a:t>
            </a:r>
          </a:p>
        </p:txBody>
      </p:sp>
      <p:sp>
        <p:nvSpPr>
          <p:cNvPr id="6" name="TextBox 5"/>
          <p:cNvSpPr txBox="1"/>
          <p:nvPr/>
        </p:nvSpPr>
        <p:spPr>
          <a:xfrm>
            <a:off x="1353312" y="2615184"/>
            <a:ext cx="6080760" cy="594360"/>
          </a:xfrm>
          <a:prstGeom prst="rect">
            <a:avLst/>
          </a:prstGeom>
          <a:noFill/>
        </p:spPr>
        <p:txBody>
          <a:bodyPr wrap="square" lIns="0" tIns="0" rIns="0" bIns="0" anchor="t">
            <a:spAutoFit/>
          </a:bodyPr>
          <a:lstStyle/>
          <a:p>
            <a:pPr algn="l">
              <a:spcAft>
                <a:spcPts val="300"/>
              </a:spcAft>
            </a:pPr>
            <a:r>
              <a:rPr sz="1700" b="0">
                <a:solidFill>
                  <a:srgbClr val="B0BAC3"/>
                </a:solidFill>
                <a:latin typeface="Mona Sans"/>
              </a:rPr>
              <a:t>Open Plugins in the Copilot app.</a:t>
            </a:r>
          </a:p>
          <a:p>
            <a:pPr algn="l">
              <a:spcAft>
                <a:spcPts val="300"/>
              </a:spcAft>
            </a:pPr>
            <a:r>
              <a:rPr sz="1700" b="0">
                <a:solidFill>
                  <a:srgbClr val="B0BAC3"/>
                </a:solidFill>
                <a:latin typeface="Mona Sans"/>
              </a:rPr>
              <a:t>Find gh-skills-builder.</a:t>
            </a:r>
          </a:p>
        </p:txBody>
      </p:sp>
      <p:sp>
        <p:nvSpPr>
          <p:cNvPr id="7" name="Oval 6"/>
          <p:cNvSpPr/>
          <p:nvPr/>
        </p:nvSpPr>
        <p:spPr>
          <a:xfrm>
            <a:off x="694944" y="3218688"/>
            <a:ext cx="438912" cy="438912"/>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2</a:t>
            </a:r>
          </a:p>
        </p:txBody>
      </p:sp>
      <p:sp>
        <p:nvSpPr>
          <p:cNvPr id="8" name="TextBox 7"/>
          <p:cNvSpPr txBox="1"/>
          <p:nvPr/>
        </p:nvSpPr>
        <p:spPr>
          <a:xfrm>
            <a:off x="1353312" y="3218688"/>
            <a:ext cx="6126480" cy="393192"/>
          </a:xfrm>
          <a:prstGeom prst="rect">
            <a:avLst/>
          </a:prstGeom>
          <a:noFill/>
        </p:spPr>
        <p:txBody>
          <a:bodyPr wrap="square" lIns="0" tIns="0" rIns="0" bIns="0" anchor="t">
            <a:spAutoFit/>
          </a:bodyPr>
          <a:lstStyle/>
          <a:p>
            <a:pPr algn="l">
              <a:spcAft>
                <a:spcPts val="300"/>
              </a:spcAft>
            </a:pPr>
            <a:r>
              <a:rPr sz="2300" b="1">
                <a:solidFill>
                  <a:srgbClr val="FFFFFF"/>
                </a:solidFill>
                <a:latin typeface="Mona Sans Display"/>
              </a:rPr>
              <a:t>Review + install</a:t>
            </a:r>
          </a:p>
        </p:txBody>
      </p:sp>
      <p:sp>
        <p:nvSpPr>
          <p:cNvPr id="9" name="TextBox 8"/>
          <p:cNvSpPr txBox="1"/>
          <p:nvPr/>
        </p:nvSpPr>
        <p:spPr>
          <a:xfrm>
            <a:off x="1353312" y="3639312"/>
            <a:ext cx="6080760" cy="594360"/>
          </a:xfrm>
          <a:prstGeom prst="rect">
            <a:avLst/>
          </a:prstGeom>
          <a:noFill/>
        </p:spPr>
        <p:txBody>
          <a:bodyPr wrap="square" lIns="0" tIns="0" rIns="0" bIns="0" anchor="t">
            <a:spAutoFit/>
          </a:bodyPr>
          <a:lstStyle/>
          <a:p>
            <a:pPr algn="l">
              <a:spcAft>
                <a:spcPts val="300"/>
              </a:spcAft>
            </a:pPr>
            <a:r>
              <a:rPr sz="1700" b="0">
                <a:solidFill>
                  <a:srgbClr val="B0BAC3"/>
                </a:solidFill>
                <a:latin typeface="Mona Sans"/>
              </a:rPr>
              <a:t>Review the source and capabilities.</a:t>
            </a:r>
          </a:p>
          <a:p>
            <a:pPr algn="l">
              <a:spcAft>
                <a:spcPts val="300"/>
              </a:spcAft>
            </a:pPr>
            <a:r>
              <a:rPr sz="1700" b="0">
                <a:solidFill>
                  <a:srgbClr val="B0BAC3"/>
                </a:solidFill>
                <a:latin typeface="Mona Sans"/>
              </a:rPr>
              <a:t>Install and enable for your session.</a:t>
            </a:r>
          </a:p>
        </p:txBody>
      </p:sp>
      <p:sp>
        <p:nvSpPr>
          <p:cNvPr id="10" name="Oval 9"/>
          <p:cNvSpPr/>
          <p:nvPr/>
        </p:nvSpPr>
        <p:spPr>
          <a:xfrm>
            <a:off x="694944" y="4242816"/>
            <a:ext cx="438912" cy="438912"/>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3</a:t>
            </a:r>
          </a:p>
        </p:txBody>
      </p:sp>
      <p:sp>
        <p:nvSpPr>
          <p:cNvPr id="11" name="TextBox 10"/>
          <p:cNvSpPr txBox="1"/>
          <p:nvPr/>
        </p:nvSpPr>
        <p:spPr>
          <a:xfrm>
            <a:off x="1353312" y="4242816"/>
            <a:ext cx="6126480" cy="393192"/>
          </a:xfrm>
          <a:prstGeom prst="rect">
            <a:avLst/>
          </a:prstGeom>
          <a:noFill/>
        </p:spPr>
        <p:txBody>
          <a:bodyPr wrap="square" lIns="0" tIns="0" rIns="0" bIns="0" anchor="t">
            <a:spAutoFit/>
          </a:bodyPr>
          <a:lstStyle/>
          <a:p>
            <a:pPr algn="l">
              <a:spcAft>
                <a:spcPts val="300"/>
              </a:spcAft>
            </a:pPr>
            <a:r>
              <a:rPr sz="2300" b="1">
                <a:solidFill>
                  <a:srgbClr val="FFFFFF"/>
                </a:solidFill>
                <a:latin typeface="Mona Sans Display"/>
              </a:rPr>
              <a:t>Use it</a:t>
            </a:r>
          </a:p>
        </p:txBody>
      </p:sp>
      <p:sp>
        <p:nvSpPr>
          <p:cNvPr id="12" name="TextBox 11"/>
          <p:cNvSpPr txBox="1"/>
          <p:nvPr/>
        </p:nvSpPr>
        <p:spPr>
          <a:xfrm>
            <a:off x="1353312" y="4663440"/>
            <a:ext cx="6080760" cy="594360"/>
          </a:xfrm>
          <a:prstGeom prst="rect">
            <a:avLst/>
          </a:prstGeom>
          <a:noFill/>
        </p:spPr>
        <p:txBody>
          <a:bodyPr wrap="square" lIns="0" tIns="0" rIns="0" bIns="0" anchor="t">
            <a:spAutoFit/>
          </a:bodyPr>
          <a:lstStyle/>
          <a:p>
            <a:pPr algn="l">
              <a:spcAft>
                <a:spcPts val="300"/>
              </a:spcAft>
            </a:pPr>
            <a:r>
              <a:rPr sz="1700" b="0">
                <a:solidFill>
                  <a:srgbClr val="B0BAC3"/>
                </a:solidFill>
                <a:latin typeface="Mona Sans"/>
              </a:rPr>
              <a:t>Choose the orchestrator agent.</a:t>
            </a:r>
          </a:p>
          <a:p>
            <a:pPr algn="l">
              <a:spcAft>
                <a:spcPts val="300"/>
              </a:spcAft>
            </a:pPr>
            <a:r>
              <a:rPr sz="1700" b="0">
                <a:solidFill>
                  <a:srgbClr val="B0BAC3"/>
                </a:solidFill>
                <a:latin typeface="Mona Sans"/>
              </a:rPr>
              <a:t>Ask it to run the exercise lifecycle.</a:t>
            </a:r>
          </a:p>
        </p:txBody>
      </p:sp>
      <p:pic>
        <p:nvPicPr>
          <p:cNvPr id="13" name="Picture 12" descr="gh-qr-gh-skills-builder.png"/>
          <p:cNvPicPr>
            <a:picLocks noChangeAspect="1"/>
          </p:cNvPicPr>
          <p:nvPr/>
        </p:nvPicPr>
        <p:blipFill>
          <a:blip r:embed="rId3"/>
          <a:stretch>
            <a:fillRect/>
          </a:stretch>
        </p:blipFill>
        <p:spPr>
          <a:xfrm>
            <a:off x="8458200" y="2148840"/>
            <a:ext cx="2560320" cy="2560320"/>
          </a:xfrm>
          <a:prstGeom prst="rect">
            <a:avLst/>
          </a:prstGeom>
        </p:spPr>
      </p:pic>
      <p:sp>
        <p:nvSpPr>
          <p:cNvPr id="14" name="TextBox 13"/>
          <p:cNvSpPr txBox="1"/>
          <p:nvPr/>
        </p:nvSpPr>
        <p:spPr>
          <a:xfrm>
            <a:off x="7818120" y="4965192"/>
            <a:ext cx="3840480" cy="502920"/>
          </a:xfrm>
          <a:prstGeom prst="rect">
            <a:avLst/>
          </a:prstGeom>
          <a:noFill/>
        </p:spPr>
        <p:txBody>
          <a:bodyPr wrap="square" lIns="0" tIns="0" rIns="0" bIns="0" anchor="t">
            <a:normAutofit/>
          </a:bodyPr>
          <a:lstStyle/>
          <a:p>
            <a:pPr algn="ctr">
              <a:spcAft>
                <a:spcPts val="300"/>
              </a:spcAft>
            </a:pPr>
            <a:r>
              <a:rPr sz="2000" b="1">
                <a:solidFill>
                  <a:srgbClr val="5EEC83"/>
                </a:solidFill>
                <a:latin typeface="Mona Sans"/>
                <a:hlinkClick r:id="rId4"/>
              </a:rPr>
              <a:t>gh.io/gh-skills-builder</a:t>
            </a:r>
          </a:p>
        </p:txBody>
      </p:sp>
      <p:sp>
        <p:nvSpPr>
          <p:cNvPr id="15" name="Rounded Rectangle 14"/>
          <p:cNvSpPr/>
          <p:nvPr/>
        </p:nvSpPr>
        <p:spPr>
          <a:xfrm>
            <a:off x="685800" y="5687568"/>
            <a:ext cx="10835640" cy="475488"/>
          </a:xfrm>
          <a:prstGeom prst="roundRect">
            <a:avLst/>
          </a:prstGeom>
          <a:solidFill>
            <a:srgbClr val="101411"/>
          </a:solidFill>
          <a:ln w="12700">
            <a:solidFill>
              <a:srgbClr val="255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77824" y="5779008"/>
            <a:ext cx="10424160" cy="301752"/>
          </a:xfrm>
          <a:prstGeom prst="rect">
            <a:avLst/>
          </a:prstGeom>
          <a:noFill/>
        </p:spPr>
        <p:txBody>
          <a:bodyPr wrap="square" lIns="0" tIns="0" rIns="0" bIns="0" anchor="t">
            <a:spAutoFit/>
          </a:bodyPr>
          <a:lstStyle/>
          <a:p>
            <a:pPr algn="l">
              <a:spcAft>
                <a:spcPts val="300"/>
              </a:spcAft>
            </a:pPr>
            <a:r>
              <a:rPr sz="1600" b="0">
                <a:solidFill>
                  <a:srgbClr val="FFFFFF"/>
                </a:solidFill>
                <a:latin typeface="Mona Sans"/>
              </a:rPr>
              <a:t>CLI: copilot plugin install gh-skills-builder@awesome-copilot</a:t>
            </a:r>
          </a:p>
        </p:txBody>
      </p:sp>
      <p:sp>
        <p:nvSpPr>
          <p:cNvPr id="17" name="Workshop slide number 4"/>
          <p:cNvSpPr txBox="1"/>
          <p:nvPr/>
        </p:nvSpPr>
        <p:spPr>
          <a:xfrm>
            <a:off x="11109960" y="6428232"/>
            <a:ext cx="502920" cy="219456"/>
          </a:xfrm>
          <a:prstGeom prst="rect">
            <a:avLst/>
          </a:prstGeom>
          <a:noFill/>
          <a:ln>
            <a:noFill/>
          </a:ln>
        </p:spPr>
        <p:txBody>
          <a:bodyPr wrap="square" lIns="0" tIns="0" rIns="0" bIns="0" anchor="ctr">
            <a:noAutofit/>
          </a:bodyPr>
          <a:lstStyle/>
          <a:p>
            <a:pPr algn="r"/>
            <a:r>
              <a:rPr lang="en-US" sz="1100" dirty="0">
                <a:solidFill>
                  <a:srgbClr val="B0BAC3"/>
                </a:solidFill>
                <a:latin typeface="Mona Sans"/>
              </a:rPr>
              <a:t>4</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38912"/>
            <a:ext cx="10972800" cy="676656"/>
          </a:xfrm>
          <a:prstGeom prst="rect">
            <a:avLst/>
          </a:prstGeom>
          <a:noFill/>
        </p:spPr>
        <p:txBody>
          <a:bodyPr wrap="square" lIns="0" tIns="0" rIns="0" bIns="0" anchor="t">
            <a:spAutoFit/>
          </a:bodyPr>
          <a:lstStyle/>
          <a:p>
            <a:pPr algn="l">
              <a:spcAft>
                <a:spcPts val="300"/>
              </a:spcAft>
            </a:pPr>
            <a:r>
              <a:rPr sz="3400" b="1">
                <a:solidFill>
                  <a:srgbClr val="FFFFFF"/>
                </a:solidFill>
                <a:latin typeface="Mona Sans Display"/>
              </a:rPr>
              <a:t>Today's scenario: Tailspin Toys</a:t>
            </a:r>
          </a:p>
        </p:txBody>
      </p:sp>
      <p:sp>
        <p:nvSpPr>
          <p:cNvPr id="3" name="TextBox 2"/>
          <p:cNvSpPr txBox="1"/>
          <p:nvPr/>
        </p:nvSpPr>
        <p:spPr>
          <a:xfrm>
            <a:off x="594360" y="1234440"/>
            <a:ext cx="10881360" cy="731520"/>
          </a:xfrm>
          <a:prstGeom prst="rect">
            <a:avLst/>
          </a:prstGeom>
          <a:noFill/>
        </p:spPr>
        <p:txBody>
          <a:bodyPr wrap="square" lIns="0" tIns="0" rIns="0" bIns="0" anchor="t">
            <a:spAutoFit/>
          </a:bodyPr>
          <a:lstStyle/>
          <a:p>
            <a:pPr algn="l">
              <a:spcAft>
                <a:spcPts val="300"/>
              </a:spcAft>
            </a:pPr>
            <a:r>
              <a:rPr sz="2100" b="0">
                <a:solidFill>
                  <a:srgbClr val="B0BAC3"/>
                </a:solidFill>
                <a:latin typeface="Mona Sans"/>
              </a:rPr>
              <a:t>Build a 15–20-minute Copilot quick-start inside Tailspin Toys.</a:t>
            </a:r>
          </a:p>
        </p:txBody>
      </p:sp>
      <p:sp>
        <p:nvSpPr>
          <p:cNvPr id="4" name="Rounded Rectangle 3"/>
          <p:cNvSpPr/>
          <p:nvPr/>
        </p:nvSpPr>
        <p:spPr>
          <a:xfrm>
            <a:off x="685800" y="2423160"/>
            <a:ext cx="4983480" cy="3063240"/>
          </a:xfrm>
          <a:prstGeom prst="roundRect">
            <a:avLst/>
          </a:prstGeom>
          <a:solidFill>
            <a:srgbClr val="101411"/>
          </a:solidFill>
          <a:ln w="12700">
            <a:solidFill>
              <a:srgbClr val="255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05256" y="265176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1</a:t>
            </a:r>
          </a:p>
        </p:txBody>
      </p:sp>
      <p:sp>
        <p:nvSpPr>
          <p:cNvPr id="6" name="TextBox 5"/>
          <p:cNvSpPr txBox="1"/>
          <p:nvPr/>
        </p:nvSpPr>
        <p:spPr>
          <a:xfrm>
            <a:off x="914400" y="3383280"/>
            <a:ext cx="4526280" cy="731520"/>
          </a:xfrm>
          <a:prstGeom prst="rect">
            <a:avLst/>
          </a:prstGeom>
          <a:noFill/>
        </p:spPr>
        <p:txBody>
          <a:bodyPr wrap="square" lIns="0" tIns="0" rIns="0" bIns="0" anchor="t">
            <a:spAutoFit/>
          </a:bodyPr>
          <a:lstStyle/>
          <a:p>
            <a:pPr algn="l">
              <a:spcAft>
                <a:spcPts val="300"/>
              </a:spcAft>
            </a:pPr>
            <a:r>
              <a:rPr sz="2400" b="1">
                <a:solidFill>
                  <a:srgbClr val="FFFFFF"/>
                </a:solidFill>
                <a:latin typeface="Mona Sans Display"/>
              </a:rPr>
              <a:t>Start with a real app</a:t>
            </a:r>
          </a:p>
        </p:txBody>
      </p:sp>
      <p:sp>
        <p:nvSpPr>
          <p:cNvPr id="7" name="TextBox 6"/>
          <p:cNvSpPr txBox="1"/>
          <p:nvPr/>
        </p:nvSpPr>
        <p:spPr>
          <a:xfrm>
            <a:off x="914400" y="4251960"/>
            <a:ext cx="4526280" cy="1051560"/>
          </a:xfrm>
          <a:prstGeom prst="rect">
            <a:avLst/>
          </a:prstGeom>
          <a:noFill/>
        </p:spPr>
        <p:txBody>
          <a:bodyPr wrap="square" lIns="0" tIns="0" rIns="0" bIns="0" anchor="t">
            <a:spAutoFit/>
          </a:bodyPr>
          <a:lstStyle/>
          <a:p>
            <a:pPr algn="l">
              <a:spcAft>
                <a:spcPts val="300"/>
              </a:spcAft>
            </a:pPr>
            <a:r>
              <a:rPr sz="1900" b="0">
                <a:solidFill>
                  <a:srgbClr val="B0BAC3"/>
                </a:solidFill>
                <a:latin typeface="Mona Sans"/>
              </a:rPr>
              <a:t>Tailspin Toys as MIT starter code. Learners customize Copilot, not app features.</a:t>
            </a:r>
          </a:p>
        </p:txBody>
      </p:sp>
      <p:sp>
        <p:nvSpPr>
          <p:cNvPr id="8" name="Rounded Rectangle 7"/>
          <p:cNvSpPr/>
          <p:nvPr/>
        </p:nvSpPr>
        <p:spPr>
          <a:xfrm>
            <a:off x="6510528" y="2423160"/>
            <a:ext cx="4983480" cy="3063240"/>
          </a:xfrm>
          <a:prstGeom prst="roundRect">
            <a:avLst/>
          </a:prstGeom>
          <a:solidFill>
            <a:srgbClr val="101411"/>
          </a:solidFill>
          <a:ln w="12700">
            <a:solidFill>
              <a:srgbClr val="255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729984" y="265176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2</a:t>
            </a:r>
          </a:p>
        </p:txBody>
      </p:sp>
      <p:sp>
        <p:nvSpPr>
          <p:cNvPr id="10" name="TextBox 9"/>
          <p:cNvSpPr txBox="1"/>
          <p:nvPr/>
        </p:nvSpPr>
        <p:spPr>
          <a:xfrm>
            <a:off x="6739128" y="3383280"/>
            <a:ext cx="4526280" cy="731520"/>
          </a:xfrm>
          <a:prstGeom prst="rect">
            <a:avLst/>
          </a:prstGeom>
          <a:noFill/>
        </p:spPr>
        <p:txBody>
          <a:bodyPr wrap="square" lIns="0" tIns="0" rIns="0" bIns="0" anchor="t">
            <a:spAutoFit/>
          </a:bodyPr>
          <a:lstStyle/>
          <a:p>
            <a:pPr algn="l">
              <a:spcAft>
                <a:spcPts val="300"/>
              </a:spcAft>
            </a:pPr>
            <a:r>
              <a:rPr sz="2400" b="1">
                <a:solidFill>
                  <a:srgbClr val="FFFFFF"/>
                </a:solidFill>
                <a:latin typeface="Mona Sans Display"/>
              </a:rPr>
              <a:t>Teach three habits</a:t>
            </a:r>
          </a:p>
        </p:txBody>
      </p:sp>
      <p:sp>
        <p:nvSpPr>
          <p:cNvPr id="11" name="TextBox 10"/>
          <p:cNvSpPr txBox="1"/>
          <p:nvPr/>
        </p:nvSpPr>
        <p:spPr>
          <a:xfrm>
            <a:off x="6739128" y="4251960"/>
            <a:ext cx="4526280" cy="1051560"/>
          </a:xfrm>
          <a:prstGeom prst="rect">
            <a:avLst/>
          </a:prstGeom>
          <a:noFill/>
        </p:spPr>
        <p:txBody>
          <a:bodyPr wrap="square" lIns="0" tIns="0" rIns="0" bIns="0" anchor="t">
            <a:spAutoFit/>
          </a:bodyPr>
          <a:lstStyle/>
          <a:p>
            <a:pPr algn="l">
              <a:spcAft>
                <a:spcPts val="300"/>
              </a:spcAft>
            </a:pPr>
            <a:r>
              <a:rPr sz="1900" b="0">
                <a:solidFill>
                  <a:srgbClr val="B0BAC3"/>
                </a:solidFill>
                <a:latin typeface="Mona Sans"/>
              </a:rPr>
              <a:t>Repository instructions.</a:t>
            </a:r>
          </a:p>
          <a:p>
            <a:pPr algn="l">
              <a:spcAft>
                <a:spcPts val="300"/>
              </a:spcAft>
            </a:pPr>
            <a:r>
              <a:rPr sz="1900" b="0">
                <a:solidFill>
                  <a:srgbClr val="B0BAC3"/>
                </a:solidFill>
                <a:latin typeface="Mona Sans"/>
              </a:rPr>
              <a:t>Consistent quality reports.</a:t>
            </a:r>
          </a:p>
          <a:p>
            <a:pPr algn="l">
              <a:spcAft>
                <a:spcPts val="300"/>
              </a:spcAft>
            </a:pPr>
            <a:r>
              <a:rPr sz="1900" b="0">
                <a:solidFill>
                  <a:srgbClr val="B0BAC3"/>
                </a:solidFill>
                <a:latin typeface="Mona Sans"/>
              </a:rPr>
              <a:t>A report-only QA agent.</a:t>
            </a:r>
          </a:p>
        </p:txBody>
      </p:sp>
      <p:sp>
        <p:nvSpPr>
          <p:cNvPr id="12" name="Oval 11"/>
          <p:cNvSpPr/>
          <p:nvPr/>
        </p:nvSpPr>
        <p:spPr>
          <a:xfrm>
            <a:off x="5824728" y="3520440"/>
            <a:ext cx="438912" cy="438912"/>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&gt;</a:t>
            </a:r>
          </a:p>
        </p:txBody>
      </p:sp>
      <p:sp>
        <p:nvSpPr>
          <p:cNvPr id="13" name="TextBox 12"/>
          <p:cNvSpPr txBox="1"/>
          <p:nvPr/>
        </p:nvSpPr>
        <p:spPr>
          <a:xfrm>
            <a:off x="777240" y="5806440"/>
            <a:ext cx="10607040" cy="384048"/>
          </a:xfrm>
          <a:prstGeom prst="rect">
            <a:avLst/>
          </a:prstGeom>
          <a:noFill/>
        </p:spPr>
        <p:txBody>
          <a:bodyPr wrap="square" lIns="0" tIns="0" rIns="0" bIns="0" anchor="t">
            <a:spAutoFit/>
          </a:bodyPr>
          <a:lstStyle/>
          <a:p>
            <a:pPr algn="l">
              <a:spcAft>
                <a:spcPts val="300"/>
              </a:spcAft>
            </a:pPr>
            <a:r>
              <a:rPr sz="2400" b="1">
                <a:solidFill>
                  <a:srgbClr val="5EEC83"/>
                </a:solidFill>
                <a:latin typeface="Mona Sans Display"/>
              </a:rPr>
              <a:t>Working Title: Copilot app Cleared for Takeoff</a:t>
            </a:r>
          </a:p>
        </p:txBody>
      </p:sp>
      <p:sp>
        <p:nvSpPr>
          <p:cNvPr id="14" name="Workshop slide number 5"/>
          <p:cNvSpPr txBox="1"/>
          <p:nvPr/>
        </p:nvSpPr>
        <p:spPr>
          <a:xfrm>
            <a:off x="11109960" y="6428232"/>
            <a:ext cx="502920" cy="219456"/>
          </a:xfrm>
          <a:prstGeom prst="rect">
            <a:avLst/>
          </a:prstGeom>
          <a:noFill/>
          <a:ln>
            <a:noFill/>
          </a:ln>
        </p:spPr>
        <p:txBody>
          <a:bodyPr wrap="square" lIns="0" tIns="0" rIns="0" bIns="0" anchor="ctr">
            <a:noAutofit/>
          </a:bodyPr>
          <a:lstStyle/>
          <a:p>
            <a:pPr algn="r"/>
            <a:r>
              <a:rPr lang="en-US" sz="1100" dirty="0">
                <a:solidFill>
                  <a:srgbClr val="B0BAC3"/>
                </a:solidFill>
                <a:latin typeface="Mona Sans"/>
              </a:rPr>
              <a:t>5</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38912"/>
            <a:ext cx="10972800" cy="676656"/>
          </a:xfrm>
          <a:prstGeom prst="rect">
            <a:avLst/>
          </a:prstGeom>
          <a:noFill/>
        </p:spPr>
        <p:txBody>
          <a:bodyPr wrap="square" lIns="0" tIns="0" rIns="0" bIns="0" anchor="t">
            <a:spAutoFit/>
          </a:bodyPr>
          <a:lstStyle/>
          <a:p>
            <a:pPr algn="l">
              <a:spcAft>
                <a:spcPts val="300"/>
              </a:spcAft>
            </a:pPr>
            <a:r>
              <a:rPr sz="3400" b="1">
                <a:solidFill>
                  <a:srgbClr val="FFFFFF"/>
                </a:solidFill>
                <a:latin typeface="Mona Sans Display"/>
              </a:rPr>
              <a:t>From builder to architect</a:t>
            </a:r>
          </a:p>
        </p:txBody>
      </p:sp>
      <p:sp>
        <p:nvSpPr>
          <p:cNvPr id="3" name="TextBox 2"/>
          <p:cNvSpPr txBox="1"/>
          <p:nvPr/>
        </p:nvSpPr>
        <p:spPr>
          <a:xfrm>
            <a:off x="594360" y="1234440"/>
            <a:ext cx="10881360" cy="731520"/>
          </a:xfrm>
          <a:prstGeom prst="rect">
            <a:avLst/>
          </a:prstGeom>
          <a:noFill/>
        </p:spPr>
        <p:txBody>
          <a:bodyPr wrap="square" lIns="0" tIns="0" rIns="0" bIns="0" anchor="t">
            <a:spAutoFit/>
          </a:bodyPr>
          <a:lstStyle/>
          <a:p>
            <a:pPr algn="l">
              <a:spcAft>
                <a:spcPts val="300"/>
              </a:spcAft>
            </a:pPr>
            <a:r>
              <a:rPr sz="2100" b="0">
                <a:solidFill>
                  <a:srgbClr val="B0BAC3"/>
                </a:solidFill>
                <a:latin typeface="Mona Sans"/>
              </a:rPr>
              <a:t>The agent does the heavy lifting. You own the learning experience.</a:t>
            </a:r>
          </a:p>
        </p:txBody>
      </p:sp>
      <p:sp>
        <p:nvSpPr>
          <p:cNvPr id="4" name="Rounded Rectangle 3"/>
          <p:cNvSpPr/>
          <p:nvPr/>
        </p:nvSpPr>
        <p:spPr>
          <a:xfrm>
            <a:off x="685800" y="2331720"/>
            <a:ext cx="5166360" cy="3246120"/>
          </a:xfrm>
          <a:prstGeom prst="roundRect">
            <a:avLst/>
          </a:prstGeom>
          <a:solidFill>
            <a:srgbClr val="101411"/>
          </a:solidFill>
          <a:ln w="12700">
            <a:solidFill>
              <a:srgbClr val="255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05256" y="256032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A</a:t>
            </a:r>
          </a:p>
        </p:txBody>
      </p:sp>
      <p:sp>
        <p:nvSpPr>
          <p:cNvPr id="6" name="TextBox 5"/>
          <p:cNvSpPr txBox="1"/>
          <p:nvPr/>
        </p:nvSpPr>
        <p:spPr>
          <a:xfrm>
            <a:off x="914400" y="3291839"/>
            <a:ext cx="4709160" cy="731520"/>
          </a:xfrm>
          <a:prstGeom prst="rect">
            <a:avLst/>
          </a:prstGeom>
          <a:noFill/>
        </p:spPr>
        <p:txBody>
          <a:bodyPr wrap="square" lIns="0" tIns="0" rIns="0" bIns="0" anchor="t">
            <a:spAutoFit/>
          </a:bodyPr>
          <a:lstStyle/>
          <a:p>
            <a:pPr algn="l">
              <a:spcAft>
                <a:spcPts val="300"/>
              </a:spcAft>
            </a:pPr>
            <a:r>
              <a:rPr sz="2400" b="1">
                <a:solidFill>
                  <a:srgbClr val="FFFFFF"/>
                </a:solidFill>
                <a:latin typeface="Mona Sans Display"/>
              </a:rPr>
              <a:t>Let the agent build</a:t>
            </a:r>
          </a:p>
        </p:txBody>
      </p:sp>
      <p:sp>
        <p:nvSpPr>
          <p:cNvPr id="7" name="TextBox 6"/>
          <p:cNvSpPr txBox="1"/>
          <p:nvPr/>
        </p:nvSpPr>
        <p:spPr>
          <a:xfrm>
            <a:off x="914400" y="4160520"/>
            <a:ext cx="4709160" cy="1234440"/>
          </a:xfrm>
          <a:prstGeom prst="rect">
            <a:avLst/>
          </a:prstGeom>
          <a:noFill/>
        </p:spPr>
        <p:txBody>
          <a:bodyPr wrap="square" lIns="0" tIns="0" rIns="0" bIns="0" anchor="t">
            <a:spAutoFit/>
          </a:bodyPr>
          <a:lstStyle/>
          <a:p>
            <a:pPr algn="l">
              <a:spcAft>
                <a:spcPts val="300"/>
              </a:spcAft>
            </a:pPr>
            <a:r>
              <a:rPr sz="1900" b="0">
                <a:solidFill>
                  <a:srgbClr val="B0BAC3"/>
                </a:solidFill>
                <a:latin typeface="Mona Sans"/>
              </a:rPr>
              <a:t>Draft step content.</a:t>
            </a:r>
          </a:p>
          <a:p>
            <a:pPr algn="l">
              <a:spcAft>
                <a:spcPts val="300"/>
              </a:spcAft>
            </a:pPr>
            <a:r>
              <a:rPr sz="1900" b="0">
                <a:solidFill>
                  <a:srgbClr val="B0BAC3"/>
                </a:solidFill>
                <a:latin typeface="Mona Sans"/>
              </a:rPr>
              <a:t>Scaffold repository files.</a:t>
            </a:r>
          </a:p>
          <a:p>
            <a:pPr algn="l">
              <a:spcAft>
                <a:spcPts val="300"/>
              </a:spcAft>
            </a:pPr>
            <a:r>
              <a:rPr sz="1900" b="0">
                <a:solidFill>
                  <a:srgbClr val="B0BAC3"/>
                </a:solidFill>
                <a:latin typeface="Mona Sans"/>
              </a:rPr>
              <a:t>Wire validation and feedback.</a:t>
            </a:r>
          </a:p>
        </p:txBody>
      </p:sp>
      <p:sp>
        <p:nvSpPr>
          <p:cNvPr id="8" name="Rounded Rectangle 7"/>
          <p:cNvSpPr/>
          <p:nvPr/>
        </p:nvSpPr>
        <p:spPr>
          <a:xfrm>
            <a:off x="6327648" y="2331720"/>
            <a:ext cx="5166360" cy="3246120"/>
          </a:xfrm>
          <a:prstGeom prst="roundRect">
            <a:avLst/>
          </a:prstGeom>
          <a:solidFill>
            <a:srgbClr val="101411"/>
          </a:solidFill>
          <a:ln w="12700">
            <a:solidFill>
              <a:srgbClr val="255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547104" y="256032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H</a:t>
            </a:r>
          </a:p>
        </p:txBody>
      </p:sp>
      <p:sp>
        <p:nvSpPr>
          <p:cNvPr id="10" name="TextBox 9"/>
          <p:cNvSpPr txBox="1"/>
          <p:nvPr/>
        </p:nvSpPr>
        <p:spPr>
          <a:xfrm>
            <a:off x="6556248" y="3291839"/>
            <a:ext cx="4709160" cy="731520"/>
          </a:xfrm>
          <a:prstGeom prst="rect">
            <a:avLst/>
          </a:prstGeom>
          <a:noFill/>
        </p:spPr>
        <p:txBody>
          <a:bodyPr wrap="square" lIns="0" tIns="0" rIns="0" bIns="0" anchor="t">
            <a:spAutoFit/>
          </a:bodyPr>
          <a:lstStyle/>
          <a:p>
            <a:pPr algn="l">
              <a:spcAft>
                <a:spcPts val="300"/>
              </a:spcAft>
            </a:pPr>
            <a:r>
              <a:rPr sz="2400" b="1">
                <a:solidFill>
                  <a:srgbClr val="FFFFFF"/>
                </a:solidFill>
                <a:latin typeface="Mona Sans Display"/>
              </a:rPr>
              <a:t>Keep the human decisions</a:t>
            </a:r>
          </a:p>
        </p:txBody>
      </p:sp>
      <p:sp>
        <p:nvSpPr>
          <p:cNvPr id="11" name="TextBox 10"/>
          <p:cNvSpPr txBox="1"/>
          <p:nvPr/>
        </p:nvSpPr>
        <p:spPr>
          <a:xfrm>
            <a:off x="6556248" y="4160520"/>
            <a:ext cx="4709160" cy="1234440"/>
          </a:xfrm>
          <a:prstGeom prst="rect">
            <a:avLst/>
          </a:prstGeom>
          <a:noFill/>
        </p:spPr>
        <p:txBody>
          <a:bodyPr wrap="square" lIns="0" tIns="0" rIns="0" bIns="0" anchor="t">
            <a:spAutoFit/>
          </a:bodyPr>
          <a:lstStyle/>
          <a:p>
            <a:pPr algn="l">
              <a:spcAft>
                <a:spcPts val="300"/>
              </a:spcAft>
            </a:pPr>
            <a:r>
              <a:rPr sz="1900" b="0">
                <a:solidFill>
                  <a:srgbClr val="B0BAC3"/>
                </a:solidFill>
                <a:latin typeface="Mona Sans"/>
              </a:rPr>
              <a:t>Set learner outcomes.</a:t>
            </a:r>
          </a:p>
          <a:p>
            <a:pPr algn="l">
              <a:spcAft>
                <a:spcPts val="300"/>
              </a:spcAft>
            </a:pPr>
            <a:r>
              <a:rPr sz="1900" b="0">
                <a:solidFill>
                  <a:srgbClr val="B0BAC3"/>
                </a:solidFill>
                <a:latin typeface="Mona Sans"/>
              </a:rPr>
              <a:t>Approve the outline and fixes.</a:t>
            </a:r>
          </a:p>
          <a:p>
            <a:pPr algn="l">
              <a:spcAft>
                <a:spcPts val="300"/>
              </a:spcAft>
            </a:pPr>
            <a:r>
              <a:rPr sz="1900" b="0">
                <a:solidFill>
                  <a:srgbClr val="B0BAC3"/>
                </a:solidFill>
                <a:latin typeface="Mona Sans"/>
              </a:rPr>
              <a:t>Authorize publication.</a:t>
            </a:r>
          </a:p>
        </p:txBody>
      </p:sp>
      <p:sp>
        <p:nvSpPr>
          <p:cNvPr id="12" name="TextBox 11"/>
          <p:cNvSpPr txBox="1"/>
          <p:nvPr/>
        </p:nvSpPr>
        <p:spPr>
          <a:xfrm>
            <a:off x="594360" y="6080760"/>
            <a:ext cx="10881360" cy="228600"/>
          </a:xfrm>
          <a:prstGeom prst="rect">
            <a:avLst/>
          </a:prstGeom>
          <a:noFill/>
        </p:spPr>
        <p:txBody>
          <a:bodyPr wrap="square" lIns="0" tIns="0" rIns="0" bIns="0" anchor="t">
            <a:spAutoFit/>
          </a:bodyPr>
          <a:lstStyle/>
          <a:p>
            <a:pPr algn="l">
              <a:spcAft>
                <a:spcPts val="300"/>
              </a:spcAft>
            </a:pPr>
            <a:r>
              <a:rPr sz="1100" b="0">
                <a:solidFill>
                  <a:srgbClr val="B0BAC3"/>
                </a:solidFill>
                <a:latin typeface="Mona Sans"/>
              </a:rPr>
              <a:t>Same pattern for educators, maintainers, event organizers, DevRel, startups, and enterprises.</a:t>
            </a:r>
          </a:p>
        </p:txBody>
      </p:sp>
      <p:sp>
        <p:nvSpPr>
          <p:cNvPr id="13" name="Workshop slide number 6"/>
          <p:cNvSpPr txBox="1"/>
          <p:nvPr/>
        </p:nvSpPr>
        <p:spPr>
          <a:xfrm>
            <a:off x="11109960" y="6428232"/>
            <a:ext cx="502920" cy="219456"/>
          </a:xfrm>
          <a:prstGeom prst="rect">
            <a:avLst/>
          </a:prstGeom>
          <a:noFill/>
          <a:ln>
            <a:noFill/>
          </a:ln>
        </p:spPr>
        <p:txBody>
          <a:bodyPr wrap="square" lIns="0" tIns="0" rIns="0" bIns="0" anchor="ctr">
            <a:noAutofit/>
          </a:bodyPr>
          <a:lstStyle/>
          <a:p>
            <a:pPr algn="r"/>
            <a:r>
              <a:rPr lang="en-US" sz="1100" dirty="0">
                <a:solidFill>
                  <a:srgbClr val="B0BAC3"/>
                </a:solidFill>
                <a:latin typeface="Mona Sans"/>
              </a:rPr>
              <a:t>6</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ne orchestrator agent loads five skills: orchestration, outline, bootstrap, review, and publish."/>
          <p:cNvPicPr>
            <a:picLocks noChangeAspect="1"/>
          </p:cNvPicPr>
          <p:nvPr/>
        </p:nvPicPr>
        <p:blipFill>
          <a:blip r:embed="rId3"/>
          <a:stretch>
            <a:fillRect/>
          </a:stretch>
        </p:blipFill>
        <p:spPr>
          <a:xfrm>
            <a:off x="0" y="27467"/>
            <a:ext cx="12188825" cy="6803065"/>
          </a:xfrm>
          <a:prstGeom prst="rect">
            <a:avLst/>
          </a:prstGeom>
        </p:spPr>
      </p:pic>
      <p:sp>
        <p:nvSpPr>
          <p:cNvPr id="3" name="Workshop slide number 7"/>
          <p:cNvSpPr txBox="1"/>
          <p:nvPr/>
        </p:nvSpPr>
        <p:spPr>
          <a:xfrm>
            <a:off x="11109960" y="6428232"/>
            <a:ext cx="502920" cy="219456"/>
          </a:xfrm>
          <a:prstGeom prst="rect">
            <a:avLst/>
          </a:prstGeom>
          <a:noFill/>
          <a:ln>
            <a:noFill/>
          </a:ln>
        </p:spPr>
        <p:txBody>
          <a:bodyPr wrap="square" lIns="0" tIns="0" rIns="0" bIns="0" anchor="ctr">
            <a:noAutofit/>
          </a:bodyPr>
          <a:lstStyle/>
          <a:p>
            <a:pPr algn="r"/>
            <a:r>
              <a:rPr lang="en-US" sz="1100" dirty="0">
                <a:solidFill>
                  <a:srgbClr val="B0BAC3"/>
                </a:solidFill>
                <a:latin typeface="Mona Sans"/>
              </a:rPr>
              <a:t>7</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utline, bootstrap, review, and publish, with human approval at every transition."/>
          <p:cNvPicPr>
            <a:picLocks noChangeAspect="1"/>
          </p:cNvPicPr>
          <p:nvPr/>
        </p:nvPicPr>
        <p:blipFill>
          <a:blip r:embed="rId3"/>
          <a:stretch>
            <a:fillRect/>
          </a:stretch>
        </p:blipFill>
        <p:spPr>
          <a:xfrm>
            <a:off x="0" y="27467"/>
            <a:ext cx="12188825" cy="6803065"/>
          </a:xfrm>
          <a:prstGeom prst="rect">
            <a:avLst/>
          </a:prstGeom>
        </p:spPr>
      </p:pic>
      <p:sp>
        <p:nvSpPr>
          <p:cNvPr id="3" name="Workshop slide number 8"/>
          <p:cNvSpPr txBox="1"/>
          <p:nvPr/>
        </p:nvSpPr>
        <p:spPr>
          <a:xfrm>
            <a:off x="11109960" y="6428232"/>
            <a:ext cx="502920" cy="219456"/>
          </a:xfrm>
          <a:prstGeom prst="rect">
            <a:avLst/>
          </a:prstGeom>
          <a:noFill/>
          <a:ln>
            <a:noFill/>
          </a:ln>
        </p:spPr>
        <p:txBody>
          <a:bodyPr wrap="square" lIns="0" tIns="0" rIns="0" bIns="0" anchor="ctr">
            <a:noAutofit/>
          </a:bodyPr>
          <a:lstStyle/>
          <a:p>
            <a:pPr algn="r"/>
            <a:r>
              <a:rPr lang="en-US" sz="1100" dirty="0">
                <a:solidFill>
                  <a:srgbClr val="B0BAC3"/>
                </a:solidFill>
                <a:latin typeface="Mona Sans"/>
              </a:rPr>
              <a:t>8</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38912"/>
            <a:ext cx="10972800" cy="676656"/>
          </a:xfrm>
          <a:prstGeom prst="rect">
            <a:avLst/>
          </a:prstGeom>
          <a:noFill/>
        </p:spPr>
        <p:txBody>
          <a:bodyPr wrap="square" lIns="0" tIns="0" rIns="0" bIns="0" anchor="t">
            <a:spAutoFit/>
          </a:bodyPr>
          <a:lstStyle/>
          <a:p>
            <a:pPr algn="l">
              <a:spcAft>
                <a:spcPts val="300"/>
              </a:spcAft>
            </a:pPr>
            <a:r>
              <a:rPr sz="3400" b="1">
                <a:solidFill>
                  <a:srgbClr val="FFFFFF"/>
                </a:solidFill>
                <a:latin typeface="Mona Sans Display"/>
              </a:rPr>
              <a:t>Outline: decide what success looks like</a:t>
            </a:r>
          </a:p>
        </p:txBody>
      </p:sp>
      <p:sp>
        <p:nvSpPr>
          <p:cNvPr id="3" name="TextBox 2"/>
          <p:cNvSpPr txBox="1"/>
          <p:nvPr/>
        </p:nvSpPr>
        <p:spPr>
          <a:xfrm>
            <a:off x="594360" y="1234440"/>
            <a:ext cx="10881360" cy="731520"/>
          </a:xfrm>
          <a:prstGeom prst="rect">
            <a:avLst/>
          </a:prstGeom>
          <a:noFill/>
        </p:spPr>
        <p:txBody>
          <a:bodyPr wrap="square" lIns="0" tIns="0" rIns="0" bIns="0" anchor="t">
            <a:spAutoFit/>
          </a:bodyPr>
          <a:lstStyle/>
          <a:p>
            <a:pPr algn="l">
              <a:spcAft>
                <a:spcPts val="300"/>
              </a:spcAft>
            </a:pPr>
            <a:r>
              <a:rPr sz="2100" b="0">
                <a:solidFill>
                  <a:srgbClr val="B0BAC3"/>
                </a:solidFill>
                <a:latin typeface="Mona Sans"/>
              </a:rPr>
              <a:t>Input: a Tailspin idea. Output: an approved three-step journey.</a:t>
            </a:r>
          </a:p>
        </p:txBody>
      </p:sp>
      <p:sp>
        <p:nvSpPr>
          <p:cNvPr id="4" name="Rounded Rectangle 3"/>
          <p:cNvSpPr/>
          <p:nvPr/>
        </p:nvSpPr>
        <p:spPr>
          <a:xfrm>
            <a:off x="685800" y="2331720"/>
            <a:ext cx="3474720" cy="3154680"/>
          </a:xfrm>
          <a:prstGeom prst="roundRect">
            <a:avLst/>
          </a:prstGeom>
          <a:solidFill>
            <a:srgbClr val="101411"/>
          </a:solidFill>
          <a:ln w="12700">
            <a:solidFill>
              <a:srgbClr val="255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05256" y="256032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1</a:t>
            </a:r>
          </a:p>
        </p:txBody>
      </p:sp>
      <p:sp>
        <p:nvSpPr>
          <p:cNvPr id="6" name="TextBox 5"/>
          <p:cNvSpPr txBox="1"/>
          <p:nvPr/>
        </p:nvSpPr>
        <p:spPr>
          <a:xfrm>
            <a:off x="914400" y="3291839"/>
            <a:ext cx="3017520" cy="731520"/>
          </a:xfrm>
          <a:prstGeom prst="rect">
            <a:avLst/>
          </a:prstGeom>
          <a:noFill/>
        </p:spPr>
        <p:txBody>
          <a:bodyPr wrap="square" lIns="0" tIns="0" rIns="0" bIns="0" anchor="t">
            <a:spAutoFit/>
          </a:bodyPr>
          <a:lstStyle/>
          <a:p>
            <a:pPr algn="l">
              <a:spcAft>
                <a:spcPts val="300"/>
              </a:spcAft>
            </a:pPr>
            <a:r>
              <a:rPr sz="2400" b="1">
                <a:solidFill>
                  <a:srgbClr val="FFFFFF"/>
                </a:solidFill>
                <a:latin typeface="Mona Sans Display"/>
              </a:rPr>
              <a:t>Outcome</a:t>
            </a:r>
          </a:p>
        </p:txBody>
      </p:sp>
      <p:sp>
        <p:nvSpPr>
          <p:cNvPr id="7" name="TextBox 6"/>
          <p:cNvSpPr txBox="1"/>
          <p:nvPr/>
        </p:nvSpPr>
        <p:spPr>
          <a:xfrm>
            <a:off x="914400" y="4160520"/>
            <a:ext cx="3017520" cy="1143000"/>
          </a:xfrm>
          <a:prstGeom prst="rect">
            <a:avLst/>
          </a:prstGeom>
          <a:noFill/>
        </p:spPr>
        <p:txBody>
          <a:bodyPr wrap="square" lIns="0" tIns="0" rIns="0" bIns="0" anchor="t">
            <a:spAutoFit/>
          </a:bodyPr>
          <a:lstStyle/>
          <a:p>
            <a:pPr algn="l">
              <a:spcAft>
                <a:spcPts val="300"/>
              </a:spcAft>
            </a:pPr>
            <a:r>
              <a:rPr sz="1900" b="0">
                <a:solidFill>
                  <a:srgbClr val="B0BAC3"/>
                </a:solidFill>
                <a:latin typeface="Mona Sans"/>
              </a:rPr>
              <a:t>Three small Copilot customizations, done in 15–20 minutes.</a:t>
            </a:r>
          </a:p>
        </p:txBody>
      </p:sp>
      <p:sp>
        <p:nvSpPr>
          <p:cNvPr id="8" name="Rounded Rectangle 7"/>
          <p:cNvSpPr/>
          <p:nvPr/>
        </p:nvSpPr>
        <p:spPr>
          <a:xfrm>
            <a:off x="4361688" y="2331720"/>
            <a:ext cx="3474720" cy="3154680"/>
          </a:xfrm>
          <a:prstGeom prst="roundRect">
            <a:avLst/>
          </a:prstGeom>
          <a:solidFill>
            <a:srgbClr val="101411"/>
          </a:solidFill>
          <a:ln w="12700">
            <a:solidFill>
              <a:srgbClr val="255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581144" y="256032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2</a:t>
            </a:r>
          </a:p>
        </p:txBody>
      </p:sp>
      <p:sp>
        <p:nvSpPr>
          <p:cNvPr id="10" name="TextBox 9"/>
          <p:cNvSpPr txBox="1"/>
          <p:nvPr/>
        </p:nvSpPr>
        <p:spPr>
          <a:xfrm>
            <a:off x="4590288" y="3291839"/>
            <a:ext cx="3017520" cy="731520"/>
          </a:xfrm>
          <a:prstGeom prst="rect">
            <a:avLst/>
          </a:prstGeom>
          <a:noFill/>
        </p:spPr>
        <p:txBody>
          <a:bodyPr wrap="square" lIns="0" tIns="0" rIns="0" bIns="0" anchor="t">
            <a:spAutoFit/>
          </a:bodyPr>
          <a:lstStyle/>
          <a:p>
            <a:pPr algn="l">
              <a:spcAft>
                <a:spcPts val="300"/>
              </a:spcAft>
            </a:pPr>
            <a:r>
              <a:rPr sz="2400" b="1">
                <a:solidFill>
                  <a:srgbClr val="FFFFFF"/>
                </a:solidFill>
                <a:latin typeface="Mona Sans Display"/>
              </a:rPr>
              <a:t>Identity</a:t>
            </a:r>
          </a:p>
        </p:txBody>
      </p:sp>
      <p:sp>
        <p:nvSpPr>
          <p:cNvPr id="11" name="TextBox 10"/>
          <p:cNvSpPr txBox="1"/>
          <p:nvPr/>
        </p:nvSpPr>
        <p:spPr>
          <a:xfrm>
            <a:off x="4590288" y="4160520"/>
            <a:ext cx="3017520" cy="1143000"/>
          </a:xfrm>
          <a:prstGeom prst="rect">
            <a:avLst/>
          </a:prstGeom>
          <a:noFill/>
        </p:spPr>
        <p:txBody>
          <a:bodyPr wrap="square" lIns="0" tIns="0" rIns="0" bIns="0" anchor="t">
            <a:spAutoFit/>
          </a:bodyPr>
          <a:lstStyle/>
          <a:p>
            <a:pPr algn="l">
              <a:spcAft>
                <a:spcPts val="300"/>
              </a:spcAft>
            </a:pPr>
            <a:r>
              <a:rPr sz="1900" b="0">
                <a:solidFill>
                  <a:srgbClr val="B0BAC3"/>
                </a:solidFill>
                <a:latin typeface="Mona Sans"/>
              </a:rPr>
              <a:t>Choose an exercise title and an eye-catching repository name.</a:t>
            </a:r>
          </a:p>
        </p:txBody>
      </p:sp>
      <p:sp>
        <p:nvSpPr>
          <p:cNvPr id="12" name="Rounded Rectangle 11"/>
          <p:cNvSpPr/>
          <p:nvPr/>
        </p:nvSpPr>
        <p:spPr>
          <a:xfrm>
            <a:off x="8037575" y="2331720"/>
            <a:ext cx="3474720" cy="3154680"/>
          </a:xfrm>
          <a:prstGeom prst="roundRect">
            <a:avLst/>
          </a:prstGeom>
          <a:solidFill>
            <a:srgbClr val="101411"/>
          </a:solidFill>
          <a:ln w="12700">
            <a:solidFill>
              <a:srgbClr val="255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257031" y="256032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3</a:t>
            </a:r>
          </a:p>
        </p:txBody>
      </p:sp>
      <p:sp>
        <p:nvSpPr>
          <p:cNvPr id="14" name="TextBox 13"/>
          <p:cNvSpPr txBox="1"/>
          <p:nvPr/>
        </p:nvSpPr>
        <p:spPr>
          <a:xfrm>
            <a:off x="8266175" y="3291839"/>
            <a:ext cx="3017520" cy="731520"/>
          </a:xfrm>
          <a:prstGeom prst="rect">
            <a:avLst/>
          </a:prstGeom>
          <a:noFill/>
        </p:spPr>
        <p:txBody>
          <a:bodyPr wrap="square" lIns="0" tIns="0" rIns="0" bIns="0" anchor="t">
            <a:spAutoFit/>
          </a:bodyPr>
          <a:lstStyle/>
          <a:p>
            <a:pPr algn="l">
              <a:spcAft>
                <a:spcPts val="300"/>
              </a:spcAft>
            </a:pPr>
            <a:r>
              <a:rPr sz="2400" b="1">
                <a:solidFill>
                  <a:srgbClr val="FFFFFF"/>
                </a:solidFill>
                <a:latin typeface="Mona Sans Display"/>
              </a:rPr>
              <a:t>Validation</a:t>
            </a:r>
          </a:p>
        </p:txBody>
      </p:sp>
      <p:sp>
        <p:nvSpPr>
          <p:cNvPr id="15" name="TextBox 14"/>
          <p:cNvSpPr txBox="1"/>
          <p:nvPr/>
        </p:nvSpPr>
        <p:spPr>
          <a:xfrm>
            <a:off x="8266175" y="4160520"/>
            <a:ext cx="3017520" cy="1143000"/>
          </a:xfrm>
          <a:prstGeom prst="rect">
            <a:avLst/>
          </a:prstGeom>
          <a:noFill/>
        </p:spPr>
        <p:txBody>
          <a:bodyPr wrap="square" lIns="0" tIns="0" rIns="0" bIns="0" anchor="t">
            <a:spAutoFit/>
          </a:bodyPr>
          <a:lstStyle/>
          <a:p>
            <a:pPr algn="l">
              <a:spcAft>
                <a:spcPts val="300"/>
              </a:spcAft>
            </a:pPr>
            <a:r>
              <a:rPr sz="1900" b="0">
                <a:solidFill>
                  <a:srgbClr val="B0BAC3"/>
                </a:solidFill>
                <a:latin typeface="Mona Sans"/>
              </a:rPr>
              <a:t>For every graded step: what can a workflow actually check?</a:t>
            </a:r>
          </a:p>
        </p:txBody>
      </p:sp>
      <p:sp>
        <p:nvSpPr>
          <p:cNvPr id="16" name="TextBox 15"/>
          <p:cNvSpPr txBox="1"/>
          <p:nvPr/>
        </p:nvSpPr>
        <p:spPr>
          <a:xfrm>
            <a:off x="731520" y="5760720"/>
            <a:ext cx="10789920" cy="384048"/>
          </a:xfrm>
          <a:prstGeom prst="rect">
            <a:avLst/>
          </a:prstGeom>
          <a:noFill/>
        </p:spPr>
        <p:txBody>
          <a:bodyPr wrap="square" lIns="0" tIns="0" rIns="0" bIns="0" anchor="t">
            <a:spAutoFit/>
          </a:bodyPr>
          <a:lstStyle/>
          <a:p>
            <a:pPr algn="l">
              <a:spcAft>
                <a:spcPts val="300"/>
              </a:spcAft>
            </a:pPr>
            <a:r>
              <a:rPr sz="2400" b="1">
                <a:solidFill>
                  <a:srgbClr val="5EEC83"/>
                </a:solidFill>
                <a:latin typeface="Mona Sans Display"/>
              </a:rPr>
              <a:t>/create-github-skills-outline</a:t>
            </a:r>
          </a:p>
        </p:txBody>
      </p:sp>
      <p:sp>
        <p:nvSpPr>
          <p:cNvPr id="17" name="Workshop slide number 9"/>
          <p:cNvSpPr txBox="1"/>
          <p:nvPr/>
        </p:nvSpPr>
        <p:spPr>
          <a:xfrm>
            <a:off x="11109960" y="6428232"/>
            <a:ext cx="502920" cy="219456"/>
          </a:xfrm>
          <a:prstGeom prst="rect">
            <a:avLst/>
          </a:prstGeom>
          <a:noFill/>
          <a:ln>
            <a:noFill/>
          </a:ln>
        </p:spPr>
        <p:txBody>
          <a:bodyPr wrap="square" lIns="0" tIns="0" rIns="0" bIns="0" anchor="ctr">
            <a:noAutofit/>
          </a:bodyPr>
          <a:lstStyle/>
          <a:p>
            <a:pPr algn="r"/>
            <a:r>
              <a:rPr lang="en-US" sz="1100" dirty="0">
                <a:solidFill>
                  <a:srgbClr val="B0BAC3"/>
                </a:solidFill>
                <a:latin typeface="Mona Sans"/>
              </a:rPr>
              <a:t>9</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38912"/>
            <a:ext cx="10972800" cy="676656"/>
          </a:xfrm>
          <a:prstGeom prst="rect">
            <a:avLst/>
          </a:prstGeom>
          <a:noFill/>
        </p:spPr>
        <p:txBody>
          <a:bodyPr wrap="square" lIns="0" tIns="0" rIns="0" bIns="0" anchor="t">
            <a:spAutoFit/>
          </a:bodyPr>
          <a:lstStyle/>
          <a:p>
            <a:pPr algn="l">
              <a:spcAft>
                <a:spcPts val="300"/>
              </a:spcAft>
            </a:pPr>
            <a:r>
              <a:rPr sz="3400" b="1">
                <a:solidFill>
                  <a:srgbClr val="FFFFFF"/>
                </a:solidFill>
                <a:latin typeface="Mona Sans Display"/>
              </a:rPr>
              <a:t>Bootstrap: make the outline runnable</a:t>
            </a:r>
          </a:p>
        </p:txBody>
      </p:sp>
      <p:sp>
        <p:nvSpPr>
          <p:cNvPr id="3" name="TextBox 2"/>
          <p:cNvSpPr txBox="1"/>
          <p:nvPr/>
        </p:nvSpPr>
        <p:spPr>
          <a:xfrm>
            <a:off x="594360" y="1234440"/>
            <a:ext cx="10881360" cy="731520"/>
          </a:xfrm>
          <a:prstGeom prst="rect">
            <a:avLst/>
          </a:prstGeom>
          <a:noFill/>
        </p:spPr>
        <p:txBody>
          <a:bodyPr wrap="square" lIns="0" tIns="0" rIns="0" bIns="0" anchor="t">
            <a:spAutoFit/>
          </a:bodyPr>
          <a:lstStyle/>
          <a:p>
            <a:pPr algn="l">
              <a:spcAft>
                <a:spcPts val="300"/>
              </a:spcAft>
            </a:pPr>
            <a:r>
              <a:rPr sz="2100" b="0">
                <a:solidFill>
                  <a:srgbClr val="B0BAC3"/>
                </a:solidFill>
                <a:latin typeface="Mona Sans"/>
              </a:rPr>
              <a:t>Generate exercise files in the current repository, not a new GitHub remote.</a:t>
            </a:r>
          </a:p>
        </p:txBody>
      </p:sp>
      <p:sp>
        <p:nvSpPr>
          <p:cNvPr id="4" name="Rounded Rectangle 3"/>
          <p:cNvSpPr/>
          <p:nvPr/>
        </p:nvSpPr>
        <p:spPr>
          <a:xfrm>
            <a:off x="685800" y="2286000"/>
            <a:ext cx="5669280" cy="3246120"/>
          </a:xfrm>
          <a:prstGeom prst="roundRect">
            <a:avLst/>
          </a:prstGeom>
          <a:solidFill>
            <a:srgbClr val="101411"/>
          </a:solidFill>
          <a:ln w="12700">
            <a:solidFill>
              <a:srgbClr val="255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2606040"/>
            <a:ext cx="5120640" cy="2606040"/>
          </a:xfrm>
          <a:prstGeom prst="rect">
            <a:avLst/>
          </a:prstGeom>
          <a:noFill/>
        </p:spPr>
        <p:txBody>
          <a:bodyPr wrap="square" lIns="0" tIns="0" rIns="0" bIns="0" anchor="t">
            <a:spAutoFit/>
          </a:bodyPr>
          <a:lstStyle/>
          <a:p>
            <a:pPr algn="l">
              <a:spcAft>
                <a:spcPts val="300"/>
              </a:spcAft>
            </a:pPr>
            <a:r>
              <a:rPr sz="2100" b="0">
                <a:solidFill>
                  <a:srgbClr val="FFFFFF"/>
                </a:solidFill>
                <a:latin typeface="Mona Sans"/>
              </a:rPr>
              <a:t>README.md</a:t>
            </a:r>
          </a:p>
          <a:p>
            <a:pPr algn="l">
              <a:spcAft>
                <a:spcPts val="300"/>
              </a:spcAft>
            </a:pPr>
            <a:r>
              <a:rPr sz="2100" b="0">
                <a:solidFill>
                  <a:srgbClr val="FFFFFF"/>
                </a:solidFill>
                <a:latin typeface="Mona Sans"/>
              </a:rPr>
              <a:t>.github/steps/</a:t>
            </a:r>
          </a:p>
          <a:p>
            <a:pPr algn="l">
              <a:spcAft>
                <a:spcPts val="300"/>
              </a:spcAft>
            </a:pPr>
            <a:r>
              <a:rPr sz="2100" b="0">
                <a:solidFill>
                  <a:srgbClr val="FFFFFF"/>
                </a:solidFill>
                <a:latin typeface="Mona Sans"/>
              </a:rPr>
              <a:t>    1-step.md ... x-review.md</a:t>
            </a:r>
          </a:p>
          <a:p>
            <a:pPr algn="l">
              <a:spcAft>
                <a:spcPts val="300"/>
              </a:spcAft>
            </a:pPr>
            <a:r>
              <a:rPr sz="2100" b="0">
                <a:solidFill>
                  <a:srgbClr val="FFFFFF"/>
                </a:solidFill>
                <a:latin typeface="Mona Sans"/>
              </a:rPr>
              <a:t>.github/workflows/</a:t>
            </a:r>
          </a:p>
          <a:p>
            <a:pPr algn="l">
              <a:spcAft>
                <a:spcPts val="300"/>
              </a:spcAft>
            </a:pPr>
            <a:r>
              <a:rPr sz="2100" b="0">
                <a:solidFill>
                  <a:srgbClr val="FFFFFF"/>
                </a:solidFill>
                <a:latin typeface="Mona Sans"/>
              </a:rPr>
              <a:t>    0-start-exercise.yml</a:t>
            </a:r>
          </a:p>
          <a:p>
            <a:pPr algn="l">
              <a:spcAft>
                <a:spcPts val="300"/>
              </a:spcAft>
            </a:pPr>
            <a:r>
              <a:rPr sz="2100" b="0">
                <a:solidFill>
                  <a:srgbClr val="FFFFFF"/>
                </a:solidFill>
                <a:latin typeface="Mona Sans"/>
              </a:rPr>
              <a:t>    1-step.yml ... 3-last-step.yml</a:t>
            </a:r>
          </a:p>
        </p:txBody>
      </p:sp>
      <p:sp>
        <p:nvSpPr>
          <p:cNvPr id="6" name="TextBox 5"/>
          <p:cNvSpPr txBox="1"/>
          <p:nvPr/>
        </p:nvSpPr>
        <p:spPr>
          <a:xfrm>
            <a:off x="6812280" y="2487168"/>
            <a:ext cx="4617720" cy="457200"/>
          </a:xfrm>
          <a:prstGeom prst="rect">
            <a:avLst/>
          </a:prstGeom>
          <a:noFill/>
        </p:spPr>
        <p:txBody>
          <a:bodyPr wrap="square" lIns="0" tIns="0" rIns="0" bIns="0" anchor="t">
            <a:spAutoFit/>
          </a:bodyPr>
          <a:lstStyle/>
          <a:p>
            <a:pPr algn="l">
              <a:spcAft>
                <a:spcPts val="300"/>
              </a:spcAft>
            </a:pPr>
            <a:r>
              <a:rPr sz="2700" b="1">
                <a:solidFill>
                  <a:srgbClr val="FFFFFF"/>
                </a:solidFill>
                <a:latin typeface="Mona Sans Display"/>
              </a:rPr>
              <a:t>The learner gets</a:t>
            </a:r>
          </a:p>
        </p:txBody>
      </p:sp>
      <p:sp>
        <p:nvSpPr>
          <p:cNvPr id="7" name="TextBox 6"/>
          <p:cNvSpPr txBox="1"/>
          <p:nvPr/>
        </p:nvSpPr>
        <p:spPr>
          <a:xfrm>
            <a:off x="6812280" y="3246120"/>
            <a:ext cx="4572000" cy="1691640"/>
          </a:xfrm>
          <a:prstGeom prst="rect">
            <a:avLst/>
          </a:prstGeom>
          <a:noFill/>
        </p:spPr>
        <p:txBody>
          <a:bodyPr wrap="square" lIns="0" tIns="0" rIns="0" bIns="0" anchor="t">
            <a:spAutoFit/>
          </a:bodyPr>
          <a:lstStyle/>
          <a:p>
            <a:pPr algn="l">
              <a:spcAft>
                <a:spcPts val="300"/>
              </a:spcAft>
            </a:pPr>
            <a:r>
              <a:rPr sz="2400" b="0">
                <a:solidFill>
                  <a:srgbClr val="B0BAC3"/>
                </a:solidFill>
                <a:latin typeface="Mona Sans"/>
              </a:rPr>
              <a:t>A clear entry point.</a:t>
            </a:r>
          </a:p>
          <a:p>
            <a:pPr algn="l">
              <a:spcAft>
                <a:spcPts val="300"/>
              </a:spcAft>
            </a:pPr>
            <a:r>
              <a:rPr sz="2400" b="0">
                <a:solidFill>
                  <a:srgbClr val="B0BAC3"/>
                </a:solidFill>
                <a:latin typeface="Mona Sans"/>
              </a:rPr>
              <a:t>Issue-driven practice.</a:t>
            </a:r>
          </a:p>
          <a:p>
            <a:pPr algn="l">
              <a:spcAft>
                <a:spcPts val="300"/>
              </a:spcAft>
            </a:pPr>
            <a:r>
              <a:rPr sz="2400" b="0">
                <a:solidFill>
                  <a:srgbClr val="B0BAC3"/>
                </a:solidFill>
                <a:latin typeface="Mona Sans"/>
              </a:rPr>
              <a:t>Checks and useful feedback.</a:t>
            </a:r>
          </a:p>
        </p:txBody>
      </p:sp>
      <p:sp>
        <p:nvSpPr>
          <p:cNvPr id="8" name="TextBox 7"/>
          <p:cNvSpPr txBox="1"/>
          <p:nvPr/>
        </p:nvSpPr>
        <p:spPr>
          <a:xfrm>
            <a:off x="731520" y="5760720"/>
            <a:ext cx="10789920" cy="384048"/>
          </a:xfrm>
          <a:prstGeom prst="rect">
            <a:avLst/>
          </a:prstGeom>
          <a:noFill/>
        </p:spPr>
        <p:txBody>
          <a:bodyPr wrap="square" lIns="0" tIns="0" rIns="0" bIns="0" anchor="t">
            <a:spAutoFit/>
          </a:bodyPr>
          <a:lstStyle/>
          <a:p>
            <a:pPr algn="l">
              <a:spcAft>
                <a:spcPts val="300"/>
              </a:spcAft>
            </a:pPr>
            <a:r>
              <a:rPr sz="2300" b="1">
                <a:solidFill>
                  <a:srgbClr val="5EEC83"/>
                </a:solidFill>
                <a:latin typeface="Mona Sans Display"/>
              </a:rPr>
              <a:t>/bootstrap-github-skills-exercise</a:t>
            </a:r>
          </a:p>
        </p:txBody>
      </p:sp>
      <p:sp>
        <p:nvSpPr>
          <p:cNvPr id="9" name="Workshop slide number 10"/>
          <p:cNvSpPr txBox="1"/>
          <p:nvPr/>
        </p:nvSpPr>
        <p:spPr>
          <a:xfrm>
            <a:off x="11109960" y="6428232"/>
            <a:ext cx="502920" cy="219456"/>
          </a:xfrm>
          <a:prstGeom prst="rect">
            <a:avLst/>
          </a:prstGeom>
          <a:noFill/>
          <a:ln>
            <a:noFill/>
          </a:ln>
        </p:spPr>
        <p:txBody>
          <a:bodyPr wrap="square" lIns="0" tIns="0" rIns="0" bIns="0" anchor="ctr">
            <a:noAutofit/>
          </a:bodyPr>
          <a:lstStyle/>
          <a:p>
            <a:pPr algn="r"/>
            <a:r>
              <a:rPr lang="en-US" sz="1100" dirty="0">
                <a:solidFill>
                  <a:srgbClr val="B0BAC3"/>
                </a:solidFill>
                <a:latin typeface="Mona Sans"/>
              </a:rPr>
              <a:t>10</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uild, report-only review, human decision, approved fixes, and re-review before publication."/>
          <p:cNvPicPr>
            <a:picLocks noChangeAspect="1"/>
          </p:cNvPicPr>
          <p:nvPr/>
        </p:nvPicPr>
        <p:blipFill>
          <a:blip r:embed="rId3"/>
          <a:stretch>
            <a:fillRect/>
          </a:stretch>
        </p:blipFill>
        <p:spPr>
          <a:xfrm>
            <a:off x="0" y="27467"/>
            <a:ext cx="12188825" cy="6803065"/>
          </a:xfrm>
          <a:prstGeom prst="rect">
            <a:avLst/>
          </a:prstGeom>
        </p:spPr>
      </p:pic>
      <p:sp>
        <p:nvSpPr>
          <p:cNvPr id="3" name="Workshop slide number 11"/>
          <p:cNvSpPr txBox="1"/>
          <p:nvPr/>
        </p:nvSpPr>
        <p:spPr>
          <a:xfrm>
            <a:off x="11109960" y="6428232"/>
            <a:ext cx="502920" cy="219456"/>
          </a:xfrm>
          <a:prstGeom prst="rect">
            <a:avLst/>
          </a:prstGeom>
          <a:noFill/>
          <a:ln>
            <a:noFill/>
          </a:ln>
        </p:spPr>
        <p:txBody>
          <a:bodyPr wrap="square" lIns="0" tIns="0" rIns="0" bIns="0" anchor="ctr">
            <a:noAutofit/>
          </a:bodyPr>
          <a:lstStyle/>
          <a:p>
            <a:pPr algn="r"/>
            <a:r>
              <a:rPr lang="en-US" sz="1100" dirty="0">
                <a:solidFill>
                  <a:srgbClr val="B0BAC3"/>
                </a:solidFill>
                <a:latin typeface="Mona Sans"/>
              </a:rPr>
              <a:t>11</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38912"/>
            <a:ext cx="10972800" cy="676656"/>
          </a:xfrm>
          <a:prstGeom prst="rect">
            <a:avLst/>
          </a:prstGeom>
          <a:noFill/>
        </p:spPr>
        <p:txBody>
          <a:bodyPr wrap="square" lIns="0" tIns="0" rIns="0" bIns="0" anchor="t">
            <a:spAutoFit/>
          </a:bodyPr>
          <a:lstStyle/>
          <a:p>
            <a:pPr algn="l">
              <a:spcAft>
                <a:spcPts val="300"/>
              </a:spcAft>
            </a:pPr>
            <a:r>
              <a:rPr sz="3400" b="1">
                <a:solidFill>
                  <a:srgbClr val="FFFFFF"/>
                </a:solidFill>
                <a:latin typeface="Mona Sans Display"/>
              </a:rPr>
              <a:t>Publish: prepare first. Authorize separately.</a:t>
            </a:r>
          </a:p>
        </p:txBody>
      </p:sp>
      <p:sp>
        <p:nvSpPr>
          <p:cNvPr id="3" name="TextBox 2"/>
          <p:cNvSpPr txBox="1"/>
          <p:nvPr/>
        </p:nvSpPr>
        <p:spPr>
          <a:xfrm>
            <a:off x="594360" y="1234440"/>
            <a:ext cx="10881360" cy="731520"/>
          </a:xfrm>
          <a:prstGeom prst="rect">
            <a:avLst/>
          </a:prstGeom>
          <a:noFill/>
        </p:spPr>
        <p:txBody>
          <a:bodyPr wrap="square" lIns="0" tIns="0" rIns="0" bIns="0" anchor="t">
            <a:spAutoFit/>
          </a:bodyPr>
          <a:lstStyle/>
          <a:p>
            <a:pPr algn="l">
              <a:spcAft>
                <a:spcPts val="300"/>
              </a:spcAft>
            </a:pPr>
            <a:r>
              <a:rPr sz="2100" b="0">
                <a:solidFill>
                  <a:srgbClr val="B0BAC3"/>
                </a:solidFill>
                <a:latin typeface="Mona Sans"/>
              </a:rPr>
              <a:t>Release-ready content is not permission to publish it.</a:t>
            </a:r>
          </a:p>
        </p:txBody>
      </p:sp>
      <p:sp>
        <p:nvSpPr>
          <p:cNvPr id="4" name="Rounded Rectangle 3"/>
          <p:cNvSpPr/>
          <p:nvPr/>
        </p:nvSpPr>
        <p:spPr>
          <a:xfrm>
            <a:off x="685800" y="2331720"/>
            <a:ext cx="5166360" cy="3154680"/>
          </a:xfrm>
          <a:prstGeom prst="roundRect">
            <a:avLst/>
          </a:prstGeom>
          <a:solidFill>
            <a:srgbClr val="101411"/>
          </a:solidFill>
          <a:ln w="12700">
            <a:solidFill>
              <a:srgbClr val="255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05256" y="256032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P</a:t>
            </a:r>
          </a:p>
        </p:txBody>
      </p:sp>
      <p:sp>
        <p:nvSpPr>
          <p:cNvPr id="6" name="TextBox 5"/>
          <p:cNvSpPr txBox="1"/>
          <p:nvPr/>
        </p:nvSpPr>
        <p:spPr>
          <a:xfrm>
            <a:off x="914400" y="3291839"/>
            <a:ext cx="4709160" cy="731520"/>
          </a:xfrm>
          <a:prstGeom prst="rect">
            <a:avLst/>
          </a:prstGeom>
          <a:noFill/>
        </p:spPr>
        <p:txBody>
          <a:bodyPr wrap="square" lIns="0" tIns="0" rIns="0" bIns="0" anchor="t">
            <a:spAutoFit/>
          </a:bodyPr>
          <a:lstStyle/>
          <a:p>
            <a:pPr algn="l">
              <a:spcAft>
                <a:spcPts val="300"/>
              </a:spcAft>
            </a:pPr>
            <a:r>
              <a:rPr sz="2400" b="1">
                <a:solidFill>
                  <a:srgbClr val="FFFFFF"/>
                </a:solidFill>
                <a:latin typeface="Mona Sans Display"/>
              </a:rPr>
              <a:t>Prepare the handoff</a:t>
            </a:r>
          </a:p>
        </p:txBody>
      </p:sp>
      <p:sp>
        <p:nvSpPr>
          <p:cNvPr id="7" name="TextBox 6"/>
          <p:cNvSpPr txBox="1"/>
          <p:nvPr/>
        </p:nvSpPr>
        <p:spPr>
          <a:xfrm>
            <a:off x="914400" y="4160520"/>
            <a:ext cx="4709160" cy="1143000"/>
          </a:xfrm>
          <a:prstGeom prst="rect">
            <a:avLst/>
          </a:prstGeom>
          <a:noFill/>
        </p:spPr>
        <p:txBody>
          <a:bodyPr wrap="square" lIns="0" tIns="0" rIns="0" bIns="0" anchor="t">
            <a:spAutoFit/>
          </a:bodyPr>
          <a:lstStyle/>
          <a:p>
            <a:pPr algn="l">
              <a:spcAft>
                <a:spcPts val="300"/>
              </a:spcAft>
            </a:pPr>
            <a:r>
              <a:rPr sz="1900" b="0">
                <a:solidFill>
                  <a:srgbClr val="B0BAC3"/>
                </a:solidFill>
                <a:latin typeface="Mona Sans"/>
              </a:rPr>
              <a:t>Validation evidence.</a:t>
            </a:r>
          </a:p>
          <a:p>
            <a:pPr algn="l">
              <a:spcAft>
                <a:spcPts val="300"/>
              </a:spcAft>
            </a:pPr>
            <a:r>
              <a:rPr sz="1900" b="0">
                <a:solidFill>
                  <a:srgbClr val="B0BAC3"/>
                </a:solidFill>
                <a:latin typeface="Mona Sans"/>
              </a:rPr>
              <a:t>PR copy and release notes.</a:t>
            </a:r>
          </a:p>
          <a:p>
            <a:pPr algn="l">
              <a:spcAft>
                <a:spcPts val="300"/>
              </a:spcAft>
            </a:pPr>
            <a:r>
              <a:rPr sz="1900" b="0">
                <a:solidFill>
                  <a:srgbClr val="B0BAC3"/>
                </a:solidFill>
                <a:latin typeface="Mona Sans"/>
              </a:rPr>
              <a:t>Launch checklist and known risks.</a:t>
            </a:r>
          </a:p>
        </p:txBody>
      </p:sp>
      <p:sp>
        <p:nvSpPr>
          <p:cNvPr id="8" name="Rounded Rectangle 7"/>
          <p:cNvSpPr/>
          <p:nvPr/>
        </p:nvSpPr>
        <p:spPr>
          <a:xfrm>
            <a:off x="6327648" y="2331720"/>
            <a:ext cx="5166360" cy="3154680"/>
          </a:xfrm>
          <a:prstGeom prst="roundRect">
            <a:avLst/>
          </a:prstGeom>
          <a:solidFill>
            <a:srgbClr val="101411"/>
          </a:solidFill>
          <a:ln w="12700">
            <a:solidFill>
              <a:srgbClr val="255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547104" y="256032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H</a:t>
            </a:r>
          </a:p>
        </p:txBody>
      </p:sp>
      <p:sp>
        <p:nvSpPr>
          <p:cNvPr id="10" name="TextBox 9"/>
          <p:cNvSpPr txBox="1"/>
          <p:nvPr/>
        </p:nvSpPr>
        <p:spPr>
          <a:xfrm>
            <a:off x="6556248" y="3291839"/>
            <a:ext cx="4709160" cy="731520"/>
          </a:xfrm>
          <a:prstGeom prst="rect">
            <a:avLst/>
          </a:prstGeom>
          <a:noFill/>
        </p:spPr>
        <p:txBody>
          <a:bodyPr wrap="square" lIns="0" tIns="0" rIns="0" bIns="0" anchor="t">
            <a:spAutoFit/>
          </a:bodyPr>
          <a:lstStyle/>
          <a:p>
            <a:pPr algn="l">
              <a:spcAft>
                <a:spcPts val="300"/>
              </a:spcAft>
            </a:pPr>
            <a:r>
              <a:rPr sz="2400" b="1">
                <a:solidFill>
                  <a:srgbClr val="FFFFFF"/>
                </a:solidFill>
                <a:latin typeface="Mona Sans Display"/>
              </a:rPr>
              <a:t>Pause for authorization</a:t>
            </a:r>
          </a:p>
        </p:txBody>
      </p:sp>
      <p:sp>
        <p:nvSpPr>
          <p:cNvPr id="11" name="TextBox 10"/>
          <p:cNvSpPr txBox="1"/>
          <p:nvPr/>
        </p:nvSpPr>
        <p:spPr>
          <a:xfrm>
            <a:off x="6556248" y="4160520"/>
            <a:ext cx="4709160" cy="1143000"/>
          </a:xfrm>
          <a:prstGeom prst="rect">
            <a:avLst/>
          </a:prstGeom>
          <a:noFill/>
        </p:spPr>
        <p:txBody>
          <a:bodyPr wrap="square" lIns="0" tIns="0" rIns="0" bIns="0" anchor="t">
            <a:spAutoFit/>
          </a:bodyPr>
          <a:lstStyle/>
          <a:p>
            <a:pPr algn="l">
              <a:spcAft>
                <a:spcPts val="300"/>
              </a:spcAft>
            </a:pPr>
            <a:r>
              <a:rPr sz="1900" b="0">
                <a:solidFill>
                  <a:srgbClr val="B0BAC3"/>
                </a:solidFill>
                <a:latin typeface="Mona Sans"/>
              </a:rPr>
              <a:t>Confirm the exact owner/repo.</a:t>
            </a:r>
          </a:p>
          <a:p>
            <a:pPr algn="l">
              <a:spcAft>
                <a:spcPts val="300"/>
              </a:spcAft>
            </a:pPr>
            <a:r>
              <a:rPr sz="1900" b="0">
                <a:solidFill>
                  <a:srgbClr val="B0BAC3"/>
                </a:solidFill>
                <a:latin typeface="Mona Sans"/>
              </a:rPr>
              <a:t>Confirm visibility.</a:t>
            </a:r>
          </a:p>
          <a:p>
            <a:pPr algn="l">
              <a:spcAft>
                <a:spcPts val="300"/>
              </a:spcAft>
            </a:pPr>
            <a:r>
              <a:rPr sz="1900" b="0">
                <a:solidFill>
                  <a:srgbClr val="B0BAC3"/>
                </a:solidFill>
                <a:latin typeface="Mona Sans"/>
              </a:rPr>
              <a:t>Then create, push, or transfer.</a:t>
            </a:r>
          </a:p>
        </p:txBody>
      </p:sp>
      <p:sp>
        <p:nvSpPr>
          <p:cNvPr id="12" name="TextBox 11"/>
          <p:cNvSpPr txBox="1"/>
          <p:nvPr/>
        </p:nvSpPr>
        <p:spPr>
          <a:xfrm>
            <a:off x="731520" y="5760720"/>
            <a:ext cx="10789920" cy="384048"/>
          </a:xfrm>
          <a:prstGeom prst="rect">
            <a:avLst/>
          </a:prstGeom>
          <a:noFill/>
        </p:spPr>
        <p:txBody>
          <a:bodyPr wrap="square" lIns="0" tIns="0" rIns="0" bIns="0" anchor="t">
            <a:spAutoFit/>
          </a:bodyPr>
          <a:lstStyle/>
          <a:p>
            <a:pPr algn="l">
              <a:spcAft>
                <a:spcPts val="300"/>
              </a:spcAft>
            </a:pPr>
            <a:r>
              <a:rPr sz="2400" b="1">
                <a:solidFill>
                  <a:srgbClr val="5EEC83"/>
                </a:solidFill>
                <a:latin typeface="Mona Sans Display"/>
              </a:rPr>
              <a:t>/publish-github-skills-exercise</a:t>
            </a:r>
          </a:p>
        </p:txBody>
      </p:sp>
      <p:sp>
        <p:nvSpPr>
          <p:cNvPr id="13" name="Workshop slide number 12"/>
          <p:cNvSpPr txBox="1"/>
          <p:nvPr/>
        </p:nvSpPr>
        <p:spPr>
          <a:xfrm>
            <a:off x="11109960" y="6428232"/>
            <a:ext cx="502920" cy="219456"/>
          </a:xfrm>
          <a:prstGeom prst="rect">
            <a:avLst/>
          </a:prstGeom>
          <a:noFill/>
          <a:ln>
            <a:noFill/>
          </a:ln>
        </p:spPr>
        <p:txBody>
          <a:bodyPr wrap="square" lIns="0" tIns="0" rIns="0" bIns="0" anchor="ctr">
            <a:noAutofit/>
          </a:bodyPr>
          <a:lstStyle/>
          <a:p>
            <a:pPr algn="r"/>
            <a:r>
              <a:rPr lang="en-US" sz="1100" dirty="0">
                <a:solidFill>
                  <a:srgbClr val="B0BAC3"/>
                </a:solidFill>
                <a:latin typeface="Mona Sans"/>
              </a:rPr>
              <a:t>12</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38912"/>
            <a:ext cx="10972800" cy="676656"/>
          </a:xfrm>
          <a:prstGeom prst="rect">
            <a:avLst/>
          </a:prstGeom>
          <a:noFill/>
        </p:spPr>
        <p:txBody>
          <a:bodyPr wrap="square" lIns="0" tIns="0" rIns="0" bIns="0" anchor="t">
            <a:spAutoFit/>
          </a:bodyPr>
          <a:lstStyle/>
          <a:p>
            <a:pPr algn="l">
              <a:spcAft>
                <a:spcPts val="300"/>
              </a:spcAft>
            </a:pPr>
            <a:r>
              <a:rPr sz="3400" b="1">
                <a:solidFill>
                  <a:srgbClr val="FFFFFF"/>
                </a:solidFill>
                <a:latin typeface="Mona Sans Display"/>
              </a:rPr>
              <a:t>One workflow. Many learning experiences.</a:t>
            </a:r>
          </a:p>
        </p:txBody>
      </p:sp>
      <p:sp>
        <p:nvSpPr>
          <p:cNvPr id="3" name="TextBox 2"/>
          <p:cNvSpPr txBox="1"/>
          <p:nvPr/>
        </p:nvSpPr>
        <p:spPr>
          <a:xfrm>
            <a:off x="594360" y="1234440"/>
            <a:ext cx="10881360" cy="731520"/>
          </a:xfrm>
          <a:prstGeom prst="rect">
            <a:avLst/>
          </a:prstGeom>
          <a:noFill/>
        </p:spPr>
        <p:txBody>
          <a:bodyPr wrap="square" lIns="0" tIns="0" rIns="0" bIns="0" anchor="t">
            <a:spAutoFit/>
          </a:bodyPr>
          <a:lstStyle/>
          <a:p>
            <a:pPr algn="l">
              <a:spcAft>
                <a:spcPts val="300"/>
              </a:spcAft>
            </a:pPr>
            <a:r>
              <a:rPr sz="2100" b="0">
                <a:solidFill>
                  <a:srgbClr val="B0BAC3"/>
                </a:solidFill>
                <a:latin typeface="Mona Sans"/>
              </a:rPr>
              <a:t>Start with expertise. Ship practice, validation, and useful feedback.</a:t>
            </a:r>
          </a:p>
        </p:txBody>
      </p:sp>
      <p:sp>
        <p:nvSpPr>
          <p:cNvPr id="4" name="Rounded Rectangle 3"/>
          <p:cNvSpPr/>
          <p:nvPr/>
        </p:nvSpPr>
        <p:spPr>
          <a:xfrm>
            <a:off x="685800" y="2468880"/>
            <a:ext cx="2514600" cy="3108960"/>
          </a:xfrm>
          <a:prstGeom prst="roundRect">
            <a:avLst/>
          </a:prstGeom>
          <a:solidFill>
            <a:srgbClr val="101411"/>
          </a:solidFill>
          <a:ln w="12700">
            <a:solidFill>
              <a:srgbClr val="255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05256" y="269748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1</a:t>
            </a:r>
          </a:p>
        </p:txBody>
      </p:sp>
      <p:sp>
        <p:nvSpPr>
          <p:cNvPr id="6" name="TextBox 5"/>
          <p:cNvSpPr txBox="1"/>
          <p:nvPr/>
        </p:nvSpPr>
        <p:spPr>
          <a:xfrm>
            <a:off x="914400" y="3429000"/>
            <a:ext cx="2057400" cy="731520"/>
          </a:xfrm>
          <a:prstGeom prst="rect">
            <a:avLst/>
          </a:prstGeom>
          <a:noFill/>
        </p:spPr>
        <p:txBody>
          <a:bodyPr wrap="square" lIns="0" tIns="0" rIns="0" bIns="0" anchor="t">
            <a:spAutoFit/>
          </a:bodyPr>
          <a:lstStyle/>
          <a:p>
            <a:pPr algn="l">
              <a:spcAft>
                <a:spcPts val="300"/>
              </a:spcAft>
            </a:pPr>
            <a:r>
              <a:rPr sz="2400" b="1">
                <a:solidFill>
                  <a:srgbClr val="FFFFFF"/>
                </a:solidFill>
                <a:latin typeface="Mona Sans Display"/>
              </a:rPr>
              <a:t>Repeatable</a:t>
            </a:r>
          </a:p>
        </p:txBody>
      </p:sp>
      <p:sp>
        <p:nvSpPr>
          <p:cNvPr id="7" name="TextBox 6"/>
          <p:cNvSpPr txBox="1"/>
          <p:nvPr/>
        </p:nvSpPr>
        <p:spPr>
          <a:xfrm>
            <a:off x="914400" y="4297680"/>
            <a:ext cx="2057400" cy="1097280"/>
          </a:xfrm>
          <a:prstGeom prst="rect">
            <a:avLst/>
          </a:prstGeom>
          <a:noFill/>
        </p:spPr>
        <p:txBody>
          <a:bodyPr wrap="square" lIns="0" tIns="0" rIns="0" bIns="0" anchor="t">
            <a:spAutoFit/>
          </a:bodyPr>
          <a:lstStyle/>
          <a:p>
            <a:pPr algn="l">
              <a:spcAft>
                <a:spcPts val="300"/>
              </a:spcAft>
            </a:pPr>
            <a:r>
              <a:rPr sz="1900" b="0">
                <a:solidFill>
                  <a:srgbClr val="B0BAC3"/>
                </a:solidFill>
                <a:latin typeface="Mona Sans"/>
              </a:rPr>
              <a:t>Reuse the same authoring loop across audiences.</a:t>
            </a:r>
          </a:p>
        </p:txBody>
      </p:sp>
      <p:sp>
        <p:nvSpPr>
          <p:cNvPr id="8" name="Rounded Rectangle 7"/>
          <p:cNvSpPr/>
          <p:nvPr/>
        </p:nvSpPr>
        <p:spPr>
          <a:xfrm>
            <a:off x="3465576" y="2468880"/>
            <a:ext cx="2514600" cy="3108960"/>
          </a:xfrm>
          <a:prstGeom prst="roundRect">
            <a:avLst/>
          </a:prstGeom>
          <a:solidFill>
            <a:srgbClr val="101411"/>
          </a:solidFill>
          <a:ln w="12700">
            <a:solidFill>
              <a:srgbClr val="255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3685032" y="269748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2</a:t>
            </a:r>
          </a:p>
        </p:txBody>
      </p:sp>
      <p:sp>
        <p:nvSpPr>
          <p:cNvPr id="10" name="TextBox 9"/>
          <p:cNvSpPr txBox="1"/>
          <p:nvPr/>
        </p:nvSpPr>
        <p:spPr>
          <a:xfrm>
            <a:off x="3694176" y="3429000"/>
            <a:ext cx="2057400" cy="731520"/>
          </a:xfrm>
          <a:prstGeom prst="rect">
            <a:avLst/>
          </a:prstGeom>
          <a:noFill/>
        </p:spPr>
        <p:txBody>
          <a:bodyPr wrap="square" lIns="0" tIns="0" rIns="0" bIns="0" anchor="t">
            <a:spAutoFit/>
          </a:bodyPr>
          <a:lstStyle/>
          <a:p>
            <a:pPr algn="l">
              <a:spcAft>
                <a:spcPts val="300"/>
              </a:spcAft>
            </a:pPr>
            <a:r>
              <a:rPr sz="2400" b="1">
                <a:solidFill>
                  <a:srgbClr val="FFFFFF"/>
                </a:solidFill>
                <a:latin typeface="Mona Sans Display"/>
              </a:rPr>
              <a:t>Observable</a:t>
            </a:r>
          </a:p>
        </p:txBody>
      </p:sp>
      <p:sp>
        <p:nvSpPr>
          <p:cNvPr id="11" name="TextBox 10"/>
          <p:cNvSpPr txBox="1"/>
          <p:nvPr/>
        </p:nvSpPr>
        <p:spPr>
          <a:xfrm>
            <a:off x="3694176" y="4297680"/>
            <a:ext cx="2057400" cy="1097280"/>
          </a:xfrm>
          <a:prstGeom prst="rect">
            <a:avLst/>
          </a:prstGeom>
          <a:noFill/>
        </p:spPr>
        <p:txBody>
          <a:bodyPr wrap="square" lIns="0" tIns="0" rIns="0" bIns="0" anchor="t">
            <a:spAutoFit/>
          </a:bodyPr>
          <a:lstStyle/>
          <a:p>
            <a:pPr algn="l">
              <a:spcAft>
                <a:spcPts val="300"/>
              </a:spcAft>
            </a:pPr>
            <a:r>
              <a:rPr sz="1900" b="0">
                <a:solidFill>
                  <a:srgbClr val="B0BAC3"/>
                </a:solidFill>
                <a:latin typeface="Mona Sans"/>
              </a:rPr>
              <a:t>Check what learners wrote, not file presence.</a:t>
            </a:r>
          </a:p>
        </p:txBody>
      </p:sp>
      <p:sp>
        <p:nvSpPr>
          <p:cNvPr id="12" name="Rounded Rectangle 11"/>
          <p:cNvSpPr/>
          <p:nvPr/>
        </p:nvSpPr>
        <p:spPr>
          <a:xfrm>
            <a:off x="6245352" y="2468880"/>
            <a:ext cx="2514600" cy="3108960"/>
          </a:xfrm>
          <a:prstGeom prst="roundRect">
            <a:avLst/>
          </a:prstGeom>
          <a:solidFill>
            <a:srgbClr val="101411"/>
          </a:solidFill>
          <a:ln w="12700">
            <a:solidFill>
              <a:srgbClr val="255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464808" y="269748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3</a:t>
            </a:r>
          </a:p>
        </p:txBody>
      </p:sp>
      <p:sp>
        <p:nvSpPr>
          <p:cNvPr id="14" name="TextBox 13"/>
          <p:cNvSpPr txBox="1"/>
          <p:nvPr/>
        </p:nvSpPr>
        <p:spPr>
          <a:xfrm>
            <a:off x="6473952" y="3429000"/>
            <a:ext cx="2057400" cy="731520"/>
          </a:xfrm>
          <a:prstGeom prst="rect">
            <a:avLst/>
          </a:prstGeom>
          <a:noFill/>
        </p:spPr>
        <p:txBody>
          <a:bodyPr wrap="square" lIns="0" tIns="0" rIns="0" bIns="0" anchor="t">
            <a:spAutoFit/>
          </a:bodyPr>
          <a:lstStyle/>
          <a:p>
            <a:pPr algn="l">
              <a:spcAft>
                <a:spcPts val="300"/>
              </a:spcAft>
            </a:pPr>
            <a:r>
              <a:rPr sz="2400" b="1">
                <a:solidFill>
                  <a:srgbClr val="FFFFFF"/>
                </a:solidFill>
                <a:latin typeface="Mona Sans Display"/>
              </a:rPr>
              <a:t>Inclusive</a:t>
            </a:r>
          </a:p>
        </p:txBody>
      </p:sp>
      <p:sp>
        <p:nvSpPr>
          <p:cNvPr id="15" name="TextBox 14"/>
          <p:cNvSpPr txBox="1"/>
          <p:nvPr/>
        </p:nvSpPr>
        <p:spPr>
          <a:xfrm>
            <a:off x="6473952" y="4297680"/>
            <a:ext cx="2057400" cy="1097280"/>
          </a:xfrm>
          <a:prstGeom prst="rect">
            <a:avLst/>
          </a:prstGeom>
          <a:noFill/>
        </p:spPr>
        <p:txBody>
          <a:bodyPr wrap="square" lIns="0" tIns="0" rIns="0" bIns="0" anchor="t">
            <a:spAutoFit/>
          </a:bodyPr>
          <a:lstStyle/>
          <a:p>
            <a:pPr algn="l">
              <a:spcAft>
                <a:spcPts val="300"/>
              </a:spcAft>
            </a:pPr>
            <a:r>
              <a:rPr sz="1900" b="0">
                <a:solidFill>
                  <a:srgbClr val="B0BAC3"/>
                </a:solidFill>
                <a:latin typeface="Mona Sans"/>
              </a:rPr>
              <a:t>Review clarity, navigation, and accessibility.</a:t>
            </a:r>
          </a:p>
        </p:txBody>
      </p:sp>
      <p:sp>
        <p:nvSpPr>
          <p:cNvPr id="16" name="Rounded Rectangle 15"/>
          <p:cNvSpPr/>
          <p:nvPr/>
        </p:nvSpPr>
        <p:spPr>
          <a:xfrm>
            <a:off x="9025128" y="2468880"/>
            <a:ext cx="2514600" cy="3108960"/>
          </a:xfrm>
          <a:prstGeom prst="roundRect">
            <a:avLst/>
          </a:prstGeom>
          <a:solidFill>
            <a:srgbClr val="101411"/>
          </a:solidFill>
          <a:ln w="12700">
            <a:solidFill>
              <a:srgbClr val="255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244584" y="269748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4</a:t>
            </a:r>
          </a:p>
        </p:txBody>
      </p:sp>
      <p:sp>
        <p:nvSpPr>
          <p:cNvPr id="18" name="TextBox 17"/>
          <p:cNvSpPr txBox="1"/>
          <p:nvPr/>
        </p:nvSpPr>
        <p:spPr>
          <a:xfrm>
            <a:off x="9253728" y="3429000"/>
            <a:ext cx="2057400" cy="731520"/>
          </a:xfrm>
          <a:prstGeom prst="rect">
            <a:avLst/>
          </a:prstGeom>
          <a:noFill/>
        </p:spPr>
        <p:txBody>
          <a:bodyPr wrap="square" lIns="0" tIns="0" rIns="0" bIns="0" anchor="t">
            <a:spAutoFit/>
          </a:bodyPr>
          <a:lstStyle/>
          <a:p>
            <a:pPr algn="l">
              <a:spcAft>
                <a:spcPts val="300"/>
              </a:spcAft>
            </a:pPr>
            <a:r>
              <a:rPr sz="2400" b="1">
                <a:solidFill>
                  <a:srgbClr val="FFFFFF"/>
                </a:solidFill>
                <a:latin typeface="Mona Sans Display"/>
              </a:rPr>
              <a:t>Human-led</a:t>
            </a:r>
          </a:p>
        </p:txBody>
      </p:sp>
      <p:sp>
        <p:nvSpPr>
          <p:cNvPr id="19" name="TextBox 18"/>
          <p:cNvSpPr txBox="1"/>
          <p:nvPr/>
        </p:nvSpPr>
        <p:spPr>
          <a:xfrm>
            <a:off x="9253728" y="4297680"/>
            <a:ext cx="2057400" cy="1097280"/>
          </a:xfrm>
          <a:prstGeom prst="rect">
            <a:avLst/>
          </a:prstGeom>
          <a:noFill/>
        </p:spPr>
        <p:txBody>
          <a:bodyPr wrap="square" lIns="0" tIns="0" rIns="0" bIns="0" anchor="t">
            <a:spAutoFit/>
          </a:bodyPr>
          <a:lstStyle/>
          <a:p>
            <a:pPr algn="l">
              <a:spcAft>
                <a:spcPts val="300"/>
              </a:spcAft>
            </a:pPr>
            <a:r>
              <a:rPr sz="1900" b="0">
                <a:solidFill>
                  <a:srgbClr val="B0BAC3"/>
                </a:solidFill>
                <a:latin typeface="Mona Sans"/>
              </a:rPr>
              <a:t>Approve the decisions and the final release.</a:t>
            </a:r>
          </a:p>
        </p:txBody>
      </p:sp>
      <p:sp>
        <p:nvSpPr>
          <p:cNvPr id="20" name="TextBox 19"/>
          <p:cNvSpPr txBox="1"/>
          <p:nvPr/>
        </p:nvSpPr>
        <p:spPr>
          <a:xfrm>
            <a:off x="594360" y="6080760"/>
            <a:ext cx="10881360" cy="228600"/>
          </a:xfrm>
          <a:prstGeom prst="rect">
            <a:avLst/>
          </a:prstGeom>
          <a:noFill/>
        </p:spPr>
        <p:txBody>
          <a:bodyPr wrap="square" lIns="0" tIns="0" rIns="0" bIns="0" anchor="t">
            <a:spAutoFit/>
          </a:bodyPr>
          <a:lstStyle/>
          <a:p>
            <a:pPr algn="l">
              <a:spcAft>
                <a:spcPts val="300"/>
              </a:spcAft>
            </a:pPr>
            <a:r>
              <a:rPr sz="1100" b="0">
                <a:solidFill>
                  <a:srgbClr val="B0BAC3"/>
                </a:solidFill>
                <a:latin typeface="Mona Sans"/>
              </a:rPr>
              <a:t>Outline and review generalize to other tutorials. Bootstrap targets the GitHub Skills contract.</a:t>
            </a:r>
          </a:p>
        </p:txBody>
      </p:sp>
      <p:sp>
        <p:nvSpPr>
          <p:cNvPr id="21" name="Workshop slide number 13"/>
          <p:cNvSpPr txBox="1"/>
          <p:nvPr/>
        </p:nvSpPr>
        <p:spPr>
          <a:xfrm>
            <a:off x="11109960" y="6428232"/>
            <a:ext cx="502920" cy="219456"/>
          </a:xfrm>
          <a:prstGeom prst="rect">
            <a:avLst/>
          </a:prstGeom>
          <a:noFill/>
          <a:ln>
            <a:noFill/>
          </a:ln>
        </p:spPr>
        <p:txBody>
          <a:bodyPr wrap="square" lIns="0" tIns="0" rIns="0" bIns="0" anchor="ctr">
            <a:noAutofit/>
          </a:bodyPr>
          <a:lstStyle/>
          <a:p>
            <a:pPr algn="r"/>
            <a:r>
              <a:rPr lang="en-US" sz="1100" dirty="0">
                <a:solidFill>
                  <a:srgbClr val="B0BAC3"/>
                </a:solidFill>
                <a:latin typeface="Mona Sans"/>
              </a:rPr>
              <a:t>13</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38912"/>
            <a:ext cx="10972800" cy="676656"/>
          </a:xfrm>
          <a:prstGeom prst="rect">
            <a:avLst/>
          </a:prstGeom>
          <a:noFill/>
        </p:spPr>
        <p:txBody>
          <a:bodyPr wrap="square" lIns="0" tIns="0" rIns="0" bIns="0" anchor="t">
            <a:spAutoFit/>
          </a:bodyPr>
          <a:lstStyle/>
          <a:p>
            <a:pPr algn="l">
              <a:spcAft>
                <a:spcPts val="300"/>
              </a:spcAft>
            </a:pPr>
            <a:r>
              <a:rPr sz="3400" b="1">
                <a:solidFill>
                  <a:srgbClr val="FFFFFF"/>
                </a:solidFill>
                <a:latin typeface="Mona Sans Display"/>
              </a:rPr>
              <a:t>Your next exercise starts here.</a:t>
            </a:r>
          </a:p>
        </p:txBody>
      </p:sp>
      <p:sp>
        <p:nvSpPr>
          <p:cNvPr id="3" name="TextBox 2"/>
          <p:cNvSpPr txBox="1"/>
          <p:nvPr/>
        </p:nvSpPr>
        <p:spPr>
          <a:xfrm>
            <a:off x="731520" y="2011680"/>
            <a:ext cx="6583680" cy="1280160"/>
          </a:xfrm>
          <a:prstGeom prst="rect">
            <a:avLst/>
          </a:prstGeom>
          <a:noFill/>
        </p:spPr>
        <p:txBody>
          <a:bodyPr wrap="square" lIns="0" tIns="0" rIns="0" bIns="0" anchor="t">
            <a:spAutoFit/>
          </a:bodyPr>
          <a:lstStyle/>
          <a:p>
            <a:pPr algn="l">
              <a:spcAft>
                <a:spcPts val="300"/>
              </a:spcAft>
            </a:pPr>
            <a:r>
              <a:rPr sz="3400" b="1">
                <a:solidFill>
                  <a:srgbClr val="FFFFFF"/>
                </a:solidFill>
                <a:latin typeface="Mona Sans Display"/>
              </a:rPr>
              <a:t>Bring an idea.</a:t>
            </a:r>
          </a:p>
          <a:p>
            <a:pPr algn="l">
              <a:spcAft>
                <a:spcPts val="300"/>
              </a:spcAft>
            </a:pPr>
            <a:r>
              <a:rPr sz="3400" b="1">
                <a:solidFill>
                  <a:srgbClr val="FFFFFF"/>
                </a:solidFill>
                <a:latin typeface="Mona Sans Display"/>
              </a:rPr>
              <a:t>Build a hands-on experience.</a:t>
            </a:r>
          </a:p>
        </p:txBody>
      </p:sp>
      <p:sp>
        <p:nvSpPr>
          <p:cNvPr id="4" name="TextBox 3"/>
          <p:cNvSpPr txBox="1"/>
          <p:nvPr/>
        </p:nvSpPr>
        <p:spPr>
          <a:xfrm>
            <a:off x="731520" y="3694176"/>
            <a:ext cx="6766560" cy="640080"/>
          </a:xfrm>
          <a:prstGeom prst="rect">
            <a:avLst/>
          </a:prstGeom>
          <a:noFill/>
        </p:spPr>
        <p:txBody>
          <a:bodyPr wrap="square" lIns="0" tIns="0" rIns="0" bIns="0" anchor="t">
            <a:normAutofit/>
          </a:bodyPr>
          <a:lstStyle/>
          <a:p>
            <a:pPr algn="l">
              <a:spcAft>
                <a:spcPts val="300"/>
              </a:spcAft>
            </a:pPr>
            <a:r>
              <a:rPr sz="3100" b="1">
                <a:solidFill>
                  <a:srgbClr val="5EEC83"/>
                </a:solidFill>
                <a:latin typeface="Mona Sans"/>
                <a:hlinkClick r:id="rId3"/>
              </a:rPr>
              <a:t>gh.io/gh-skills-builder</a:t>
            </a:r>
          </a:p>
        </p:txBody>
      </p:sp>
      <p:sp>
        <p:nvSpPr>
          <p:cNvPr id="5" name="TextBox 4"/>
          <p:cNvSpPr txBox="1"/>
          <p:nvPr/>
        </p:nvSpPr>
        <p:spPr>
          <a:xfrm>
            <a:off x="731520" y="4636008"/>
            <a:ext cx="6629400" cy="822960"/>
          </a:xfrm>
          <a:prstGeom prst="rect">
            <a:avLst/>
          </a:prstGeom>
          <a:noFill/>
        </p:spPr>
        <p:txBody>
          <a:bodyPr wrap="square" lIns="0" tIns="0" rIns="0" bIns="0" anchor="t">
            <a:spAutoFit/>
          </a:bodyPr>
          <a:lstStyle/>
          <a:p>
            <a:pPr algn="l">
              <a:spcAft>
                <a:spcPts val="300"/>
              </a:spcAft>
            </a:pPr>
            <a:r>
              <a:rPr sz="2300" b="0">
                <a:solidFill>
                  <a:srgbClr val="B0BAC3"/>
                </a:solidFill>
                <a:latin typeface="Mona Sans"/>
              </a:rPr>
              <a:t>Available in Awesome Copilot.</a:t>
            </a:r>
          </a:p>
          <a:p>
            <a:pPr algn="l">
              <a:spcAft>
                <a:spcPts val="300"/>
              </a:spcAft>
            </a:pPr>
            <a:r>
              <a:rPr sz="2300" b="0">
                <a:solidFill>
                  <a:srgbClr val="B0BAC3"/>
                </a:solidFill>
                <a:latin typeface="Mona Sans"/>
              </a:rPr>
              <a:t>One orchestrator. Five Agent Skills.</a:t>
            </a:r>
          </a:p>
        </p:txBody>
      </p:sp>
      <p:pic>
        <p:nvPicPr>
          <p:cNvPr id="6" name="Picture 5" descr="gh-qr-gh-skills-builder.png"/>
          <p:cNvPicPr>
            <a:picLocks noChangeAspect="1"/>
          </p:cNvPicPr>
          <p:nvPr/>
        </p:nvPicPr>
        <p:blipFill>
          <a:blip r:embed="rId4"/>
          <a:stretch>
            <a:fillRect/>
          </a:stretch>
        </p:blipFill>
        <p:spPr>
          <a:xfrm>
            <a:off x="8229600" y="1828800"/>
            <a:ext cx="3246120" cy="3246120"/>
          </a:xfrm>
          <a:prstGeom prst="rect">
            <a:avLst/>
          </a:prstGeom>
        </p:spPr>
      </p:pic>
      <p:sp>
        <p:nvSpPr>
          <p:cNvPr id="7" name="TextBox 6"/>
          <p:cNvSpPr txBox="1"/>
          <p:nvPr/>
        </p:nvSpPr>
        <p:spPr>
          <a:xfrm>
            <a:off x="8229600" y="5376672"/>
            <a:ext cx="3246120" cy="502920"/>
          </a:xfrm>
          <a:prstGeom prst="rect">
            <a:avLst/>
          </a:prstGeom>
          <a:noFill/>
        </p:spPr>
        <p:txBody>
          <a:bodyPr wrap="square" lIns="0" tIns="0" rIns="0" bIns="0" anchor="t">
            <a:spAutoFit/>
          </a:bodyPr>
          <a:lstStyle/>
          <a:p>
            <a:pPr algn="ctr">
              <a:spcAft>
                <a:spcPts val="300"/>
              </a:spcAft>
            </a:pPr>
            <a:r>
              <a:rPr sz="1800" b="0">
                <a:solidFill>
                  <a:srgbClr val="B0BAC3"/>
                </a:solidFill>
                <a:latin typeface="Mona Sans"/>
              </a:rPr>
              <a:t>Scan to explore the plugin</a:t>
            </a:r>
          </a:p>
        </p:txBody>
      </p:sp>
      <p:sp>
        <p:nvSpPr>
          <p:cNvPr id="8" name="TextBox 7"/>
          <p:cNvSpPr txBox="1"/>
          <p:nvPr/>
        </p:nvSpPr>
        <p:spPr>
          <a:xfrm>
            <a:off x="594360" y="6080760"/>
            <a:ext cx="10881360" cy="228600"/>
          </a:xfrm>
          <a:prstGeom prst="rect">
            <a:avLst/>
          </a:prstGeom>
          <a:noFill/>
        </p:spPr>
        <p:txBody>
          <a:bodyPr wrap="square" lIns="0" tIns="0" rIns="0" bIns="0" anchor="t">
            <a:spAutoFit/>
          </a:bodyPr>
          <a:lstStyle/>
          <a:p>
            <a:pPr algn="l">
              <a:spcAft>
                <a:spcPts val="300"/>
              </a:spcAft>
            </a:pPr>
            <a:r>
              <a:rPr sz="1100" b="0">
                <a:solidFill>
                  <a:srgbClr val="B0BAC3"/>
                </a:solidFill>
                <a:latin typeface="Mona Sans"/>
              </a:rPr>
              <a:t>Q&amp;A / What could you turn into an exercise?</a:t>
            </a:r>
          </a:p>
        </p:txBody>
      </p:sp>
      <p:sp>
        <p:nvSpPr>
          <p:cNvPr id="9" name="Workshop slide number 14"/>
          <p:cNvSpPr txBox="1"/>
          <p:nvPr/>
        </p:nvSpPr>
        <p:spPr>
          <a:xfrm>
            <a:off x="11109960" y="6428232"/>
            <a:ext cx="502920" cy="219456"/>
          </a:xfrm>
          <a:prstGeom prst="rect">
            <a:avLst/>
          </a:prstGeom>
          <a:noFill/>
          <a:ln>
            <a:noFill/>
          </a:ln>
        </p:spPr>
        <p:txBody>
          <a:bodyPr wrap="square" lIns="0" tIns="0" rIns="0" bIns="0" anchor="ctr">
            <a:noAutofit/>
          </a:bodyPr>
          <a:lstStyle/>
          <a:p>
            <a:pPr algn="r"/>
            <a:r>
              <a:rPr lang="en-US" sz="1100" dirty="0">
                <a:solidFill>
                  <a:srgbClr val="B0BAC3"/>
                </a:solidFill>
                <a:latin typeface="Mona Sans"/>
              </a:rPr>
              <a:t>14</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7333488" y="694944"/>
            <a:ext cx="4251960" cy="365760"/>
          </a:xfrm>
          <a:prstGeom prst="rect">
            <a:avLst/>
          </a:prstGeom>
          <a:noFill/>
        </p:spPr>
        <p:txBody>
          <a:bodyPr wrap="square" lIns="0" tIns="0" rIns="0" bIns="0" anchor="t">
            <a:spAutoFit/>
          </a:bodyPr>
          <a:lstStyle/>
          <a:p>
            <a:pPr algn="l">
              <a:spcAft>
                <a:spcPts val="300"/>
              </a:spcAft>
            </a:pPr>
            <a:r>
              <a:rPr sz="1400" b="1">
                <a:solidFill>
                  <a:srgbClr val="5EEC83"/>
                </a:solidFill>
                <a:latin typeface="Mona Sans Display"/>
              </a:rPr>
              <a:t>LIVE WORKSHOP / 60 MINUTES</a:t>
            </a:r>
          </a:p>
        </p:txBody>
      </p:sp>
      <p:sp>
        <p:nvSpPr>
          <p:cNvPr id="3" name="TextBox 2"/>
          <p:cNvSpPr txBox="1"/>
          <p:nvPr/>
        </p:nvSpPr>
        <p:spPr>
          <a:xfrm>
            <a:off x="7333488" y="1389888"/>
            <a:ext cx="4251960" cy="2560320"/>
          </a:xfrm>
          <a:prstGeom prst="rect">
            <a:avLst/>
          </a:prstGeom>
          <a:noFill/>
        </p:spPr>
        <p:txBody>
          <a:bodyPr wrap="square" lIns="0" tIns="0" rIns="0" bIns="0" anchor="t">
            <a:spAutoFit/>
          </a:bodyPr>
          <a:lstStyle/>
          <a:p>
            <a:pPr algn="l">
              <a:spcAft>
                <a:spcPts val="300"/>
              </a:spcAft>
            </a:pPr>
            <a:r>
              <a:rPr sz="3600" b="1">
                <a:solidFill>
                  <a:srgbClr val="FFFFFF"/>
                </a:solidFill>
                <a:latin typeface="Mona Sans Display"/>
              </a:rPr>
              <a:t>Turn any idea into a hands-on GitHub exercise</a:t>
            </a:r>
          </a:p>
        </p:txBody>
      </p:sp>
      <p:sp>
        <p:nvSpPr>
          <p:cNvPr id="4" name="TextBox 3"/>
          <p:cNvSpPr txBox="1"/>
          <p:nvPr/>
        </p:nvSpPr>
        <p:spPr>
          <a:xfrm>
            <a:off x="7333488" y="4160520"/>
            <a:ext cx="4251960" cy="1005840"/>
          </a:xfrm>
          <a:prstGeom prst="rect">
            <a:avLst/>
          </a:prstGeom>
          <a:noFill/>
        </p:spPr>
        <p:txBody>
          <a:bodyPr wrap="square" lIns="0" tIns="0" rIns="0" bIns="0" anchor="t">
            <a:spAutoFit/>
          </a:bodyPr>
          <a:lstStyle/>
          <a:p>
            <a:pPr algn="l">
              <a:spcAft>
                <a:spcPts val="300"/>
              </a:spcAft>
            </a:pPr>
            <a:r>
              <a:rPr sz="2000" b="0">
                <a:solidFill>
                  <a:srgbClr val="B0BAC3"/>
                </a:solidFill>
                <a:latin typeface="Mona Sans"/>
              </a:rPr>
              <a:t>Build with gh-skills-builder.</a:t>
            </a:r>
          </a:p>
          <a:p>
            <a:pPr algn="l">
              <a:spcAft>
                <a:spcPts val="300"/>
              </a:spcAft>
            </a:pPr>
            <a:r>
              <a:rPr sz="2000" b="0">
                <a:solidFill>
                  <a:srgbClr val="B0BAC3"/>
                </a:solidFill>
                <a:latin typeface="Mona Sans"/>
              </a:rPr>
              <a:t>Live in the GitHub Copilot app.</a:t>
            </a:r>
          </a:p>
        </p:txBody>
      </p:sp>
      <p:sp>
        <p:nvSpPr>
          <p:cNvPr id="5" name="TextBox 4"/>
          <p:cNvSpPr txBox="1"/>
          <p:nvPr/>
        </p:nvSpPr>
        <p:spPr>
          <a:xfrm>
            <a:off x="7333488" y="5806440"/>
            <a:ext cx="4251960" cy="365760"/>
          </a:xfrm>
          <a:prstGeom prst="rect">
            <a:avLst/>
          </a:prstGeom>
          <a:noFill/>
        </p:spPr>
        <p:txBody>
          <a:bodyPr wrap="square" lIns="0" tIns="0" rIns="0" bIns="0" anchor="t">
            <a:spAutoFit/>
          </a:bodyPr>
          <a:lstStyle/>
          <a:p>
            <a:pPr algn="l">
              <a:spcAft>
                <a:spcPts val="300"/>
              </a:spcAft>
            </a:pPr>
            <a:r>
              <a:rPr sz="1800" b="0">
                <a:solidFill>
                  <a:srgbClr val="B0BAC3"/>
                </a:solidFill>
                <a:latin typeface="Mona Sans"/>
              </a:rPr>
              <a:t>Ari LiVigni</a:t>
            </a:r>
          </a:p>
        </p:txBody>
      </p:sp>
    </p:spTree>
  </p:cSld>
  <p:clrMapOvr>
    <a:masterClrMapping/>
  </p:clrMapOvr>
</p:sld>
</file>

<file path=ppt/theme/theme1.xml><?xml version="1.0" encoding="utf-8"?>
<a:theme xmlns:a="http://schemas.openxmlformats.org/drawingml/2006/main" name="GitHub Default Theme_dark version">
  <a:themeElements>
    <a:clrScheme name="2026 GitHub Core Brand">
      <a:dk1>
        <a:srgbClr val="000000"/>
      </a:dk1>
      <a:lt1>
        <a:srgbClr val="FFFFFF"/>
      </a:lt1>
      <a:dk2>
        <a:srgbClr val="B0BAC3"/>
      </a:dk2>
      <a:lt2>
        <a:srgbClr val="20262C"/>
      </a:lt2>
      <a:accent1>
        <a:srgbClr val="BEFFD0"/>
      </a:accent1>
      <a:accent2>
        <a:srgbClr val="8BF1A6"/>
      </a:accent2>
      <a:accent3>
        <a:srgbClr val="5EEC83"/>
      </a:accent3>
      <a:accent4>
        <a:srgbClr val="0EBE3D"/>
      </a:accent4>
      <a:accent5>
        <a:srgbClr val="0D6836"/>
      </a:accent5>
      <a:accent6>
        <a:srgbClr val="09241A"/>
      </a:accent6>
      <a:hlink>
        <a:srgbClr val="2F94FF"/>
      </a:hlink>
      <a:folHlink>
        <a:srgbClr val="B870FF"/>
      </a:folHlink>
    </a:clrScheme>
    <a:fontScheme name="Custom Theme Name">
      <a:majorFont>
        <a:latin typeface="Mona Sans Display"/>
        <a:ea typeface=""/>
        <a:cs typeface=""/>
      </a:majorFont>
      <a:minorFont>
        <a:latin typeface="Mon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6 GitHub Presentation Template" id="{751A2C4B-25D3-4648-BD34-1F786C145FE0}" vid="{A54D0D16-1D75-824E-B229-67EAC9389F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75BED04A73EC04F8606832822A6508B" ma:contentTypeVersion="11" ma:contentTypeDescription="Create a new document." ma:contentTypeScope="" ma:versionID="3ede87957b835f638e51dd9dd4d1449d">
  <xsd:schema xmlns:xsd="http://www.w3.org/2001/XMLSchema" xmlns:xs="http://www.w3.org/2001/XMLSchema" xmlns:p="http://schemas.microsoft.com/office/2006/metadata/properties" xmlns:ns1="http://schemas.microsoft.com/sharepoint/v3" xmlns:ns2="39208136-c58e-4e30-a1ea-e9b896dfd74b" targetNamespace="http://schemas.microsoft.com/office/2006/metadata/properties" ma:root="true" ma:fieldsID="d7956be1e318c982bedba1a35c9f1493" ns1:_="" ns2:_="">
    <xsd:import namespace="http://schemas.microsoft.com/sharepoint/v3"/>
    <xsd:import namespace="39208136-c58e-4e30-a1ea-e9b896dfd74b"/>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Topic" minOccurs="0"/>
                <xsd:element ref="ns2:ProductName" minOccurs="0"/>
                <xsd:element ref="ns2:Audience" minOccurs="0"/>
                <xsd:element ref="ns2:LastUpdatedDate"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9208136-c58e-4e30-a1ea-e9b896dfd74b"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Topic" ma:index="14" nillable="true" ma:displayName="Topic" ma:format="Dropdown" ma:internalName="Topic">
      <xsd:complexType>
        <xsd:complexContent>
          <xsd:extension base="dms:MultiChoice">
            <xsd:sequence>
              <xsd:element name="Value" maxOccurs="unbounded" minOccurs="0" nillable="true">
                <xsd:simpleType>
                  <xsd:restriction base="dms:Choice">
                    <xsd:enumeration value="Product"/>
                    <xsd:enumeration value="Internal Announcement"/>
                    <xsd:enumeration value="Company Data"/>
                    <xsd:enumeration value="Brand Guidelines"/>
                  </xsd:restriction>
                </xsd:simpleType>
              </xsd:element>
            </xsd:sequence>
          </xsd:extension>
        </xsd:complexContent>
      </xsd:complexType>
    </xsd:element>
    <xsd:element name="ProductName" ma:index="15" nillable="true" ma:displayName="Product Name" ma:default="GitHub Copilot, GitHub Actions, GitHub Advanced Security, GitHub Enterprise Cloud, GHC, GHA, GHAS, GHEC" ma:format="Dropdown" ma:internalName="ProductName">
      <xsd:simpleType>
        <xsd:restriction base="dms:Text">
          <xsd:maxLength value="255"/>
        </xsd:restriction>
      </xsd:simpleType>
    </xsd:element>
    <xsd:element name="Audience" ma:index="16" nillable="true" ma:displayName="Audience" ma:format="Dropdown" ma:internalName="Audience">
      <xsd:complexType>
        <xsd:complexContent>
          <xsd:extension base="dms:MultiChoice">
            <xsd:sequence>
              <xsd:element name="Value" maxOccurs="unbounded" minOccurs="0" nillable="true">
                <xsd:simpleType>
                  <xsd:restriction base="dms:Choice">
                    <xsd:enumeration value="External"/>
                    <xsd:enumeration value="Internal"/>
                    <xsd:enumeration value="Customer"/>
                  </xsd:restriction>
                </xsd:simpleType>
              </xsd:element>
            </xsd:sequence>
          </xsd:extension>
        </xsd:complexContent>
      </xsd:complexType>
    </xsd:element>
    <xsd:element name="LastUpdatedDate" ma:index="17" nillable="true" ma:displayName="Last Updated Date" ma:format="DateOnly" ma:internalName="LastUpdatedDate">
      <xsd:simpleType>
        <xsd:restriction base="dms:DateTime"/>
      </xsd:simpleType>
    </xsd:element>
    <xsd:element name="Status" ma:index="18" nillable="true" ma:displayName="Status" ma:format="Dropdown" ma:internalName="Status">
      <xsd:simpleType>
        <xsd:restriction base="dms:Choice">
          <xsd:enumeration value="Draft"/>
          <xsd:enumeration value="Approved"/>
          <xsd:enumeration value="Outdated"/>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roductName xmlns="39208136-c58e-4e30-a1ea-e9b896dfd74b">GitHub Copilot, GitHub Actions, GitHub Advanced Security, GitHub Enterprise Cloud, GHC, GHA, GHAS, GHEC</ProductName>
    <_ip_UnifiedCompliancePolicyUIAction xmlns="http://schemas.microsoft.com/sharepoint/v3" xsi:nil="true"/>
    <Audience xmlns="39208136-c58e-4e30-a1ea-e9b896dfd74b" xsi:nil="true"/>
    <_ip_UnifiedCompliancePolicyProperties xmlns="http://schemas.microsoft.com/sharepoint/v3" xsi:nil="true"/>
    <LastUpdatedDate xmlns="39208136-c58e-4e30-a1ea-e9b896dfd74b" xsi:nil="true"/>
    <Topic xmlns="39208136-c58e-4e30-a1ea-e9b896dfd74b" xsi:nil="true"/>
    <Status xmlns="39208136-c58e-4e30-a1ea-e9b896dfd74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6951A7-F0FD-40B9-9CCF-618617AD55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9208136-c58e-4e30-a1ea-e9b896dfd74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B539F14-A8E4-4272-8072-DAD8D69DF4E5}">
  <ds:schemaRefs>
    <ds:schemaRef ds:uri="http://purl.org/dc/dcmitype/"/>
    <ds:schemaRef ds:uri="http://purl.org/dc/elements/1.1/"/>
    <ds:schemaRef ds:uri="39208136-c58e-4e30-a1ea-e9b896dfd74b"/>
    <ds:schemaRef ds:uri="http://purl.org/dc/terms/"/>
    <ds:schemaRef ds:uri="http://schemas.microsoft.com/office/infopath/2007/PartnerControls"/>
    <ds:schemaRef ds:uri="http://schemas.microsoft.com/office/2006/metadata/properties"/>
    <ds:schemaRef ds:uri="http://schemas.microsoft.com/office/2006/documentManagement/types"/>
    <ds:schemaRef ds:uri="http://schemas.openxmlformats.org/package/2006/metadata/core-properties"/>
    <ds:schemaRef ds:uri="http://schemas.microsoft.com/sharepoint/v3"/>
    <ds:schemaRef ds:uri="http://www.w3.org/XML/1998/namespace"/>
  </ds:schemaRefs>
</ds:datastoreItem>
</file>

<file path=customXml/itemProps3.xml><?xml version="1.0" encoding="utf-8"?>
<ds:datastoreItem xmlns:ds="http://schemas.openxmlformats.org/officeDocument/2006/customXml" ds:itemID="{AB543426-3F68-4F40-8364-AB61CAE32945}">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15</TotalTime>
  <Words>2852</Words>
  <Application>Microsoft Macintosh PowerPoint</Application>
  <PresentationFormat>Custom</PresentationFormat>
  <Paragraphs>164</Paragraphs>
  <Slides>15</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Aptos</vt:lpstr>
      <vt:lpstr>Arial</vt:lpstr>
      <vt:lpstr>Mona Sans</vt:lpstr>
      <vt:lpstr>Mona Sans Display</vt:lpstr>
      <vt:lpstr>Mona Sans Mono</vt:lpstr>
      <vt:lpstr>Mona-Sans</vt:lpstr>
      <vt:lpstr>Mona-Sans Regular</vt:lpstr>
      <vt:lpstr>GitHub Default Theme_dark version</vt:lpstr>
      <vt:lpstr>2026 GitHub presentation template instructions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Turn Any Idea into a Hands-on GitHub Exercise</dc:title>
  <dc:subject>60-minute workshop / Tailspin quick-start / gh-skills-builder</dc:subject>
  <dc:creator>Ari LiVigni</dc:creator>
  <cp:keywords/>
  <dc:description/>
  <cp:lastModifiedBy>Ari LiVigni</cp:lastModifiedBy>
  <cp:revision>2</cp:revision>
  <dcterms:created xsi:type="dcterms:W3CDTF">2026-09-28T20:33:34Z</dcterms:created>
  <dcterms:modified xsi:type="dcterms:W3CDTF">2026-10-25T16:37:06Z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0x010100575BED04A73EC04F8606832822A6508B</vt:lpwstr>
  </property>
</Properties>
</file>