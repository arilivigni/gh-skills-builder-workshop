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
  </p:notesMasterIdLst>
  <p:handoutMasterIdLst>
    <p:handoutMasterId r:id="rId21"/>
  </p:handoutMasterIdLst>
  <p:sldIdLst>
    <p:sldId id="493"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493"/>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805"/>
    <p:restoredTop sz="84902"/>
  </p:normalViewPr>
  <p:slideViewPr>
    <p:cSldViewPr snapToGrid="0" showGuides="1">
      <p:cViewPr varScale="1">
        <p:scale>
          <a:sx n="177" d="100"/>
          <a:sy n="177" d="100"/>
        </p:scale>
        <p:origin x="5104" y="192"/>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 is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pPr marL="0" marR="0" lvl="0" indent="0" algn="r" defTabSz="914080" rtl="0" eaLnBrk="1" fontAlgn="auto" latinLnBrk="0" hangingPunct="1">
              <a:lnSpc>
                <a:spcPct val="100000"/>
              </a:lnSpc>
              <a:spcBef>
                <a:spcPts val="0"/>
              </a:spcBef>
              <a:spcAft>
                <a:spcPts val="0"/>
              </a:spcAft>
              <a:buClrTx/>
              <a:buSzTx/>
              <a:buFontTx/>
              <a:buNone/>
              <a:tabLst/>
              <a:defRPr/>
            </a:pPr>
            <a:fld id="{625C53A8-59A0-4A49-BAB4-A832A26A8EF5}"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08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00724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Cleared for Takeoff is the title I rehearsed. In a minute the agent proposes a title and three repository names, and you get to vote on the exercise's identity. If we can't decide in 30 seconds, we keep this one.</a:t>
            </a:r>
          </a:p>
          <a:p/>
          <a:p>
            <a:r>
              <a:rPr b="1"/>
              <a:t>DO:</a:t>
            </a:r>
            <a:r>
              <a:t> Nothing to paste. Point at the three habits, then at the rehearsed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a:t>
            </a:r>
          </a:p>
          <a:p>
            <a:r>
              <a:rPr>
                <a:latin typeface="Courier New"/>
              </a:rPr>
              <a:t>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a:t>
            </a:r>
          </a:p>
          <a:p>
            <a:r>
              <a:rPr>
                <a:latin typeface="Courier New"/>
              </a:rPr>
              <a:t>   requiring TSDoc for new or changed exported TypeScript functions. Preserve</a:t>
            </a:r>
          </a:p>
          <a:p>
            <a:r>
              <a:rPr>
                <a:latin typeface="Courier New"/>
              </a:rPr>
              <a:t>   existing instructions.</a:t>
            </a:r>
          </a:p>
          <a:p>
            <a:r>
              <a:rPr>
                <a:latin typeface="Courier New"/>
              </a:rPr>
              <a:t>2. Customize .github/skills/quality-checks/SKILL.md so reports include</a:t>
            </a:r>
          </a:p>
          <a:p>
            <a:r>
              <a:rPr>
                <a:latin typeface="Courier New"/>
              </a:rPr>
              <a:t>   command, passed/failed/blocked status, evidence, and reasons for failed or</a:t>
            </a:r>
          </a:p>
          <a:p>
            <a:r>
              <a:rPr>
                <a:latin typeface="Courier New"/>
              </a:rPr>
              <a:t>   blocked checks. Preserve frontmatter. Never invent command results.</a:t>
            </a:r>
          </a:p>
          <a:p>
            <a:r>
              <a:rPr>
                <a:latin typeface="Courier New"/>
              </a:rPr>
              <a:t>3. Create .github/agents/qa.agent.md with name and description frontmatter. It</a:t>
            </a:r>
          </a:p>
          <a:p>
            <a:r>
              <a:rPr>
                <a:latin typeface="Courier New"/>
              </a:rPr>
              <a:t>   reports requirements with evidence, asks before implementation changes, and</a:t>
            </a:r>
          </a:p>
          <a:p>
            <a:r>
              <a:rPr>
                <a:latin typeface="Courier New"/>
              </a:rPr>
              <a:t>   never commits or opens PRs.</a:t>
            </a:r>
          </a:p>
          <a:p/>
          <a:p>
            <a:r>
              <a:rPr>
                <a:latin typeface="Courier New"/>
              </a:rPr>
              <a:t>For each step include a short Theory block, one Activity, success criteria, a</a:t>
            </a:r>
          </a:p>
          <a:p>
            <a:r>
              <a:rPr>
                <a:latin typeface="Courier New"/>
              </a:rPr>
              <a:t>repository-observable validation signal, and useful failure feedback. Validate</a:t>
            </a:r>
          </a:p>
          <a:p>
            <a:r>
              <a:rPr>
                <a:latin typeface="Courier New"/>
              </a:rPr>
              <a:t>the content of learner artifacts, not just file existence. Do not claim</a:t>
            </a:r>
          </a:p>
          <a:p>
            <a:r>
              <a:rPr>
                <a:latin typeface="Courier New"/>
              </a:rPr>
              <a:t>Actions can prove which local app mode or agent was used.</a:t>
            </a:r>
          </a:p>
          <a:p/>
          <a:p>
            <a:r>
              <a:rPr>
                <a:latin typeface="Courier New"/>
              </a:rPr>
              <a:t>This is a small slice of the Dev Days Copilot app scenario, not a conversion</a:t>
            </a:r>
          </a:p>
          <a:p>
            <a:r>
              <a:rPr>
                <a:latin typeface="Courier New"/>
              </a:rPr>
              <a:t>of the full lab. Do not add filtering, application changes, dependency</a:t>
            </a:r>
          </a:p>
          <a:p>
            <a:r>
              <a:rPr>
                <a:latin typeface="Courier New"/>
              </a:rPr>
              <a:t>installation, database setup, browser tests, feature PR/merge requirements, or</a:t>
            </a:r>
          </a:p>
          <a:p>
            <a:r>
              <a:rPr>
                <a:latin typeface="Courier New"/>
              </a:rPr>
              <a:t>extra graded steps. Mention Agent Merge, MCP, and canvases only as optional</a:t>
            </a:r>
          </a:p>
          <a:p>
            <a:r>
              <a:rPr>
                <a:latin typeface="Courier New"/>
              </a:rPr>
              <a:t>next steps.</a:t>
            </a:r>
          </a:p>
          <a:p/>
          <a:p>
            <a:r>
              <a:rPr>
                <a:latin typeface="Courier New"/>
              </a:rPr>
              <a:t>Propose a title and three lowercase-hyphenated repository names containing</a:t>
            </a:r>
          </a:p>
          <a:p>
            <a:r>
              <a:rPr>
                <a:latin typeface="Courier New"/>
              </a:rPr>
              <a:t>copilot-app, without a skills- prefix. Recommend one.</a:t>
            </a:r>
          </a:p>
          <a:p/>
          <a:p>
            <a:r>
              <a:rPr>
                <a:latin typeface="Courier New"/>
              </a:rPr>
              <a:t>We are in a quick chat with no repository. After I approve the identity and</a:t>
            </a:r>
          </a:p>
          <a:p>
            <a:r>
              <a:rPr>
                <a:latin typeface="Courier New"/>
              </a:rPr>
              <a:t>outline, return the complete standalone exercise-outline.md content in one</a:t>
            </a:r>
          </a:p>
          <a:p>
            <a:r>
              <a:rPr>
                <a:latin typeface="Courier New"/>
              </a:rPr>
              <a:t>Markdown code block. Start with # &lt;approved title&gt;, then Repository name:</a:t>
            </a:r>
          </a:p>
          <a:p>
            <a:r>
              <a:rPr>
                <a:latin typeface="Courier New"/>
              </a:rPr>
              <a:t>&lt;approved name&gt;, then Learner copy: skills-&lt;approved name&gt;. Do not claim a</a:t>
            </a:r>
          </a:p>
          <a:p>
            <a:r>
              <a:rPr>
                <a:latin typeface="Courier New"/>
              </a:rPr>
              <a:t>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proposed title and three repository-name candidates aloud and take a vote: 30 seconds at most. If the room can't decide, keep the rehearsed default. Send Gate 1 once. If the room chose a different title or name, edit both in the message first:</a:t>
            </a:r>
          </a:p>
          <a:p/>
          <a:p>
            <a:r>
              <a:rPr>
                <a:latin typeface="Courier New"/>
              </a:rPr>
              <a:t>Approved. Use "Cleared for Takeoff: A Copilot Quick-Start" and repository name</a:t>
            </a:r>
          </a:p>
          <a:p>
            <a:r>
              <a:rPr>
                <a:latin typeface="Courier New"/>
              </a:rPr>
              <a:t>copilot-app-cleared-for-takeoff. Keep exactly the three approved learner</a:t>
            </a:r>
          </a:p>
          <a:p>
            <a:r>
              <a:rPr>
                <a:latin typeface="Courier New"/>
              </a:rPr>
              <a:t>steps. Return the complete outline artifact in one Markdown code block,</a:t>
            </a:r>
          </a:p>
          <a:p>
            <a:r>
              <a:rPr>
                <a:latin typeface="Courier New"/>
              </a:rPr>
              <a:t>including the title, Repository name, and Learner copy header. Do not create a</a:t>
            </a:r>
          </a:p>
          <a:p>
            <a:r>
              <a:rPr>
                <a:latin typeface="Courier New"/>
              </a:rPr>
              <a:t>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a:t>
            </a:r>
          </a:p>
          <a:p>
            <a:r>
              <a:rPr>
                <a:latin typeface="Courier New"/>
              </a:rPr>
              <a:t>to create my private authoring repository, import the Tailspin starter code,</a:t>
            </a:r>
          </a:p>
          <a:p>
            <a:r>
              <a:rPr>
                <a:latin typeface="Courier New"/>
              </a:rPr>
              <a:t>commit, and push. This is not permission to publish a public template or run</a:t>
            </a:r>
          </a:p>
          <a:p>
            <a:r>
              <a:rPr>
                <a:latin typeface="Courier New"/>
              </a:rPr>
              <a:t>the exercise lifecycle.</a:t>
            </a:r>
          </a:p>
          <a:p/>
          <a:p>
            <a:r>
              <a:rPr>
                <a:latin typeface="Courier New"/>
              </a:rPr>
              <a:t>&lt;workshop-repo&gt;/handoff.sh &lt;you&gt; copilot-app-cleared-for-takeoff</a:t>
            </a:r>
          </a:p>
          <a:p/>
          <a:p>
            <a:r>
              <a:rPr>
                <a:latin typeface="Courier New"/>
              </a:rPr>
              <a:t>Show the output and local folder path. Do not create other repositories or</a:t>
            </a:r>
          </a:p>
          <a:p>
            <a:r>
              <a:rPr>
                <a:latin typeface="Courier New"/>
              </a:rPr>
              <a:t>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a:t>
            </a:r>
          </a:p>
          <a:p>
            <a:r>
              <a:rPr>
                <a:latin typeface="Courier New"/>
              </a:rPr>
              <a:t>/bootstrap-github-skills-exercise with this outline artifact:</a:t>
            </a:r>
          </a:p>
          <a:p/>
          <a:p>
            <a:r>
              <a:rPr>
                <a:latin typeface="Courier New"/>
              </a:rPr>
              <a:t>&lt;paste the approved outline artifact&gt;</a:t>
            </a:r>
          </a:p>
          <a:p/>
          <a:p>
            <a:r>
              <a:rPr>
                <a:latin typeface="Courier New"/>
              </a:rPr>
              <a:t>First save that artifact verbatim to .github/exercise-outline.md. Use its</a:t>
            </a:r>
          </a:p>
          <a:p>
            <a:r>
              <a:rPr>
                <a:latin typeface="Courier New"/>
              </a:rPr>
              <a:t>identity header for the README and Copy Exercise badge. Stop and ask if its</a:t>
            </a:r>
          </a:p>
          <a:p>
            <a:r>
              <a:rPr>
                <a:latin typeface="Courier New"/>
              </a:rPr>
              <a:t>repository name differs from this repo.</a:t>
            </a:r>
          </a:p>
          <a:p/>
          <a:p>
            <a:r>
              <a:rPr>
                <a:latin typeface="Courier New"/>
              </a:rPr>
              <a:t>Build exactly three graded steps plus the standard completion/review material.</a:t>
            </a:r>
          </a:p>
          <a:p>
            <a:r>
              <a:rPr>
                <a:latin typeface="Courier New"/>
              </a:rPr>
              <a:t>Preserve Tailspin's MIT LICENSE and credit github-samples/tailspin-toys in the</a:t>
            </a:r>
          </a:p>
          <a:p>
            <a:r>
              <a:rPr>
                <a:latin typeface="Courier New"/>
              </a:rPr>
              <a:t>README.</a:t>
            </a:r>
          </a:p>
          <a:p/>
          <a:p>
            <a:r>
              <a:rPr>
                <a:latin typeface="Courier New"/>
              </a:rPr>
              <a:t>Do not complete the learner tasks: leave the new TSDoc workshop section, the</a:t>
            </a:r>
          </a:p>
          <a:p>
            <a:r>
              <a:rPr>
                <a:latin typeface="Courier New"/>
              </a:rPr>
              <a:t>quality-reporting contract, and qa.agent.md for the learner to add. Inspect</a:t>
            </a:r>
          </a:p>
          <a:p>
            <a:r>
              <a:rPr>
                <a:latin typeface="Courier New"/>
              </a:rPr>
              <a:t>the existing starter files first so validation requires a meaningful learner</a:t>
            </a:r>
          </a:p>
          <a:p>
            <a:r>
              <a:rPr>
                <a:latin typeface="Courier New"/>
              </a:rPr>
              <a:t>change instead of passing the baseline.</a:t>
            </a:r>
          </a:p>
          <a:p/>
          <a:p>
            <a:r>
              <a:rPr>
                <a:latin typeface="Courier New"/>
              </a:rPr>
              <a:t>Step 0 opens the normal exercise instructions issue only; do not seed any</a:t>
            </a:r>
          </a:p>
          <a:p>
            <a:r>
              <a:rPr>
                <a:latin typeface="Courier New"/>
              </a:rPr>
              <a:t>other issues. Keep existing Tailspin workflows intact, but do not depend on</a:t>
            </a:r>
          </a:p>
          <a:p>
            <a:r>
              <a:rPr>
                <a:latin typeface="Courier New"/>
              </a:rPr>
              <a:t>their checks for exercise progression.</a:t>
            </a:r>
          </a:p>
          <a:p/>
          <a:p>
            <a:r>
              <a:rPr>
                <a:latin typeface="Courier New"/>
              </a:rPr>
              <a:t>Use lightweight artifact checks for all three steps. Do not run or require npm</a:t>
            </a:r>
          </a:p>
          <a:p>
            <a:r>
              <a:rPr>
                <a:latin typeface="Courier New"/>
              </a:rPr>
              <a:t>ci, app builds, database setup, Playwright, or application tests. Check</a:t>
            </a:r>
          </a:p>
          <a:p>
            <a:r>
              <a:rPr>
                <a:latin typeface="Courier New"/>
              </a:rPr>
              <a:t>frontmatter and required reporting/behavioral instructions with helpful</a:t>
            </a:r>
          </a:p>
          <a:p>
            <a:r>
              <a:rPr>
                <a:latin typeface="Courier New"/>
              </a:rPr>
              <a:t>failure feedback, not file-exists or arbitrary whole-file text matching alone.</a:t>
            </a:r>
          </a:p>
          <a:p/>
          <a:p>
            <a:r>
              <a:rPr>
                <a:latin typeface="Courier New"/>
              </a:rPr>
              <a:t>Follow the GitHub Skills workflow contract, use scoped permissions, and</a:t>
            </a:r>
          </a:p>
          <a:p>
            <a:r>
              <a:rPr>
                <a:latin typeface="Courier New"/>
              </a:rPr>
              <a:t>inspect workflow event/path interactions. Report what was actually validated</a:t>
            </a:r>
          </a:p>
          <a:p>
            <a:r>
              <a:rPr>
                <a:latin typeface="Courier New"/>
              </a:rPr>
              <a:t>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a:t>
            </a:r>
          </a:p>
          <a:p>
            <a:r>
              <a:rPr>
                <a:latin typeface="Courier New"/>
              </a:rPr>
              <a:t>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a:t>
            </a:r>
          </a:p>
          <a:p>
            <a:r>
              <a:rPr>
                <a:latin typeface="Courier New"/>
              </a:rPr>
              <a:t>findings without editing files.</a:t>
            </a:r>
          </a:p>
          <a:p/>
          <a:p>
            <a:r>
              <a:rPr>
                <a:latin typeface="Courier New"/>
              </a:rPr>
              <a:t>Check the approved three-step scope, learner clarity and accessibility,</a:t>
            </a:r>
          </a:p>
          <a:p>
            <a:r>
              <a:rPr>
                <a:latin typeface="Courier New"/>
              </a:rPr>
              <a:t>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a:t>
            </a:r>
          </a:p>
          <a:p>
            <a:r>
              <a:rPr>
                <a:latin typeface="Courier New"/>
              </a:rPr>
              <a:t>  artifact should fail with useful feedback. Inspect and, where feasible,</a:t>
            </a:r>
          </a:p>
          <a:p>
            <a:r>
              <a:rPr>
                <a:latin typeface="Courier New"/>
              </a:rPr>
              <a:t>  exercise those cases.</a:t>
            </a:r>
          </a:p>
          <a:p>
            <a:r>
              <a:rPr>
                <a:latin typeface="Courier New"/>
              </a:rPr>
              <a:t>- Step 0 must open only the exercise instructions issue and create no other</a:t>
            </a:r>
          </a:p>
          <a:p>
            <a:r>
              <a:rPr>
                <a:latin typeface="Courier New"/>
              </a:rPr>
              <a:t>  issues.</a:t>
            </a:r>
          </a:p>
          <a:p>
            <a:r>
              <a:rPr>
                <a:latin typeface="Courier New"/>
              </a:rPr>
              <a:t>- No grade should depend on npm, an app build, browser tooling, or proof that</a:t>
            </a:r>
          </a:p>
          <a:p>
            <a:r>
              <a:rPr>
                <a:latin typeface="Courier New"/>
              </a:rPr>
              <a:t>  the learner used a local Copilot mode.</a:t>
            </a:r>
          </a:p>
          <a:p>
            <a:r>
              <a:rPr>
                <a:latin typeface="Courier New"/>
              </a:rPr>
              <a:t>- Repository-observable checks of written policies must not be described as</a:t>
            </a:r>
          </a:p>
          <a:p>
            <a:r>
              <a:rPr>
                <a:latin typeface="Courier New"/>
              </a:rPr>
              <a:t>  proof of model behavior.</a:t>
            </a:r>
          </a:p>
          <a:p/>
          <a:p>
            <a:r>
              <a:rPr>
                <a:latin typeface="Courier New"/>
              </a:rPr>
              <a:t>Prioritize actual release blockers and include evidence and untested risks. If</a:t>
            </a:r>
          </a:p>
          <a:p>
            <a:r>
              <a:rPr>
                <a:latin typeface="Courier New"/>
              </a:rPr>
              <a:t>no findings are supported, say so; do not invent a finding for the demo.</a:t>
            </a:r>
          </a:p>
          <a:p/>
          <a:p>
            <a:r>
              <a:rPr b="1"/>
              <a:t>CLOCK:</a:t>
            </a:r>
            <a:r>
              <a:t> Hard stop 0:30. If the live review isn't finished, use the saved review in fallback/review-findings.md.</a:t>
            </a:r>
          </a:p>
          <a:p/>
          <a:p>
            <a:r>
              <a:rPr b="1"/>
              <a:t>DO:</a:t>
            </a:r>
            <a:r>
              <a:t> Prompt 3a is an optional visual pass within the same review time box. It previews the exercise content, not the Tailspin app, and does not replace workflow checks or fresh-copy testing. Skip it if time is tight:</a:t>
            </a:r>
          </a:p>
          <a:p/>
          <a:p>
            <a:r>
              <a:rPr>
                <a:latin typeface="Courier New"/>
              </a:rPr>
              <a:t>Show the current exercise README.md and all .github/steps/*.md files in a</a:t>
            </a:r>
          </a:p>
          <a:p>
            <a:r>
              <a:rPr>
                <a:latin typeface="Courier New"/>
              </a:rPr>
              <a:t>browser canvas for a read-only learner-experience review.</a:t>
            </a:r>
          </a:p>
          <a:p/>
          <a:p>
            <a:r>
              <a:rPr>
                <a:latin typeface="Courier New"/>
              </a:rPr>
              <a:t>Render the full Markdown, not summaries or source code. Put the README first,</a:t>
            </a:r>
          </a:p>
          <a:p>
            <a:r>
              <a:rPr>
                <a:latin typeface="Courier New"/>
              </a:rPr>
              <a:t>then every numbered step in numeric order, then x-review.md. Include any</a:t>
            </a:r>
          </a:p>
          <a:p>
            <a:r>
              <a:rPr>
                <a:latin typeface="Courier New"/>
              </a:rPr>
              <a:t>other step Markdown files in the navigation. Label each page with its source</a:t>
            </a:r>
          </a:p>
          <a:p>
            <a:r>
              <a:rPr>
                <a:latin typeface="Courier New"/>
              </a:rPr>
              <a:t>path and provide a table of contents plus previous/next navigation. Preserve</a:t>
            </a:r>
          </a:p>
          <a:p>
            <a:r>
              <a:rPr>
                <a:latin typeface="Courier New"/>
              </a:rPr>
              <a:t>headings, ordered lists, code blocks, links, images, details blocks, and</a:t>
            </a:r>
          </a:p>
          <a:p>
            <a:r>
              <a:rPr>
                <a:latin typeface="Courier New"/>
              </a:rPr>
              <a:t>GitHub-style callouts so we can inspect readability and the learner journey.</a:t>
            </a:r>
          </a:p>
          <a:p>
            <a:r>
              <a:rPr>
                <a:latin typeface="Courier New"/>
              </a:rPr>
              <a:t>Clearly label unresolved template variables as an unrendered preview; do not</a:t>
            </a:r>
          </a:p>
          <a:p>
            <a:r>
              <a:rPr>
                <a:latin typeface="Courier New"/>
              </a:rPr>
              <a:t>invent their values or claim this is the live issue experience.</a:t>
            </a:r>
          </a:p>
          <a:p/>
          <a:p>
            <a:r>
              <a:rPr>
                <a:latin typeface="Courier New"/>
              </a:rPr>
              <a:t>Keep all exercise files unchanged. If a local preview needs generated files,</a:t>
            </a:r>
          </a:p>
          <a:p>
            <a:r>
              <a:rPr>
                <a:latin typeface="Courier New"/>
              </a:rPr>
              <a:t>use a temporary directory outside the repository and bind any server to</a:t>
            </a:r>
          </a:p>
          <a:p>
            <a:r>
              <a:rPr>
                <a:latin typeface="Courier New"/>
              </a:rPr>
              <a:t>loopback only. Do not upload private content to an external renderer.</a:t>
            </a:r>
          </a:p>
          <a:p>
            <a:r>
              <a:rPr>
                <a:latin typeface="Courier New"/>
              </a:rPr>
              <a:t>Do not run workflows, click Copy Exercise, create repositories, or publish.</a:t>
            </a:r>
          </a:p>
          <a:p>
            <a:r>
              <a:rPr>
                <a:latin typeface="Courier New"/>
              </a:rPr>
              <a:t>If a source file or browser canvas is unavailable, report it explicitly.</a:t>
            </a:r>
          </a:p>
          <a:p/>
          <a:p>
            <a:r>
              <a:rPr b="1"/>
              <a:t>DO:</a:t>
            </a:r>
            <a:r>
              <a:t> Check the README, each of the three steps, and the completion page in the canvas. Treat visual issues as findings, not permission to edit. If the preview cannot open promptly, inspect the source Markdown and continue within the existing hard stops.</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a:t>
            </a:r>
          </a:p>
          <a:p>
            <a:r>
              <a:rPr>
                <a:latin typeface="Courier New"/>
              </a:rPr>
              <a:t>and run its relevant checks. Stop for my build approval before running the</a:t>
            </a:r>
          </a:p>
          <a:p>
            <a:r>
              <a:rPr>
                <a:latin typeface="Courier New"/>
              </a:rPr>
              <a:t>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a:t>
            </a:r>
          </a:p>
          <a:p>
            <a:r>
              <a:rPr>
                <a:latin typeface="Courier New"/>
              </a:rPr>
              <a:t>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a:t>
            </a:r>
          </a:p>
          <a:p>
            <a:r>
              <a:rPr>
                <a:latin typeface="Courier New"/>
              </a:rPr>
              <a:t>approved three-step exercise. Read its identity from</a:t>
            </a:r>
          </a:p>
          <a:p>
            <a:r>
              <a:rPr>
                <a:latin typeface="Courier New"/>
              </a:rPr>
              <a:t>.github/exercise-outline.md.</a:t>
            </a:r>
          </a:p>
          <a:p/>
          <a:p>
            <a:r>
              <a:rPr>
                <a:latin typeface="Courier New"/>
              </a:rPr>
              <a:t>Prepare a short readiness report: validation evidence, untested risks, a PR</a:t>
            </a:r>
          </a:p>
          <a:p>
            <a:r>
              <a:rPr>
                <a:latin typeface="Courier New"/>
              </a:rPr>
              <a:t>description, brief release notes, and a launch checklist. Clearly separate</a:t>
            </a:r>
          </a:p>
          <a:p>
            <a:r>
              <a:rPr>
                <a:latin typeface="Courier New"/>
              </a:rPr>
              <a:t>completed checks from required fresh-copy testing.</a:t>
            </a:r>
          </a:p>
          <a:p/>
          <a:p>
            <a:r>
              <a:rPr>
                <a:latin typeface="Courier New"/>
              </a:rPr>
              <a:t>Do not create or transfer repositories, change visibility, push, or publish.</a:t>
            </a:r>
          </a:p>
          <a:p>
            <a:r>
              <a:rPr>
                <a:latin typeface="Courier New"/>
              </a:rPr>
              <a:t>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a:t>
            </a:r>
          </a:p>
          <a:p>
            <a:r>
              <a:rPr>
                <a:latin typeface="Courier New"/>
              </a:rPr>
              <a:t>publishing this exercise to &lt;demo-owner&gt;/&lt;approved-name&gt; as a public template.</a:t>
            </a:r>
          </a:p>
          <a:p/>
          <a:p>
            <a:r>
              <a:rPr>
                <a:latin typeface="Courier New"/>
              </a:rPr>
              <a:t>Show the exact target, visibility, changes, commands, and readiness blockers.</a:t>
            </a:r>
          </a:p>
          <a:p>
            <a:r>
              <a:rPr>
                <a:latin typeface="Courier New"/>
              </a:rPr>
              <a:t>Wait for separate explicit authorization. This message is not authorization to</a:t>
            </a:r>
          </a:p>
          <a:p>
            <a:r>
              <a:rPr>
                <a:latin typeface="Courier New"/>
              </a:rPr>
              <a:t>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a:t>
            </a:r>
          </a:p>
          <a:p>
            <a:r>
              <a:rPr>
                <a:latin typeface="Courier New"/>
              </a:rPr>
              <a:t>coordinate the same three-step Tailspin quick-start. Read the approved outline</a:t>
            </a:r>
          </a:p>
          <a:p>
            <a:r>
              <a:rPr>
                <a:latin typeface="Courier New"/>
              </a:rPr>
              <a:t>from .github/exercise-outline.md. Stop after each build for approval; review</a:t>
            </a:r>
          </a:p>
          <a:p>
            <a:r>
              <a:rPr>
                <a:latin typeface="Courier New"/>
              </a:rPr>
              <a:t>without edits; request separate approval for fixes and any publication. Do not</a:t>
            </a:r>
          </a:p>
          <a:p>
            <a:r>
              <a:rPr>
                <a:latin typeface="Courier New"/>
              </a:rPr>
              <a:t>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01411"/>
        </a:solid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93A06B34-F03E-5DC7-2F93-8740C8F86415}"/>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3" name="Text Placeholder 2">
            <a:extLst>
              <a:ext uri="{FF2B5EF4-FFF2-40B4-BE49-F238E27FC236}">
                <a16:creationId xmlns:a16="http://schemas.microsoft.com/office/drawing/2014/main" id="{00329222-7B60-0287-B5CD-B9A22C449836}"/>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tx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7" name="Rectangle 6">
            <a:extLst>
              <a:ext uri="{FF2B5EF4-FFF2-40B4-BE49-F238E27FC236}">
                <a16:creationId xmlns:a16="http://schemas.microsoft.com/office/drawing/2014/main" id="{661974D1-2B3B-9B4D-272E-11CF159EBA96}"/>
              </a:ext>
            </a:extLst>
          </p:cNvPr>
          <p:cNvSpPr/>
          <p:nvPr userDrawn="1"/>
        </p:nvSpPr>
        <p:spPr>
          <a:xfrm>
            <a:off x="4075384" y="-2"/>
            <a:ext cx="9144" cy="645544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F169222-62F0-2EFF-01A8-8D6A3B1B695C}"/>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dirty="0">
                <a:latin typeface="Mona Sans Display" pitchFamily="2" charset="77"/>
                <a:cs typeface="Mona Sans Display" pitchFamily="2" charset="77"/>
              </a:rPr>
              <a:t>Session</a:t>
            </a:r>
            <a:br>
              <a:rPr lang="en-US" sz="7200" spc="0" dirty="0">
                <a:latin typeface="Mona Sans Display" pitchFamily="2" charset="77"/>
                <a:cs typeface="Mona Sans Display" pitchFamily="2" charset="77"/>
              </a:rPr>
            </a:br>
            <a:r>
              <a:rPr lang="en-US" sz="7200" spc="0" dirty="0">
                <a:solidFill>
                  <a:schemeClr val="bg2"/>
                </a:solidFill>
                <a:latin typeface="Mona Sans Display" pitchFamily="2" charset="77"/>
                <a:cs typeface="Mona Sans Display" pitchFamily="2" charset="77"/>
              </a:rPr>
              <a:t>Agenda</a:t>
            </a:r>
          </a:p>
        </p:txBody>
      </p:sp>
      <p:sp>
        <p:nvSpPr>
          <p:cNvPr id="25" name="Rectangle 24">
            <a:extLst>
              <a:ext uri="{FF2B5EF4-FFF2-40B4-BE49-F238E27FC236}">
                <a16:creationId xmlns:a16="http://schemas.microsoft.com/office/drawing/2014/main" id="{D18BEDA9-9E4A-4AB3-2AC5-BA36C010DBBB}"/>
              </a:ext>
            </a:extLst>
          </p:cNvPr>
          <p:cNvSpPr>
            <a:spLocks noGrp="1" noRot="1" noMove="1" noResize="1" noEditPoints="1" noAdjustHandles="1" noChangeArrowheads="1" noChangeShapeType="1"/>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48B612C-5E67-5414-731A-C9339B410D72}"/>
              </a:ext>
            </a:extLst>
          </p:cNvPr>
          <p:cNvSpPr>
            <a:spLocks noGrp="1" noRot="1" noMove="1" noResize="1" noEditPoints="1" noAdjustHandles="1" noChangeArrowheads="1" noChangeShapeType="1"/>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a:extLst>
              <a:ext uri="{FF2B5EF4-FFF2-40B4-BE49-F238E27FC236}">
                <a16:creationId xmlns:a16="http://schemas.microsoft.com/office/drawing/2014/main" id="{1A91557B-968A-5EC0-CAFB-09897FC08F54}"/>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8" name="Text Placeholder 13">
            <a:extLst>
              <a:ext uri="{FF2B5EF4-FFF2-40B4-BE49-F238E27FC236}">
                <a16:creationId xmlns:a16="http://schemas.microsoft.com/office/drawing/2014/main" id="{73D074C2-03EF-908D-252E-5ED8D14F44A3}"/>
              </a:ext>
            </a:extLst>
          </p:cNvPr>
          <p:cNvSpPr>
            <a:spLocks noGrp="1" noRot="1" noMove="1" noResize="1" noEditPoints="1" noAdjustHandles="1" noChangeArrowheads="1" noChangeShapeType="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43324815"/>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8E232FEF-5AC4-0243-5E32-D39DE78C8EF3}"/>
              </a:ext>
            </a:extLst>
          </p:cNvPr>
          <p:cNvSpPr>
            <a:spLocks noGrp="1"/>
          </p:cNvSpPr>
          <p:nvPr>
            <p:ph idx="1" hasCustomPrompt="1"/>
          </p:nvPr>
        </p:nvSpPr>
        <p:spPr>
          <a:xfrm>
            <a:off x="402335" y="1710900"/>
            <a:ext cx="11379581" cy="4327581"/>
          </a:xfrm>
          <a:prstGeom prst="rect">
            <a:avLst/>
          </a:prstGeom>
        </p:spPr>
        <p:txBody>
          <a:bodyPr vert="horz" lIns="0" tIns="0" rIns="0" bIns="0" rtlCol="0">
            <a:normAutofit/>
          </a:bodyPr>
          <a:lstStyle>
            <a:lvl1pPr>
              <a:defRPr b="0" i="0">
                <a:solidFill>
                  <a:schemeClr val="bg2"/>
                </a:solidFill>
                <a:latin typeface="Mona Sans" pitchFamily="2" charset="77"/>
                <a:cs typeface="Mona Sans" pitchFamily="2" charset="77"/>
              </a:defRPr>
            </a:lvl1pPr>
            <a:lvl2pPr>
              <a:defRPr b="0" i="0">
                <a:latin typeface="Mona Sans" pitchFamily="2" charset="77"/>
                <a:cs typeface="Mona Sans" pitchFamily="2" charset="77"/>
              </a:defRPr>
            </a:lvl2pPr>
            <a:lvl3pPr>
              <a:defRPr b="0" i="0">
                <a:latin typeface="Mona Sans" pitchFamily="2" charset="77"/>
                <a:cs typeface="Mona Sans" pitchFamily="2" charset="77"/>
              </a:defRPr>
            </a:lvl3pPr>
            <a:lvl4pPr>
              <a:defRPr b="0" i="0">
                <a:latin typeface="Mona Sans" pitchFamily="2" charset="77"/>
                <a:cs typeface="Mona Sans" pitchFamily="2" charset="77"/>
              </a:defRPr>
            </a:lvl4pPr>
            <a:lvl5pPr>
              <a:defRPr b="0" i="0">
                <a:latin typeface="Mona Sans" pitchFamily="2" charset="77"/>
                <a:cs typeface="Mona Sans" pitchFamily="2" charset="77"/>
              </a:defRPr>
            </a:lvl5pPr>
          </a:lstStyle>
          <a:p>
            <a:pPr lvl="0"/>
            <a:r>
              <a:rPr lang="en-US" dirty="0"/>
              <a:t>Subtitle information</a:t>
            </a:r>
          </a:p>
        </p:txBody>
      </p:sp>
      <p:sp>
        <p:nvSpPr>
          <p:cNvPr id="7" name="Text Placeholder 23">
            <a:extLst>
              <a:ext uri="{FF2B5EF4-FFF2-40B4-BE49-F238E27FC236}">
                <a16:creationId xmlns:a16="http://schemas.microsoft.com/office/drawing/2014/main" id="{CAF34A05-F979-67CE-8D0B-93ACC8868D9E}"/>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9" name="Rectangle 8">
            <a:extLst>
              <a:ext uri="{FF2B5EF4-FFF2-40B4-BE49-F238E27FC236}">
                <a16:creationId xmlns:a16="http://schemas.microsoft.com/office/drawing/2014/main" id="{C4C056C1-2865-9CB8-CB36-2D1F97AA0222}"/>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9CC8A02-7DFE-BBD6-BA6B-3E0FEA9D0F18}"/>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178287EB-93A9-A71F-B19F-C6930FEA3000}"/>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5" name="Text Placeholder 13">
            <a:extLst>
              <a:ext uri="{FF2B5EF4-FFF2-40B4-BE49-F238E27FC236}">
                <a16:creationId xmlns:a16="http://schemas.microsoft.com/office/drawing/2014/main" id="{0036C648-5D50-5FAE-8829-8ACC35324E0A}"/>
              </a:ext>
            </a:extLst>
          </p:cNvPr>
          <p:cNvSpPr>
            <a:spLocks noGrp="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17" name="Text Placeholder 16">
            <a:extLst>
              <a:ext uri="{FF2B5EF4-FFF2-40B4-BE49-F238E27FC236}">
                <a16:creationId xmlns:a16="http://schemas.microsoft.com/office/drawing/2014/main" id="{3A6EDB0E-FBDD-D920-1516-D5EDAB5A6CEF}"/>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1118458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 name="Rectangle 1">
            <a:extLst>
              <a:ext uri="{FF2B5EF4-FFF2-40B4-BE49-F238E27FC236}">
                <a16:creationId xmlns:a16="http://schemas.microsoft.com/office/drawing/2014/main" id="{8C8F5E47-50D2-527B-99CA-752571C3771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DD29054-C6C3-52EA-5283-F98F09B0558E}"/>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0BD6086B-0723-3E44-B2F1-85927BE9FA0D}"/>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1" name="Text Placeholder 13">
            <a:extLst>
              <a:ext uri="{FF2B5EF4-FFF2-40B4-BE49-F238E27FC236}">
                <a16:creationId xmlns:a16="http://schemas.microsoft.com/office/drawing/2014/main" id="{5A9DC251-A9D7-1A21-F3BA-A1BB79C7B231}"/>
              </a:ext>
            </a:extLst>
          </p:cNvPr>
          <p:cNvSpPr>
            <a:spLocks noGrp="1"/>
          </p:cNvSpPr>
          <p:nvPr>
            <p:ph type="body" sz="quarter" idx="35"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7" name="Text Placeholder 6">
            <a:extLst>
              <a:ext uri="{FF2B5EF4-FFF2-40B4-BE49-F238E27FC236}">
                <a16:creationId xmlns:a16="http://schemas.microsoft.com/office/drawing/2014/main" id="{08F0C006-9B14-13E3-D4C5-9398BEEB4AC8}"/>
              </a:ext>
            </a:extLst>
          </p:cNvPr>
          <p:cNvSpPr>
            <a:spLocks noGrp="1"/>
          </p:cNvSpPr>
          <p:nvPr>
            <p:ph type="body" sz="quarter" idx="48" hasCustomPrompt="1"/>
          </p:nvPr>
        </p:nvSpPr>
        <p:spPr>
          <a:xfrm>
            <a:off x="402337" y="796205"/>
            <a:ext cx="11384280" cy="202996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2788779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3" cy="6847972"/>
          </a:xfrm>
          <a:prstGeom prst="rect">
            <a:avLst/>
          </a:prstGeom>
        </p:spPr>
      </p:pic>
      <p:pic>
        <p:nvPicPr>
          <p:cNvPr id="5" name="Graphic 4">
            <a:extLst>
              <a:ext uri="{FF2B5EF4-FFF2-40B4-BE49-F238E27FC236}">
                <a16:creationId xmlns:a16="http://schemas.microsoft.com/office/drawing/2014/main" id="{7ABDC8CC-7999-BC56-DE41-5B1B72F3267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441" y="2577853"/>
            <a:ext cx="1725937" cy="1702295"/>
          </a:xfrm>
          <a:prstGeom prst="rect">
            <a:avLst/>
          </a:prstGeom>
        </p:spPr>
      </p:pic>
    </p:spTree>
    <p:extLst>
      <p:ext uri="{BB962C8B-B14F-4D97-AF65-F5344CB8AC3E}">
        <p14:creationId xmlns:p14="http://schemas.microsoft.com/office/powerpoint/2010/main" val="37513451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entirely">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585022"/>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0141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137ACEC-E46E-293E-1C28-107DE99BD8F7}"/>
              </a:ext>
              <a:ext uri="{C183D7F6-B498-43B3-948B-1728B52AA6E4}">
                <adec:decorative xmlns:adec="http://schemas.microsoft.com/office/drawing/2017/decorative" val="1"/>
              </a:ext>
            </a:extLst>
          </p:cNvPr>
          <p:cNvGrpSpPr>
            <a:grpSpLocks noChangeAspect="1"/>
          </p:cNvGrpSpPr>
          <p:nvPr userDrawn="1"/>
        </p:nvGrpSpPr>
        <p:grpSpPr>
          <a:xfrm>
            <a:off x="12287636" y="0"/>
            <a:ext cx="2842191" cy="6858000"/>
            <a:chOff x="12325985" y="0"/>
            <a:chExt cx="4758055" cy="5486369"/>
          </a:xfrm>
        </p:grpSpPr>
        <p:grpSp>
          <p:nvGrpSpPr>
            <p:cNvPr id="3" name="Group 2">
              <a:extLst>
                <a:ext uri="{FF2B5EF4-FFF2-40B4-BE49-F238E27FC236}">
                  <a16:creationId xmlns:a16="http://schemas.microsoft.com/office/drawing/2014/main" id="{6C3B99B0-5CE7-0658-2C6A-097F21D37B91}"/>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5D375712-73D7-A53E-FB68-8D5A0707EF48}"/>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F5DC487E-9F59-30EE-0000-AD0D99183346}"/>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BFF2CF48-C6A9-BC65-BE87-A3D95A85C89C}"/>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DC0BE3A4-2891-6AAE-079E-D8A6BAE7CD38}"/>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C3E3DE6D-5949-42B6-FBFC-9508B298DC95}"/>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8E635916-8F88-6936-B97D-EC16A9B5D233}"/>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E3EFD9FC-A2E2-584B-E49E-CDE7C33D087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F63ED85F-87C1-BF54-4E56-D42B3CFA067D}"/>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7F0EE851-EF0E-3D5F-28D7-75118B0550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24DB71BC-5CCC-DDBC-5B82-44CA1E93E1F3}"/>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BF91F026-1E0D-92D5-DCD2-34951D2FE224}"/>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C503756C-F41C-33F2-59F9-D0C72447BD29}"/>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C6AD0DF7-5298-B0EA-2231-B573C49B5A97}"/>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F681B580-3D4B-52A6-F730-0C3DE50F9AA1}"/>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D6BDBED5-1B1C-1FA1-68EA-DF2EFC82EBC6}"/>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0B47B499-2EEF-E9F0-6822-8101C536B22F}"/>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D89D1C90-B3D8-65C7-16E3-809FA9274800}"/>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81EDE246-8512-E797-BB8A-570ACF7B5125}"/>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0C13E6A5-B1C5-7B79-0EC0-E8A4024EE7D3}"/>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7BF0CF23-AD24-28EA-9CF9-E0243AC9377C}"/>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0DDA01DB-9A94-75FC-BE22-B1791C6C1FC8}"/>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9C03D832-3CEC-0F46-AE34-9FD407E1ABB4}"/>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16C7164E-2E51-A645-2888-4F20FD594EF7}"/>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4B8DF553-C18C-73A2-DE20-65EA511EA28D}"/>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C7CBE0B7-8802-C66B-88AF-6F9C141B9839}"/>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B1CB842C-804D-A153-43D8-B24B2230E71A}"/>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B744921B-18F0-0B55-F72C-493C340A1B0A}"/>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0C08108D-417A-DE36-DB69-1E5BF2F8092C}"/>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F75AA5CF-3EBA-6499-86B1-6289264BA42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B71E38BF-B2EA-8481-2CCA-85F9FBDBEBA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A8A07180-7285-0384-8393-BC000EA6EACC}"/>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89CE890C-806D-6B79-E970-0A23A6329D0B}"/>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6BC964D3-BC3C-89D3-6898-296C7D605DF9}"/>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3BEF8C39-286B-6EA3-A552-B6FD0354DC7D}"/>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22ED131D-395D-EAF8-F6B8-B5BCC9BB8069}"/>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1242AACF-F0F2-8AC3-0FBF-4DD7F3D56662}"/>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04DC7988-26AF-4A04-D465-7FDE960125E8}"/>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0EE29DAA-A00E-CB1B-C367-48922B6466AC}"/>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110E0593-71B2-BA54-0AB6-F602E0A9A5D6}"/>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86C21A5F-0FCC-430D-87A4-8135779EA72A}"/>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C73E9022-A597-13CE-F226-E4F89C5D174D}"/>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3257EE37-0FB2-EF31-7201-3F2317D23DFA}"/>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BC2A32B5-BD60-7CB4-4229-00C0EBE5D971}"/>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A14E8BA1-9A77-BE6A-16DD-1C3E178936C1}"/>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58B8E4B4-CC7C-423D-04F7-8BE6948A7156}"/>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794A15EA-8690-E1D4-0BF2-4052914175EC}"/>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96108762-3DAD-9169-AB4F-2648EEDE5B90}"/>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845EEBFF-B84C-1E95-7218-28FD0CAC9421}"/>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DF765250-E13E-483B-380F-988CBC0B08E4}"/>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34A9D568-55EB-ACC9-E170-8AB08FE3FB9C}"/>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1CA09FD-C05E-12AE-8F4B-D69F063AB916}"/>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1257559441"/>
      </p:ext>
    </p:extLst>
  </p:cSld>
  <p:clrMap bg1="dk1" tx1="lt1" bg2="dk2" tx2="lt2" accent1="accent1" accent2="accent2" accent3="accent3" accent4="accent4" accent5="accent5" accent6="accent6" hlink="hlink" folHlink="folHlink"/>
  <p:sldLayoutIdLst>
    <p:sldLayoutId id="2147484085" r:id="rId1"/>
    <p:sldLayoutId id="2147484102" r:id="rId2"/>
    <p:sldLayoutId id="2147484107" r:id="rId3"/>
    <p:sldLayoutId id="2147484123" r:id="rId4"/>
    <p:sldLayoutId id="214748412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119" userDrawn="1">
          <p15:clr>
            <a:srgbClr val="F26B43"/>
          </p15:clr>
        </p15:guide>
        <p15:guide id="4" pos="7559" userDrawn="1">
          <p15:clr>
            <a:srgbClr val="F26B43"/>
          </p15:clr>
        </p15:guide>
        <p15:guide id="5" orient="horz" pos="120" userDrawn="1">
          <p15:clr>
            <a:srgbClr val="F26B43"/>
          </p15:clr>
        </p15:guide>
        <p15:guide id="6" orient="horz" pos="4200" userDrawn="1">
          <p15:clr>
            <a:srgbClr val="F26B43"/>
          </p15:clr>
        </p15:guide>
        <p15:guide id="7" pos="239" userDrawn="1">
          <p15:clr>
            <a:srgbClr val="F26B43"/>
          </p15:clr>
        </p15:guide>
        <p15:guide id="8" orient="horz" pos="264" userDrawn="1">
          <p15:clr>
            <a:srgbClr val="F26B43"/>
          </p15:clr>
        </p15:guide>
        <p15:guide id="9" orient="horz" pos="4056" userDrawn="1">
          <p15:clr>
            <a:srgbClr val="F26B43"/>
          </p15:clr>
        </p15:guide>
        <p15:guide id="10" pos="743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6.jpeg"/><Relationship Id="rId5" Type="http://schemas.openxmlformats.org/officeDocument/2006/relationships/image" Target="../media/image5.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hidden="1">
            <a:extLst>
              <a:ext uri="{FF2B5EF4-FFF2-40B4-BE49-F238E27FC236}">
                <a16:creationId xmlns:a16="http://schemas.microsoft.com/office/drawing/2014/main" id="{5208F56E-6F69-2613-022B-A66B9463C6B7}"/>
              </a:ext>
            </a:extLst>
          </p:cNvPr>
          <p:cNvSpPr txBox="1">
            <a:spLocks noGrp="1"/>
          </p:cNvSpPr>
          <p:nvPr>
            <p:ph type="title" idx="4294967295"/>
          </p:nvPr>
        </p:nvSpPr>
        <p:spPr>
          <a:xfrm>
            <a:off x="0" y="-233363"/>
            <a:ext cx="12188825" cy="233363"/>
          </a:xfrm>
          <a:prstGeom prst="rect">
            <a:avLst/>
          </a:prstGeo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normAutofit/>
          </a:bodyPr>
          <a:lstStyle>
            <a:lvl1pPr algn="l" defTabSz="914034" rtl="0" eaLnBrk="1" latinLnBrk="0" hangingPunct="1">
              <a:lnSpc>
                <a:spcPct val="80000"/>
              </a:lnSpc>
              <a:spcBef>
                <a:spcPct val="0"/>
              </a:spcBef>
              <a:buNone/>
              <a:defRPr sz="9600" b="0" i="0" kern="1200">
                <a:solidFill>
                  <a:schemeClr val="tx1"/>
                </a:solidFill>
                <a:latin typeface="Mona Sans Display" pitchFamily="2" charset="77"/>
                <a:ea typeface="+mj-ea"/>
                <a:cs typeface="Mona Sans Display" pitchFamily="2" charset="77"/>
              </a:defRPr>
            </a:lvl1pPr>
          </a:lstStyle>
          <a:p>
            <a:pPr marL="0" marR="0" lvl="0" indent="0" algn="l" defTabSz="914034" rtl="0" eaLnBrk="1" fontAlgn="auto" latinLnBrk="0" hangingPunct="1">
              <a:lnSpc>
                <a:spcPct val="80000"/>
              </a:lnSpc>
              <a:spcBef>
                <a:spcPct val="0"/>
              </a:spcBef>
              <a:spcAft>
                <a:spcPts val="0"/>
              </a:spcAft>
              <a:buClrTx/>
              <a:buSzTx/>
              <a:buFontTx/>
              <a:buNone/>
              <a:tabLst/>
              <a:defRPr/>
            </a:pPr>
            <a:r>
              <a:rPr kumimoji="0" lang="en-US" sz="1600" b="0" i="0" u="none" strike="noStrike" kern="1200" cap="none" spc="0" normalizeH="0" baseline="0" noProof="0" dirty="0">
                <a:ln>
                  <a:noFill/>
                </a:ln>
                <a:solidFill>
                  <a:schemeClr val="tx1"/>
                </a:solidFill>
                <a:effectLst/>
                <a:uLnTx/>
                <a:uFillTx/>
                <a:latin typeface="Mona Sans Display" pitchFamily="2" charset="77"/>
                <a:ea typeface="+mj-ea"/>
                <a:cs typeface="Mona Sans Display" pitchFamily="2" charset="77"/>
              </a:rPr>
              <a:t>2026 GitHub presentation template instructions 1</a:t>
            </a:r>
          </a:p>
        </p:txBody>
      </p:sp>
      <p:pic>
        <p:nvPicPr>
          <p:cNvPr id="3" name="Picture Placeholder 2" descr="Cartoon style Mona cat, GitHub’s mascot’s headshot in black in white.">
            <a:extLst>
              <a:ext uri="{FF2B5EF4-FFF2-40B4-BE49-F238E27FC236}">
                <a16:creationId xmlns:a16="http://schemas.microsoft.com/office/drawing/2014/main" id="{F26F74B1-3C8E-8C92-3AC7-F701FF2ABD42}"/>
              </a:ext>
              <a:ext uri="{C183D7F6-B498-43B3-948B-1728B52AA6E4}">
                <adec:decorative xmlns:adec="http://schemas.microsoft.com/office/drawing/2017/decorative" val="0"/>
              </a:ext>
            </a:extLst>
          </p:cNvPr>
          <p:cNvPicPr>
            <a:picLocks noGrp="1" noChangeAspect="1"/>
          </p:cNvPicPr>
          <p:nvPr>
            <p:ph type="pic" idx="4294967295"/>
          </p:nvPr>
        </p:nvPicPr>
        <p:blipFill>
          <a:blip r:embed="rId3">
            <a:extLst>
              <a:ext uri="{BEBA8EAE-BF5A-486C-A8C5-ECC9F3942E4B}">
                <a14:imgProps xmlns:a14="http://schemas.microsoft.com/office/drawing/2010/main">
                  <a14:imgLayer r:embed="rId4">
                    <a14:imgEffect>
                      <a14:saturation sat="0"/>
                    </a14:imgEffect>
                  </a14:imgLayer>
                </a14:imgProps>
              </a:ext>
            </a:extLst>
          </a:blip>
          <a:srcRect l="795" r="795"/>
          <a:stretch/>
        </p:blipFill>
        <p:spPr>
          <a:xfrm>
            <a:off x="0" y="5924550"/>
            <a:ext cx="687388" cy="698500"/>
          </a:xfrm>
          <a:prstGeom prst="rect">
            <a:avLst/>
          </a:prstGeom>
        </p:spPr>
      </p:pic>
      <p:pic>
        <p:nvPicPr>
          <p:cNvPr id="11" name="Picture 10" descr="A black and green rectangular object with a white line">
            <a:extLst>
              <a:ext uri="{FF2B5EF4-FFF2-40B4-BE49-F238E27FC236}">
                <a16:creationId xmlns:a16="http://schemas.microsoft.com/office/drawing/2014/main" id="{3FBFA4BB-AE7A-C1B7-81D5-818F43763483}"/>
              </a:ext>
            </a:extLst>
          </p:cNvPr>
          <p:cNvPicPr>
            <a:picLocks noGrp="1" noRot="1" noChangeAspect="1" noMove="1" noResize="1" noEditPoints="1" noAdjustHandles="1" noChangeArrowheads="1" noChangeShapeType="1" noCrop="1"/>
          </p:cNvPicPr>
          <p:nvPr/>
        </p:nvPicPr>
        <p:blipFill>
          <a:blip r:embed="rId5"/>
          <a:stretch>
            <a:fillRect/>
          </a:stretch>
        </p:blipFill>
        <p:spPr>
          <a:xfrm>
            <a:off x="0" y="0"/>
            <a:ext cx="2234327" cy="6858000"/>
          </a:xfrm>
          <a:prstGeom prst="rect">
            <a:avLst/>
          </a:prstGeom>
        </p:spPr>
      </p:pic>
      <p:sp>
        <p:nvSpPr>
          <p:cNvPr id="12" name="Title 1">
            <a:extLst>
              <a:ext uri="{FF2B5EF4-FFF2-40B4-BE49-F238E27FC236}">
                <a16:creationId xmlns:a16="http://schemas.microsoft.com/office/drawing/2014/main" id="{879AA1DB-49BF-21A6-AA93-DACB36E38F5E}"/>
              </a:ext>
            </a:extLst>
          </p:cNvPr>
          <p:cNvSpPr txBox="1">
            <a:spLocks/>
          </p:cNvSpPr>
          <p:nvPr/>
        </p:nvSpPr>
        <p:spPr>
          <a:xfrm>
            <a:off x="2432957" y="193676"/>
            <a:ext cx="9566956" cy="5434876"/>
          </a:xfrm>
          <a:prstGeom prst="rect">
            <a:avLst/>
          </a:prstGeom>
        </p:spPr>
        <p:txBody>
          <a:bodyPr lIns="0" tIns="0" rIns="0" bIns="0" anchor="t">
            <a:noAutofit/>
          </a:bodyPr>
          <a:lstStyle>
            <a:lvl1pPr algn="l" defTabSz="914034" rtl="0" eaLnBrk="1" latinLnBrk="0" hangingPunct="1">
              <a:lnSpc>
                <a:spcPct val="80000"/>
              </a:lnSpc>
              <a:spcBef>
                <a:spcPct val="0"/>
              </a:spcBef>
              <a:buNone/>
              <a:defRPr sz="7200" b="0" i="0" kern="1200" spc="-150">
                <a:solidFill>
                  <a:schemeClr val="tx1"/>
                </a:solidFill>
                <a:latin typeface="Mona Sans Display" pitchFamily="2" charset="77"/>
                <a:ea typeface="+mj-ea"/>
                <a:cs typeface="Mona Sans Display" pitchFamily="2" charset="77"/>
              </a:defRPr>
            </a:lvl1pPr>
          </a:lstStyle>
          <a:p>
            <a:r>
              <a:rPr lang="en-US" sz="6000" dirty="0">
                <a:latin typeface="+mj-lt"/>
                <a:cs typeface="Arial"/>
              </a:rPr>
              <a:t>Turn any idea into a Hands-on GitHub Exercise</a:t>
            </a:r>
          </a:p>
          <a:p>
            <a:r>
              <a:rPr lang="en-US" sz="2800" dirty="0">
                <a:solidFill>
                  <a:schemeClr val="accent1">
                    <a:lumMod val="50000"/>
                  </a:schemeClr>
                </a:solidFill>
                <a:latin typeface="+mj-lt"/>
              </a:rPr>
              <a:t>GitHub Copilot app/CLI and the gh-skills-builder-plugin</a:t>
            </a:r>
          </a:p>
          <a:p>
            <a:endParaRPr lang="en-US" sz="6000" dirty="0">
              <a:latin typeface="+mj-lt"/>
              <a:cs typeface="Arial"/>
            </a:endParaRPr>
          </a:p>
        </p:txBody>
      </p:sp>
      <p:sp>
        <p:nvSpPr>
          <p:cNvPr id="13" name="Rectangle 12">
            <a:extLst>
              <a:ext uri="{FF2B5EF4-FFF2-40B4-BE49-F238E27FC236}">
                <a16:creationId xmlns:a16="http://schemas.microsoft.com/office/drawing/2014/main" id="{9C9970E2-FD91-8AC5-DC96-1C5099754D5C}"/>
              </a:ext>
              <a:ext uri="{C183D7F6-B498-43B3-948B-1728B52AA6E4}">
                <adec:decorative xmlns:adec="http://schemas.microsoft.com/office/drawing/2017/decorative" val="1"/>
              </a:ext>
            </a:extLst>
          </p:cNvPr>
          <p:cNvSpPr/>
          <p:nvPr/>
        </p:nvSpPr>
        <p:spPr>
          <a:xfrm>
            <a:off x="2432957" y="5767540"/>
            <a:ext cx="9564624" cy="18288"/>
          </a:xfrm>
          <a:prstGeom prst="rect">
            <a:avLst/>
          </a:prstGeom>
          <a:solidFill>
            <a:srgbClr val="5A61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08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Mona Sans"/>
              <a:ea typeface="+mn-ea"/>
              <a:cs typeface="+mn-cs"/>
            </a:endParaRPr>
          </a:p>
        </p:txBody>
      </p:sp>
      <p:pic>
        <p:nvPicPr>
          <p:cNvPr id="5" name="Picture Placeholder 2">
            <a:extLst>
              <a:ext uri="{FF2B5EF4-FFF2-40B4-BE49-F238E27FC236}">
                <a16:creationId xmlns:a16="http://schemas.microsoft.com/office/drawing/2014/main" id="{A4040410-ACC5-4882-5E1F-DEA42C4A9CB9}"/>
              </a:ext>
            </a:extLst>
          </p:cNvPr>
          <p:cNvPicPr>
            <a:picLocks noChangeAspect="1"/>
          </p:cNvPicPr>
          <p:nvPr/>
        </p:nvPicPr>
        <p:blipFill>
          <a:blip r:embed="rId6"/>
          <a:stretch>
            <a:fillRect/>
          </a:stretch>
        </p:blipFill>
        <p:spPr>
          <a:xfrm>
            <a:off x="2432957" y="5924551"/>
            <a:ext cx="1231037" cy="848568"/>
          </a:xfrm>
          <a:prstGeom prst="rect">
            <a:avLst/>
          </a:prstGeom>
        </p:spPr>
      </p:pic>
      <p:sp>
        <p:nvSpPr>
          <p:cNvPr id="6" name="Text Placeholder 3">
            <a:extLst>
              <a:ext uri="{FF2B5EF4-FFF2-40B4-BE49-F238E27FC236}">
                <a16:creationId xmlns:a16="http://schemas.microsoft.com/office/drawing/2014/main" id="{7D122613-DB47-BE75-3CF6-CA61F9919FB5}"/>
              </a:ext>
            </a:extLst>
          </p:cNvPr>
          <p:cNvSpPr txBox="1">
            <a:spLocks/>
          </p:cNvSpPr>
          <p:nvPr/>
        </p:nvSpPr>
        <p:spPr>
          <a:xfrm>
            <a:off x="3764059" y="5951154"/>
            <a:ext cx="8507391" cy="162484"/>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2000" b="1">
                <a:latin typeface="Mona Sans Mono"/>
              </a:rPr>
              <a:t>Ari LiVigni</a:t>
            </a:r>
            <a:endParaRPr lang="en-US" sz="2000" b="1" dirty="0">
              <a:latin typeface="Mona Sans Mono"/>
            </a:endParaRPr>
          </a:p>
        </p:txBody>
      </p:sp>
      <p:sp>
        <p:nvSpPr>
          <p:cNvPr id="7" name="Text Placeholder 4">
            <a:extLst>
              <a:ext uri="{FF2B5EF4-FFF2-40B4-BE49-F238E27FC236}">
                <a16:creationId xmlns:a16="http://schemas.microsoft.com/office/drawing/2014/main" id="{9AAB6681-B0AF-CC6E-BCCC-14369EFFE7F4}"/>
              </a:ext>
            </a:extLst>
          </p:cNvPr>
          <p:cNvSpPr txBox="1">
            <a:spLocks/>
          </p:cNvSpPr>
          <p:nvPr/>
        </p:nvSpPr>
        <p:spPr>
          <a:xfrm>
            <a:off x="3751238" y="6236279"/>
            <a:ext cx="8507390" cy="764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8" name="Text Placeholder 5">
            <a:extLst>
              <a:ext uri="{FF2B5EF4-FFF2-40B4-BE49-F238E27FC236}">
                <a16:creationId xmlns:a16="http://schemas.microsoft.com/office/drawing/2014/main" id="{68B126A6-81FC-90BC-86FB-D8F0ED3C5423}"/>
              </a:ext>
            </a:extLst>
          </p:cNvPr>
          <p:cNvSpPr txBox="1">
            <a:spLocks/>
          </p:cNvSpPr>
          <p:nvPr/>
        </p:nvSpPr>
        <p:spPr>
          <a:xfrm>
            <a:off x="3751238" y="6511723"/>
            <a:ext cx="8774021" cy="1526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a:solidFill>
                  <a:schemeClr val="accent4"/>
                </a:solidFill>
                <a:latin typeface="Mona Sans Display"/>
              </a:rPr>
              <a:t>GitHub</a:t>
            </a:r>
            <a:endParaRPr lang="en-US" sz="1600" b="1" dirty="0">
              <a:solidFill>
                <a:schemeClr val="accent4"/>
              </a:solidFill>
              <a:latin typeface="Mona Sans Display"/>
            </a:endParaRPr>
          </a:p>
        </p:txBody>
      </p:sp>
    </p:spTree>
    <p:extLst>
      <p:ext uri="{BB962C8B-B14F-4D97-AF65-F5344CB8AC3E}">
        <p14:creationId xmlns:p14="http://schemas.microsoft.com/office/powerpoint/2010/main" val="7135855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FFFFFF"/>
                </a:solidFill>
                <a:latin typeface="Mona Sans Display"/>
              </a:rPr>
              <a:t>Our 60-minute</a:t>
            </a:r>
          </a:p>
          <a:p>
            <a:pPr algn="l">
              <a:spcAft>
                <a:spcPts val="300"/>
              </a:spcAft>
            </a:pPr>
            <a:r>
              <a:rPr sz="3000" b="1">
                <a:solidFill>
                  <a:srgbClr val="FFFFFF"/>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Mostly live.</a:t>
            </a:r>
          </a:p>
          <a:p>
            <a:pPr algn="l">
              <a:spcAft>
                <a:spcPts val="300"/>
              </a:spcAft>
            </a:pPr>
            <a:r>
              <a:rPr sz="2100" b="0">
                <a:solidFill>
                  <a:srgbClr val="B0BAC3"/>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Takeaways by 0:45, then a buffer and Q&amp;A by 0:50</a:t>
            </a:r>
          </a:p>
        </p:txBody>
      </p:sp>
      <p:sp>
        <p:nvSpPr>
          <p:cNvPr id="22" name="Workshop slide number 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2</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09241A"/>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5EEC83"/>
                </a:solidFill>
                <a:latin typeface="Mona Sans Display"/>
              </a:rPr>
              <a:t>Install once.</a:t>
            </a:r>
          </a:p>
          <a:p>
            <a:pPr algn="l">
              <a:spcAft>
                <a:spcPts val="300"/>
              </a:spcAft>
            </a:pPr>
            <a:r>
              <a:rPr sz="2700" b="1">
                <a:solidFill>
                  <a:srgbClr val="5EEC83"/>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A plugin packages customizations. It is not a separate AI model.</a:t>
            </a:r>
          </a:p>
        </p:txBody>
      </p:sp>
      <p:sp>
        <p:nvSpPr>
          <p:cNvPr id="17" name="Workshop slide number 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3</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Open Plugins in the Copilot app.</a:t>
            </a:r>
          </a:p>
          <a:p>
            <a:pPr algn="l">
              <a:spcAft>
                <a:spcPts val="300"/>
              </a:spcAft>
            </a:pPr>
            <a:r>
              <a:rPr sz="1700" b="0">
                <a:solidFill>
                  <a:srgbClr val="B0BAC3"/>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Review the source and capabilities.</a:t>
            </a:r>
          </a:p>
          <a:p>
            <a:pPr algn="l">
              <a:spcAft>
                <a:spcPts val="300"/>
              </a:spcAft>
            </a:pPr>
            <a:r>
              <a:rPr sz="1700" b="0">
                <a:solidFill>
                  <a:srgbClr val="B0BAC3"/>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Choose the orchestrator agent.</a:t>
            </a:r>
          </a:p>
          <a:p>
            <a:pPr algn="l">
              <a:spcAft>
                <a:spcPts val="300"/>
              </a:spcAft>
            </a:pPr>
            <a:r>
              <a:rPr sz="1700" b="0">
                <a:solidFill>
                  <a:srgbClr val="B0BAC3"/>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5EEC83"/>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FFFFFF"/>
                </a:solidFill>
                <a:latin typeface="Mona Sans"/>
              </a:rPr>
              <a:t>CLI: copilot plugin install gh-skills-builder@awesome-copilot</a:t>
            </a:r>
          </a:p>
        </p:txBody>
      </p:sp>
      <p:sp>
        <p:nvSpPr>
          <p:cNvPr id="17" name="Workshop slide number 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4</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Repository instructions.</a:t>
            </a:r>
          </a:p>
          <a:p>
            <a:pPr algn="l">
              <a:spcAft>
                <a:spcPts val="300"/>
              </a:spcAft>
            </a:pPr>
            <a:r>
              <a:rPr sz="1900" b="0">
                <a:solidFill>
                  <a:srgbClr val="B0BAC3"/>
                </a:solidFill>
                <a:latin typeface="Mona Sans"/>
              </a:rPr>
              <a:t>Consistent quality reports.</a:t>
            </a:r>
          </a:p>
          <a:p>
            <a:pPr algn="l">
              <a:spcAft>
                <a:spcPts val="300"/>
              </a:spcAft>
            </a:pPr>
            <a:r>
              <a:rPr sz="1900" b="0">
                <a:solidFill>
                  <a:srgbClr val="B0BAC3"/>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Working Title: Copilot app Cleared for Takeoff</a:t>
            </a:r>
          </a:p>
        </p:txBody>
      </p:sp>
      <p:sp>
        <p:nvSpPr>
          <p:cNvPr id="14" name="Workshop slide number 5"/>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5</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Draft step content.</a:t>
            </a:r>
          </a:p>
          <a:p>
            <a:pPr algn="l">
              <a:spcAft>
                <a:spcPts val="300"/>
              </a:spcAft>
            </a:pPr>
            <a:r>
              <a:rPr sz="1900" b="0">
                <a:solidFill>
                  <a:srgbClr val="B0BAC3"/>
                </a:solidFill>
                <a:latin typeface="Mona Sans"/>
              </a:rPr>
              <a:t>Scaffold repository files.</a:t>
            </a:r>
          </a:p>
          <a:p>
            <a:pPr algn="l">
              <a:spcAft>
                <a:spcPts val="300"/>
              </a:spcAft>
            </a:pPr>
            <a:r>
              <a:rPr sz="1900" b="0">
                <a:solidFill>
                  <a:srgbClr val="B0BAC3"/>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Set learner outcomes.</a:t>
            </a:r>
          </a:p>
          <a:p>
            <a:pPr algn="l">
              <a:spcAft>
                <a:spcPts val="300"/>
              </a:spcAft>
            </a:pPr>
            <a:r>
              <a:rPr sz="1900" b="0">
                <a:solidFill>
                  <a:srgbClr val="B0BAC3"/>
                </a:solidFill>
                <a:latin typeface="Mona Sans"/>
              </a:rPr>
              <a:t>Approve the outline and fixes.</a:t>
            </a:r>
          </a:p>
          <a:p>
            <a:pPr algn="l">
              <a:spcAft>
                <a:spcPts val="300"/>
              </a:spcAft>
            </a:pPr>
            <a:r>
              <a:rPr sz="1900" b="0">
                <a:solidFill>
                  <a:srgbClr val="B0BAC3"/>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Same pattern for educators, maintainers, event organizers, DevRel, startups, and enterprises.</a:t>
            </a:r>
          </a:p>
        </p:txBody>
      </p:sp>
      <p:sp>
        <p:nvSpPr>
          <p:cNvPr id="13" name="Workshop slide number 6"/>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6</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7"/>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7</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8"/>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8</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/create-github-skills-outline</a:t>
            </a:r>
          </a:p>
        </p:txBody>
      </p:sp>
      <p:sp>
        <p:nvSpPr>
          <p:cNvPr id="17" name="Workshop slide number 9"/>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9</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FFFFFF"/>
                </a:solidFill>
                <a:latin typeface="Mona Sans"/>
              </a:rPr>
              <a:t>README.md</a:t>
            </a:r>
          </a:p>
          <a:p>
            <a:pPr algn="l">
              <a:spcAft>
                <a:spcPts val="300"/>
              </a:spcAft>
            </a:pPr>
            <a:r>
              <a:rPr sz="2100" b="0">
                <a:solidFill>
                  <a:srgbClr val="FFFFFF"/>
                </a:solidFill>
                <a:latin typeface="Mona Sans"/>
              </a:rPr>
              <a:t>.github/steps/</a:t>
            </a:r>
          </a:p>
          <a:p>
            <a:pPr algn="l">
              <a:spcAft>
                <a:spcPts val="300"/>
              </a:spcAft>
            </a:pPr>
            <a:r>
              <a:rPr sz="2100" b="0">
                <a:solidFill>
                  <a:srgbClr val="FFFFFF"/>
                </a:solidFill>
                <a:latin typeface="Mona Sans"/>
              </a:rPr>
              <a:t>    1-step.md ... x-review.md</a:t>
            </a:r>
          </a:p>
          <a:p>
            <a:pPr algn="l">
              <a:spcAft>
                <a:spcPts val="300"/>
              </a:spcAft>
            </a:pPr>
            <a:r>
              <a:rPr sz="2100" b="0">
                <a:solidFill>
                  <a:srgbClr val="FFFFFF"/>
                </a:solidFill>
                <a:latin typeface="Mona Sans"/>
              </a:rPr>
              <a:t>.github/workflows/</a:t>
            </a:r>
          </a:p>
          <a:p>
            <a:pPr algn="l">
              <a:spcAft>
                <a:spcPts val="300"/>
              </a:spcAft>
            </a:pPr>
            <a:r>
              <a:rPr sz="2100" b="0">
                <a:solidFill>
                  <a:srgbClr val="FFFFFF"/>
                </a:solidFill>
                <a:latin typeface="Mona Sans"/>
              </a:rPr>
              <a:t>    0-start-exercise.yml</a:t>
            </a:r>
          </a:p>
          <a:p>
            <a:pPr algn="l">
              <a:spcAft>
                <a:spcPts val="300"/>
              </a:spcAft>
            </a:pPr>
            <a:r>
              <a:rPr sz="2100" b="0">
                <a:solidFill>
                  <a:srgbClr val="FFFFFF"/>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B0BAC3"/>
                </a:solidFill>
                <a:latin typeface="Mona Sans"/>
              </a:rPr>
              <a:t>A clear entry point.</a:t>
            </a:r>
          </a:p>
          <a:p>
            <a:pPr algn="l">
              <a:spcAft>
                <a:spcPts val="300"/>
              </a:spcAft>
            </a:pPr>
            <a:r>
              <a:rPr sz="2400" b="0">
                <a:solidFill>
                  <a:srgbClr val="B0BAC3"/>
                </a:solidFill>
                <a:latin typeface="Mona Sans"/>
              </a:rPr>
              <a:t>Issue-driven practice.</a:t>
            </a:r>
          </a:p>
          <a:p>
            <a:pPr algn="l">
              <a:spcAft>
                <a:spcPts val="300"/>
              </a:spcAft>
            </a:pPr>
            <a:r>
              <a:rPr sz="2400" b="0">
                <a:solidFill>
                  <a:srgbClr val="B0BAC3"/>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5EEC83"/>
                </a:solidFill>
                <a:latin typeface="Mona Sans Display"/>
              </a:rPr>
              <a:t>/bootstrap-github-skills-exercise</a:t>
            </a:r>
          </a:p>
        </p:txBody>
      </p:sp>
      <p:sp>
        <p:nvSpPr>
          <p:cNvPr id="9" name="Workshop slide number 10"/>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10</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11"/>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11</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Validation evidence.</a:t>
            </a:r>
          </a:p>
          <a:p>
            <a:pPr algn="l">
              <a:spcAft>
                <a:spcPts val="300"/>
              </a:spcAft>
            </a:pPr>
            <a:r>
              <a:rPr sz="1900" b="0">
                <a:solidFill>
                  <a:srgbClr val="B0BAC3"/>
                </a:solidFill>
                <a:latin typeface="Mona Sans"/>
              </a:rPr>
              <a:t>PR copy and release notes.</a:t>
            </a:r>
          </a:p>
          <a:p>
            <a:pPr algn="l">
              <a:spcAft>
                <a:spcPts val="300"/>
              </a:spcAft>
            </a:pPr>
            <a:r>
              <a:rPr sz="1900" b="0">
                <a:solidFill>
                  <a:srgbClr val="B0BAC3"/>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Confirm the exact owner/repo.</a:t>
            </a:r>
          </a:p>
          <a:p>
            <a:pPr algn="l">
              <a:spcAft>
                <a:spcPts val="300"/>
              </a:spcAft>
            </a:pPr>
            <a:r>
              <a:rPr sz="1900" b="0">
                <a:solidFill>
                  <a:srgbClr val="B0BAC3"/>
                </a:solidFill>
                <a:latin typeface="Mona Sans"/>
              </a:rPr>
              <a:t>Confirm visibility.</a:t>
            </a:r>
          </a:p>
          <a:p>
            <a:pPr algn="l">
              <a:spcAft>
                <a:spcPts val="300"/>
              </a:spcAft>
            </a:pPr>
            <a:r>
              <a:rPr sz="1900" b="0">
                <a:solidFill>
                  <a:srgbClr val="B0BAC3"/>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/publish-github-skills-exercise</a:t>
            </a:r>
          </a:p>
        </p:txBody>
      </p:sp>
      <p:sp>
        <p:nvSpPr>
          <p:cNvPr id="13" name="Workshop slide number 1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12</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Outline and review generalize to other tutorials. Bootstrap targets the GitHub Skills contract.</a:t>
            </a:r>
          </a:p>
        </p:txBody>
      </p:sp>
      <p:sp>
        <p:nvSpPr>
          <p:cNvPr id="21" name="Workshop slide number 1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13</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Bring an idea.</a:t>
            </a:r>
          </a:p>
          <a:p>
            <a:pPr algn="l">
              <a:spcAft>
                <a:spcPts val="300"/>
              </a:spcAft>
            </a:pPr>
            <a:r>
              <a:rPr sz="3400" b="1">
                <a:solidFill>
                  <a:srgbClr val="FFFFFF"/>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5EEC83"/>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B0BAC3"/>
                </a:solidFill>
                <a:latin typeface="Mona Sans"/>
              </a:rPr>
              <a:t>Available in Awesome Copilot.</a:t>
            </a:r>
          </a:p>
          <a:p>
            <a:pPr algn="l">
              <a:spcAft>
                <a:spcPts val="300"/>
              </a:spcAft>
            </a:pPr>
            <a:r>
              <a:rPr sz="2300" b="0">
                <a:solidFill>
                  <a:srgbClr val="B0BAC3"/>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B0BAC3"/>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Q&amp;A / What could you turn into an exercise?</a:t>
            </a:r>
          </a:p>
        </p:txBody>
      </p:sp>
      <p:sp>
        <p:nvSpPr>
          <p:cNvPr id="9" name="Workshop slide number 1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14</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5EEC83"/>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FFFFFF"/>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B0BAC3"/>
                </a:solidFill>
                <a:latin typeface="Mona Sans"/>
              </a:rPr>
              <a:t>Build with gh-skills-builder.</a:t>
            </a:r>
          </a:p>
          <a:p>
            <a:pPr algn="l">
              <a:spcAft>
                <a:spcPts val="300"/>
              </a:spcAft>
            </a:pPr>
            <a:r>
              <a:rPr sz="2000" b="0">
                <a:solidFill>
                  <a:srgbClr val="B0BAC3"/>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B0BAC3"/>
                </a:solidFill>
                <a:latin typeface="Mona Sans"/>
              </a:rPr>
              <a:t>Ari LiVigni</a:t>
            </a:r>
          </a:p>
        </p:txBody>
      </p:sp>
    </p:spTree>
  </p:cSld>
  <p:clrMapOvr>
    <a:masterClrMapping/>
  </p:clrMapOvr>
</p:sld>
</file>

<file path=ppt/theme/theme1.xml><?xml version="1.0" encoding="utf-8"?>
<a:theme xmlns:a="http://schemas.openxmlformats.org/drawingml/2006/main" name="GitHub Default Theme_dark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A54D0D16-1D75-824E-B229-67EAC9389F3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customXml/itemProps3.xml><?xml version="1.0" encoding="utf-8"?>
<ds:datastoreItem xmlns:ds="http://schemas.openxmlformats.org/officeDocument/2006/customXml" ds:itemID="{AB543426-3F68-4F40-8364-AB61CAE32945}">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15</TotalTime>
  <Words>2852</Words>
  <Application>Microsoft Macintosh PowerPoint</Application>
  <PresentationFormat>Custom</PresentationFormat>
  <Paragraphs>164</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Mona Sans</vt:lpstr>
      <vt:lpstr>Mona Sans Display</vt:lpstr>
      <vt:lpstr>Mona Sans Mono</vt:lpstr>
      <vt:lpstr>Mona-Sans</vt:lpstr>
      <vt:lpstr>Mona-Sans Regular</vt:lpstr>
      <vt:lpstr>GitHub Default Theme_dark version</vt:lpstr>
      <vt:lpstr>2026 GitHub presentation template instructions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2</cp:revision>
  <dcterms:created xsi:type="dcterms:W3CDTF">2026-09-28T20:33:34Z</dcterms:created>
  <dcterms:modified xsi:type="dcterms:W3CDTF">2026-10-25T16:37:06Z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